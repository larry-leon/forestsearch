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C234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C2340"/>
                </a:solidFill>
                <a:latin typeface="Calibri"/>
              </a:rPr>
              <a:t>Pr( UB(HR) ≥ 2.0 )  across 10,000 trials — true HR = 0.70 everywhere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Clinical / interaction subgroups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5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random15  (N=15)</c:v>
                  </c:pt>
                  <c:pt idx="1">
                    <c:v>random20  (N=20)</c:v>
                  </c:pt>
                  <c:pt idx="2">
                    <c:v>Grade 3 / PGR high  (N=34)</c:v>
                  </c:pt>
                  <c:pt idx="3">
                    <c:v>Pre-meno / Age&gt;50  (N=35)</c:v>
                  </c:pt>
                  <c:pt idx="4">
                    <c:v>random40  (N=40)</c:v>
                  </c:pt>
                  <c:pt idx="5">
                    <c:v>Grade 3 / High nodes  (N=46)</c:v>
                  </c:pt>
                  <c:pt idx="6">
                    <c:v>Grade 3 / ER-high  (N=55)</c:v>
                  </c:pt>
                  <c:pt idx="7">
                    <c:v>Post-meno / G3 / ER-low  (N=58)</c:v>
                  </c:pt>
                  <c:pt idx="8">
                    <c:v>random60  (N=60)</c:v>
                  </c:pt>
                  <c:pt idx="9">
                    <c:v>Grade 3  (N=161)</c:v>
                  </c:pt>
                  <c:pt idx="10">
                    <c:v>All Patients  (N=686)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/>
                </c:pt>
                <c:pt idx="1">
                  <c:v/>
                </c:pt>
                <c:pt idx="2">
                  <c:v>55.2</c:v>
                </c:pt>
                <c:pt idx="3">
                  <c:v>62.3</c:v>
                </c:pt>
                <c:pt idx="4">
                  <c:v/>
                </c:pt>
                <c:pt idx="5">
                  <c:v>22.2</c:v>
                </c:pt>
                <c:pt idx="6">
                  <c:v>27.9</c:v>
                </c:pt>
                <c:pt idx="7">
                  <c:v>17.3</c:v>
                </c:pt>
                <c:pt idx="8">
                  <c:v/>
                </c:pt>
                <c:pt idx="9">
                  <c:v>0.3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benchmarks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5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random15  (N=15)</c:v>
                  </c:pt>
                  <c:pt idx="1">
                    <c:v>random20  (N=20)</c:v>
                  </c:pt>
                  <c:pt idx="2">
                    <c:v>Grade 3 / PGR high  (N=34)</c:v>
                  </c:pt>
                  <c:pt idx="3">
                    <c:v>Pre-meno / Age&gt;50  (N=35)</c:v>
                  </c:pt>
                  <c:pt idx="4">
                    <c:v>random40  (N=40)</c:v>
                  </c:pt>
                  <c:pt idx="5">
                    <c:v>Grade 3 / High nodes  (N=46)</c:v>
                  </c:pt>
                  <c:pt idx="6">
                    <c:v>Grade 3 / ER-high  (N=55)</c:v>
                  </c:pt>
                  <c:pt idx="7">
                    <c:v>Post-meno / G3 / ER-low  (N=58)</c:v>
                  </c:pt>
                  <c:pt idx="8">
                    <c:v>random60  (N=60)</c:v>
                  </c:pt>
                  <c:pt idx="9">
                    <c:v>Grade 3  (N=161)</c:v>
                  </c:pt>
                  <c:pt idx="10">
                    <c:v>All Patients  (N=686)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90.1</c:v>
                </c:pt>
                <c:pt idx="1">
                  <c:v>80.4</c:v>
                </c:pt>
                <c:pt idx="2">
                  <c:v/>
                </c:pt>
                <c:pt idx="3">
                  <c:v/>
                </c:pt>
                <c:pt idx="4">
                  <c:v>50.6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31.1</c:v>
                </c:pt>
                <c:pt idx="9">
                  <c:v/>
                </c:pt>
                <c:pt idx="10">
                  <c:v/>
                </c:pt>
              </c:numCache>
            </c:numRef>
          </c:val>
        </c:ser>
        <c:dLbls>
          <c:numFmt formatCode="0.#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25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5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4EA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5852160" cy="5852160"/>
          </a:xfrm>
          <a:prstGeom prst="ellipse">
            <a:avLst/>
          </a:prstGeom>
          <a:solidFill>
            <a:srgbClr val="12395F">
              <a:alpha val="65000"/>
            </a:srgbClr>
          </a:solidFill>
          <a:ln w="12700">
            <a:solidFill>
              <a:srgbClr val="1239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0E6655">
              <a:alpha val="45000"/>
            </a:srgbClr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SIMULATION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Subgroup Effects Under a Uniform Treatment Benefit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8346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Fixed-Baseline (Conditional-on-X) Simulation Study Based on Observed Trial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A55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70332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simulated trials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3703320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A55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70332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pre-defined subgroups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3703320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A55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370332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HR = 0.70 for every patient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15984" y="3703320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A55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5984" y="370332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panel:  N = 686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074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R package  ·  larry-leon.github.io/forestsearch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·  companion to the random-X vignette (extreme_subgroups.qmd)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forest plots routinely display dozens of subgroup rows — and the smallest rows are the noisiest.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seeing HR = 1.4 with UB(HR) = 3.5 in 35 patients cannot tell a genuine signal from sampling noise.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 the question by construction: build a DGM from real trial data where the truth is known exactly.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5943600" cy="2331720"/>
          </a:xfrm>
          <a:prstGeom prst="roundRect">
            <a:avLst>
              <a:gd name="adj" fmla="val 2745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703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asks, directly: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4023360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patient shares the same true HR = 0.70, how alarming can a stratified Cox subgroup analysis look by chance — given exactly these 686 patients?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903720" y="1325880"/>
            <a:ext cx="4709160" cy="4526280"/>
          </a:xfrm>
          <a:prstGeom prst="roundRect">
            <a:avLst>
              <a:gd name="adj" fmla="val 1414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600200"/>
            <a:ext cx="566928" cy="566928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pic>
        <p:nvPicPr>
          <p:cNvPr id="12" name="Image 0" descr="/home/claude/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441" y="1747601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0" y="1645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different in this deck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78040" y="2331720"/>
            <a:ext cx="4160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replicate re-runs the trial on the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covariate panel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simulate_from_dgm(baseline = "fixed").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definitions, memberships, and sizes are identical in all 10,000 trials — the N column is exact, not an average.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Between-trial spread isolates outcome-generation noise, conditional on the enrolled patients (conditional-on-X).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treatment assignment, entry times, latent event times, and censoring are re-drawn per trial.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Simulate a Trial from One DGM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55096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453128"/>
                <a:gridCol w="445312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baseline  (unconditional)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baseline  (this study)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 rows per trial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Resample n rows with replacement from the 5,000-row super-population (df_super)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dgm$df_source — every GBSG patient exactly once, in source order; no row 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Per-trial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parameter (n = 686 chosen to match the source trial)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nrow(df_source) = 686, fixed by construction — n is deliberately not passed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sizes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 trial-to-trial (binomial sampling noise); reported N is a 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and identical in every replicate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answered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if this trial had enrolled a different sample from the same population?”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“Given exactly these patients, how variable are the subgroup analyses across re-runs?”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 of between-trial spread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 sampling + treatment + entry + event times + censoring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+ entry + event times + censoring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25780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DGM machinery either way — </a:t>
            </a:r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row-sampling step changes.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Both designs are exposed through the single baseline argument of simulate_from_dgm().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Pipeline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29584" cy="2084832"/>
          </a:xfrm>
          <a:prstGeom prst="roundRect">
            <a:avLst>
              <a:gd name="adj" fmla="val 307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160020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Time-scale prep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" y="2258568"/>
            <a:ext cx="3090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rfstime → months (÷ 30.4375). Verify exp(μ) against the KM median event time before anything else.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2459736"/>
            <a:ext cx="18288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4256" y="1417320"/>
            <a:ext cx="3529584" cy="2084832"/>
          </a:xfrm>
          <a:prstGeom prst="roundRect">
            <a:avLst>
              <a:gd name="adj" fmla="val 307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5424" y="161848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0640" y="160020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generate_aft_dgm_flex()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53712" y="2258568"/>
            <a:ext cx="3090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outcome model + AIC-selected censoring model. Stores df_super (5,000) and df_source (686 — the fixed panel).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91272" y="2459736"/>
            <a:ext cx="18288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01584" y="1417320"/>
            <a:ext cx="3529584" cy="2084832"/>
          </a:xfrm>
          <a:prstGeom prst="roundRect">
            <a:avLst>
              <a:gd name="adj" fmla="val 307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161848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87968" y="160020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calibrate_k_treat()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2258568"/>
            <a:ext cx="3090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uniroot rescales the fitted treatment coefficient so the AHR is exactly 0.70 — the uniform truth.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886200"/>
            <a:ext cx="3529584" cy="2084832"/>
          </a:xfrm>
          <a:prstGeom prst="roundRect">
            <a:avLst>
              <a:gd name="adj" fmla="val 3070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40873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53312" y="406908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calibration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86384" y="4727448"/>
            <a:ext cx="3090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check_censoring_dgm() diagnoses; calibrate_cens_adjust() matches the simulated censoring rate to the observed 57.6%.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23944" y="4928616"/>
            <a:ext cx="18288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34256" y="3886200"/>
            <a:ext cx="3529584" cy="2084832"/>
          </a:xfrm>
          <a:prstGeom prst="roundRect">
            <a:avLst>
              <a:gd name="adj" fmla="val 3070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35424" y="40873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120640" y="406908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simulate_from_dgm(baseline = "fixed")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53712" y="4727448"/>
            <a:ext cx="3090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= one trial on the fixed 686-patient panel: randomize, draw entry, event, and censoring times.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91272" y="4928616"/>
            <a:ext cx="18288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01584" y="3886200"/>
            <a:ext cx="3529584" cy="2084832"/>
          </a:xfrm>
          <a:prstGeom prst="roundRect">
            <a:avLst>
              <a:gd name="adj" fmla="val 3070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02752" y="40873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887968" y="406908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loop + summaries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321040" y="4727448"/>
            <a:ext cx="3090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Cox in 56 subgroups × 10,000 trials → ECI, Pr(HR&lt;0.5), Pr(HR&gt;1.0), Pr(UB≥2), Pr(UB≥3).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Data — GBSG Breast Cancer Trial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66928" cy="56692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7" name="Image 0" descr="/home/claude/deck/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5190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264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survival::gbsg  ·  hormone therapy vs control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21488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66928" y="2825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fixed panel)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90088" y="21488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299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2990088" y="2825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(44%)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3520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59.4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566928" y="4197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— KM median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990088" y="3520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57.6%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2990088" y="4197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rate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(calibration target)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06440" y="1325880"/>
            <a:ext cx="5806440" cy="2286000"/>
          </a:xfrm>
          <a:prstGeom prst="roundRect">
            <a:avLst>
              <a:gd name="adj" fmla="val 280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62472" y="1481328"/>
            <a:ext cx="5294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Covariates carried into the DGM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062472" y="1874520"/>
            <a:ext cx="5294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 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age, size (mm), nodes, pgr, er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 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meno, grade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(grade also stratifies the analysis Cox model)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 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hormon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Outcome: recurrence-free survival, in months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06440" y="3794760"/>
            <a:ext cx="5806440" cy="2057400"/>
          </a:xfrm>
          <a:prstGeom prst="roundRect">
            <a:avLst>
              <a:gd name="adj" fmla="val 3111"/>
            </a:avLst>
          </a:prstGeom>
          <a:solidFill>
            <a:srgbClr val="FBF4DC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44184" y="4023360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1" descr="/home/claude/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321" y="4156497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84264" y="405993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Time-scale consistency — check it first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062472" y="4526280"/>
            <a:ext cx="5294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simulation failure: DGM built in days, analysis_time given in months ⇒ universal administrative censoring.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Diagnostic: exp(μ) ≈ observed KM median.  Here: 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 vs 59.4 months 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 · OUTCOME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Weibull AFT with model = "null" — a Uniform Truth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6400800" cy="1234440"/>
          </a:xfrm>
          <a:prstGeom prst="roundRect">
            <a:avLst>
              <a:gd name="adj" fmla="val 5185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81328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Tᵢ  =  μ  +  xᵢ′β  +  τ·εᵢ ,      εᵢ ~ minimum extreme value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ψ⁰(L)  =  log(0.70)   for every covariate profile 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66928" y="2788920"/>
            <a:ext cx="6400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predictor: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+ all baseline covariates; a treatment × subgroup interaction exists only under model = "alt".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"null"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removes the interaction entirely ⇒ one common treatment effect. Any subgroup finding downstream is a false positive by construction.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k_treat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rescales the fitted treatment coefficient before sampling — the calibration hook used on the next slide (k_inter plays the same role for interactions under "alt").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times are quantile-transform draws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fitted distribution (via log(rexp(n))) — nothing is re-fitted per replicate.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325880"/>
            <a:ext cx="4297680" cy="4526280"/>
          </a:xfrm>
          <a:prstGeom prst="roundRect">
            <a:avLst>
              <a:gd name="adj" fmla="val 1489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71232" y="1508760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constructor returns two frames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71232" y="2103120"/>
            <a:ext cx="37856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df_super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5,000 rows resampled from the source; the sampling frame for the random-X design.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df_source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prepared source data, every patient exactly once, carrying per-row linear predictors for outcome and censoring under both arms. This is the fixed-baseline panel.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settings here:  n_super = 5000,  seed = 99,  standardize = FALSE.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vignette hard-stops at build time if df_source is missing (older package version) — not 1,000 lines later inside the parallel loop.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 · TREATMENT EFFECT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Calibrating k_treat — the AHR Is the Right Target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k_treat = 1 the truth is whatever the GBSG fit produced.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calibrate_k_treat()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finds the multiplier by uniroot (range [−5, 5], tol 1e−6) so a chosen HR summary hits 0.70 exactly.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possible targets: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AHR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exp(mean log HR of potential outcomes) — equals the patient-level HR under "null" — or the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Cox HR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no-covariate fit on stacked potential outcomes.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IV analysis is a Cox model stratified by grade.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Cox non-collapsibility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marginal HR is attenuated toward 1; a stratified fit recovers the patient-level HR.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set use_ahr = TRUE.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the marginal HR to 0.70 instead would drag the simulation median below 0.70 by the same non-collapsibility shift.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69480" y="1371600"/>
            <a:ext cx="4343400" cy="3200400"/>
          </a:xfrm>
          <a:prstGeom prst="roundRect">
            <a:avLst>
              <a:gd name="adj" fmla="val 2000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5361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43800" y="19385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k_treat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332720" y="19385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43800" y="2560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AHR  (target 0.70)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32720" y="2560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0.700  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31821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Cox HR (attenuated)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332720" y="31821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8039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median event time  exp(μ)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332720" y="380390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 mo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4754880"/>
            <a:ext cx="4343400" cy="1097280"/>
          </a:xfrm>
          <a:prstGeom prst="roundRect">
            <a:avLst>
              <a:gd name="adj" fmla="val 5833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486460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uniroot pattern, three calibrators: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calibrate_k_treat() · calibrate_k_inter() · calibrate_cens_adjust()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 · CENSORING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Censoring — AIC-Selected AFT, Plus Two Manual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6172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symmetrically: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event indicator so censored observations become the “event”, then fit an AFT model to censoring times.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select_censoring = TRUE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(default): four candidates compete on AIC. Intercept-only candidates guard against overfitting when censoring is unrelated to covariates.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covariates default to the outcome model’s; override via continuous_vars_cens / factor_vars_cens.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61722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2971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Weibull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Weibull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+ censoring covariates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LogNormal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+ censoring covariates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Weibull0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Weibull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LogNormal0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here:  Weibull, covariate-adjusted   · 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μ_c = 4.031 (exp = 56.3 mo),  τ_c = 0.425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86600" y="1353312"/>
            <a:ext cx="4526280" cy="2194560"/>
          </a:xfrm>
          <a:prstGeom prst="roundRect">
            <a:avLst>
              <a:gd name="adj" fmla="val 2917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24344" y="1572768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1" name="Image 0" descr="/home/claude/deck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481" y="170590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64424" y="1609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modes  (select_censoring = FALSE)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42632" y="2212848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Analytical: 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cens_params$mu and $tau directly — no model is fitted.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Force-fit: 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cens_params empty; one AFT with your family (cens_type) and formula (cens_intercept_only).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86600" y="3703320"/>
            <a:ext cx="4526280" cy="2331720"/>
          </a:xfrm>
          <a:prstGeom prst="roundRect">
            <a:avLst>
              <a:gd name="adj" fmla="val 2745"/>
            </a:avLst>
          </a:prstGeom>
          <a:solidFill>
            <a:srgbClr val="FBF4DC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42632" y="3858768"/>
            <a:ext cx="4014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good fit still is not enough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42632" y="4224528"/>
            <a:ext cx="4014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fitted censoring distribution interacts with the administrative cutoff (analysis_time), so the realised censoring rate in simulated trials drifts away from the observed 57.6%. Part II diagnoses the drift and calibrates it out with a single log-scale shift, cens_adjust.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 · FOLLOW-UP 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Times and the Observation Window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2695492" cy="2423160"/>
          </a:xfrm>
          <a:prstGeom prst="rect">
            <a:avLst/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9344"/>
            <a:ext cx="50729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window — entry ~ Uniform(0, max_entry = 24)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10332720" cy="0"/>
          </a:xfrm>
          <a:prstGeom prst="line">
            <a:avLst/>
          </a:prstGeom>
          <a:noFill/>
          <a:ln w="22225">
            <a:solidFill>
              <a:srgbClr val="1A253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922776"/>
            <a:ext cx="0" cy="109728"/>
          </a:xfrm>
          <a:prstGeom prst="line">
            <a:avLst/>
          </a:prstGeom>
          <a:noFill/>
          <a:ln w="19050">
            <a:solidFill>
              <a:srgbClr val="1A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09892" y="3922776"/>
            <a:ext cx="0" cy="109728"/>
          </a:xfrm>
          <a:prstGeom prst="line">
            <a:avLst/>
          </a:prstGeom>
          <a:noFill/>
          <a:ln w="19050">
            <a:solidFill>
              <a:srgbClr val="1A25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6932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348623" y="3922776"/>
            <a:ext cx="0" cy="109728"/>
          </a:xfrm>
          <a:prstGeom prst="line">
            <a:avLst/>
          </a:prstGeom>
          <a:noFill/>
          <a:ln w="19050">
            <a:solidFill>
              <a:srgbClr val="1A25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663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= analysis_time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0" y="4325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 (months)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48623" y="1481328"/>
            <a:ext cx="0" cy="2560320"/>
          </a:xfrm>
          <a:prstGeom prst="line">
            <a:avLst/>
          </a:prstGeom>
          <a:noFill/>
          <a:ln w="19050">
            <a:solidFill>
              <a:srgbClr val="B2222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251337" y="2487168"/>
            <a:ext cx="5727921" cy="0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1337" y="2423160"/>
            <a:ext cx="0" cy="128016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28965" y="2436876"/>
            <a:ext cx="100584" cy="100584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6201" y="217627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month 3 · event observed  (●)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60643" y="3017520"/>
            <a:ext cx="5727921" cy="0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0643" y="2953512"/>
            <a:ext cx="0" cy="128016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38272" y="2967228"/>
            <a:ext cx="100584" cy="1005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5507" y="270662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month 20 · latent censoring time reached  (○)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37522" y="3547872"/>
            <a:ext cx="8311101" cy="0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37522" y="3483864"/>
            <a:ext cx="0" cy="128016"/>
          </a:xfrm>
          <a:prstGeom prst="line">
            <a:avLst/>
          </a:prstGeom>
          <a:noFill/>
          <a:ln w="31750">
            <a:solidFill>
              <a:srgbClr val="1B4F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02903" y="3483864"/>
            <a:ext cx="91440" cy="12801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92386" y="323697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month 10 · follow-up truncated at analysis_time  (administrative censoring)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4572000"/>
            <a:ext cx="110550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entry_var = NULL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(default) draws synthetic uniform entry times; alternatively pass a column of observed entry times.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time = min(latent event, latent censoring, analysis_time − entry)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each patient’s follow-up window is analysis_time − entry.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cutoff interacts with the fitted censoring model ⇒ the realised censoring rate drifts — the reason cens_adjust calibration exists (next slide).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time_eos offers a further end-of-study truncation; rand_ratio / strata_rand control the randomisation itself.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 · CALIBRATION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Censoring Diagnostics and the cens_adjust Shift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Diagnose — check_censoring_dgm()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1847088"/>
            <a:ext cx="4882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 vs the DGM reference: overall censoring rate (tol 10 pp), censoring-time quantiles, KM median censoring time (tol 25%).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trial at cens_adjust = 0:  59.2% vs 57.6%  (+1.6 pp) — passes, </a:t>
            </a:r>
            <a:pPr algn="l"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calibrate anyway.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74904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86200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Calibrate — calibrate_cens_adjust()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270248"/>
            <a:ext cx="48828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uniroot on a log-scale shift of the censoring distribution; target = "rate" (or "km_median").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simulate → extract metric → return sim − ref. A fixed inner seed keeps the root-finder off Monte Carlo noise.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Monotone: larger shift ⇒ longer censoring times ⇒ lower rate. If uniroot fails, widen interval = c(−3, 3).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481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result (target = "rate")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1828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cens_adjust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2980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0.0412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23408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uniroot iterations  ·  residual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29800" y="2340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 ·  0.0002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37960" y="28529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→ achieved censoring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2980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57.6% → 57.6%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33649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at tighter tolerances (5 pp / 15%)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29800" y="33649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 pp  — OK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BF4DC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01384" y="4389120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4" name="Image 0" descr="/home/claude/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4521" y="4522257"/>
            <a:ext cx="245791" cy="24579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141464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Fixed-baseline detail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519672" y="484632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objective forwards baseline = "fixed" through “…” into simulate_from_dgm() — so n and n_eval must both equal the panel size (686). They are pinned, not free Monte Carlo sizes as in the random-X vignette.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· FIXED COVARIATES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= "fixed" — What One Trial Draw Actually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89888"/>
            <a:ext cx="402336" cy="402336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" y="1371600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panel as-is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dgm$df_source: every source patient exactly once, in source order. No row sampling of any kind.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276856"/>
            <a:ext cx="402336" cy="402336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225856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 treatment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treat_sim ~ 1:1 (rand_ratio; strata_rand available for stratified randomisation).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402336" cy="402336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3856" y="3145536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entry times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~ Uniform(0, max_entry = 24), or your observed entry column via entry_var.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050792"/>
            <a:ext cx="402336" cy="402336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4032504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latent event times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Quantile-transform draw from the fitted Weibull AFT under the assigned arm — per-row linear predictors were pre-computed at build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937760"/>
            <a:ext cx="402336" cy="402336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" y="4919472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 and truncate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censoring model (+ cens_adjust = 0.0412), then the administrative cutoff at analysis_time = 84.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870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re-fitted per replicate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call is a draw from distributions stored in the DGM object.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78040" y="1371600"/>
            <a:ext cx="4434840" cy="2834640"/>
          </a:xfrm>
          <a:prstGeom prst="roundRect">
            <a:avLst>
              <a:gd name="adj" fmla="val 2258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499616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replicate  (inside run_one_sim)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34072" y="1828800"/>
            <a:ext cx="3922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 &lt;- simulate_from_dgm(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dgm           = dgm_uniform,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baseline      = "fixed",  # n implied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analysis_time = 84,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max_entry     = 24,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cens_adjust   = 0.0412,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seed          = seed_base + ss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4434840"/>
            <a:ext cx="4434840" cy="16002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34072" y="4572000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knobs (defaults shown in the vignette)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34072" y="4919472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rand_ratio · draw_treatment · entry_var · strata_rand · time_eos · keep_rand · hrz_crit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· FIXED COVARIATES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Frozen — and What Is Re-Drawn — Across 10,000 Trials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91056"/>
            <a:ext cx="566928" cy="566928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pic>
        <p:nvPicPr>
          <p:cNvPr id="8" name="Image 0" descr="/home/claude/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738457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in every replicate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41248" y="228600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covariate matrix: the 686 GBSG rows, in source order.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covariate-defined subgroup — definition, membership, and size. </a:t>
            </a:r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 column is exact, not a mean.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Per-trial N itself: not a parameter — n is deliberately absent from sim_config.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zeros stay zero: </a:t>
            </a:r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has no node-negative patients, so 5 node-defined subgroups are empty in every trial (51 of 56 estimable).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DEFE2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591056"/>
            <a:ext cx="566928" cy="5669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3" name="Image 1" descr="/home/claude/deck/icons/d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173845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87184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3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RE-DRAWN each replicate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510528" y="228600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assignment (1:1 randomisation).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times ~ Uniform(0, 24 months).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event times from the Weibull AFT; latent censoring times from the calibrated censoring model; administrative cutoff at 84 months.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random* membership</a:t>
            </a:r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re-drawn over the fixed panel, so sizes are exactly 60 / 40 / 20 / 15: pure membership noise at fixed 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5166360"/>
            <a:ext cx="11055096" cy="914400"/>
          </a:xfrm>
          <a:prstGeom prst="roundRect">
            <a:avLst>
              <a:gd name="adj" fmla="val 7000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1248" y="516636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shift: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the trial had enrolled a different sample?”  →  “given exactly these patients, re-run the trial.”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between-trial spread is outcome-generation noise, conditional on X.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· FIXED COVARIATES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Notes — for Analysts Reusing the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54480"/>
            <a:ext cx="457200" cy="4572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8" name="Image 0" descr="/home/claude/deck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733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5179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sim_config, everywhere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35024" y="18288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analysis_time = 84, max_entry = 24, and the seed scheme live in a single list reused by calibration, the single-trial demo, and the main loop — no duplication, no drift.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6236208" y="1371600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155448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pic>
        <p:nvPicPr>
          <p:cNvPr id="13" name="Image 1" descr="/home/claude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733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04304" y="15179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on df_source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04304" y="18288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vignette hard-stops at DGM build time if df_source is missing (older forestsearch), rather than deep inside the parallel loop.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566928" y="2999232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3182112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8" name="Image 2" descr="/home/claude/deck/icons/d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00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35024" y="31455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under any schedule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35024" y="34564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seed = seed_base + ss; random-benchmark seed adds a 1e6 offset. Iteration-local seeds ⇒ bit-for-bit results regardless of worker execution order.</a:t>
            </a:r>
            <a:endParaRPr lang="en-US" sz="1060" dirty="0"/>
          </a:p>
        </p:txBody>
      </p:sp>
      <p:sp>
        <p:nvSpPr>
          <p:cNvPr id="21" name="Shape 16"/>
          <p:cNvSpPr/>
          <p:nvPr/>
        </p:nvSpPr>
        <p:spPr>
          <a:xfrm>
            <a:off x="6236208" y="2999232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19088" y="3182112"/>
            <a:ext cx="457200" cy="457200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pic>
        <p:nvPicPr>
          <p:cNvPr id="23" name="Image 3" descr="/home/claude/deck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30098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04304" y="31455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under the same design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004304" y="34564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baseline = "fixed" through calibrate_cens_adjust()’s “…” and pin n = n_eval = nrow(df_source) = 686.</a:t>
            </a:r>
            <a:endParaRPr lang="en-US" sz="1060" dirty="0"/>
          </a:p>
        </p:txBody>
      </p:sp>
      <p:sp>
        <p:nvSpPr>
          <p:cNvPr id="26" name="Shape 20"/>
          <p:cNvSpPr/>
          <p:nvPr/>
        </p:nvSpPr>
        <p:spPr>
          <a:xfrm>
            <a:off x="566928" y="4626864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49808" y="4809744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8" name="Image 4" descr="/home/claude/deck/icons/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28616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35024" y="47731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analysis, not the loop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335024" y="5084064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per-subgroup fit is a cox_fn argument (here: treat_sim + strata(grade)). Substitute an unstratified or adjusted model for sensitivity analyses.</a:t>
            </a:r>
            <a:endParaRPr lang="en-US" sz="1060" dirty="0"/>
          </a:p>
        </p:txBody>
      </p:sp>
      <p:sp>
        <p:nvSpPr>
          <p:cNvPr id="31" name="Shape 24"/>
          <p:cNvSpPr/>
          <p:nvPr/>
        </p:nvSpPr>
        <p:spPr>
          <a:xfrm>
            <a:off x="6236208" y="4626864"/>
            <a:ext cx="5394960" cy="1481328"/>
          </a:xfrm>
          <a:prstGeom prst="roundRect">
            <a:avLst>
              <a:gd name="adj" fmla="val 4321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419088" y="4809744"/>
            <a:ext cx="457200" cy="45720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pic>
        <p:nvPicPr>
          <p:cNvPr id="33" name="Image 5" descr="/home/claude/deck/icons/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928616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04304" y="47731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trial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004304" y="5084064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gbsg and the subgroup list; the pipeline — DGM, calibration, fixed-panel loop, summaries — is unchanged.</a:t>
            </a:r>
            <a:endParaRPr lang="en-US" sz="10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Trials × 56 Subgroups in 46 Seconds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61264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09728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Elapsed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DGM construction  (generate_aft_dgm_flex)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Censoring calibration  (calibrate_cens_adjust)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loop  (10,000 × 56 subgroups, 116 workers)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06240"/>
            <a:ext cx="566928" cy="566928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pic>
        <p:nvPicPr>
          <p:cNvPr id="8" name="Image 0" descr="/home/claude/deck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435364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4168" y="39776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48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225.8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1344168" y="46542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/ second  (wall-clock)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133088" y="39776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 ms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133088" y="46542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trial · 56 Cox fits each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949440" y="1417320"/>
            <a:ext cx="4663440" cy="4434840"/>
          </a:xfrm>
          <a:prstGeom prst="roundRect">
            <a:avLst>
              <a:gd name="adj" fmla="val 1443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205472" y="1572768"/>
            <a:ext cx="4151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design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205472" y="1965960"/>
            <a:ext cx="41513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doFuture + multisession: 116 of 128 cores (91%; ≥90% target), portable across Windows / macOS / Linux.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Embarrassingly parallel — iteration-local seeds, so results are identical under any execution order.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99.7% everywhere. random15: 9,971 / 10,000; all other subgroups ≈ 100%. Subgroups with &lt; 5 rows are skipped by guard.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note: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node-negative subgroups are empty in every replicate (all-node-positive panel) → 51 estimable subgroups.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budgets at this throughput: 1,000 sims ≈ 6 s; 5,000 sims ≈ 24 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Size — Not Clinical Meaning — Drives Chance Extremes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280160"/>
          <a:ext cx="76352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58200" y="1417320"/>
            <a:ext cx="3154680" cy="2103120"/>
          </a:xfrm>
          <a:prstGeom prst="roundRect">
            <a:avLst>
              <a:gd name="adj" fmla="val 3043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7656" y="155448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Cox model is fine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77656" y="1883664"/>
            <a:ext cx="2715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HR = 0.69–0.73 in every estimable subgroup — unbiased throughout. What changes with N is the spread, not the centre.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58200" y="3703320"/>
            <a:ext cx="3154680" cy="2240280"/>
          </a:xfrm>
          <a:prstGeom prst="roundRect">
            <a:avLst>
              <a:gd name="adj" fmla="val 2857"/>
            </a:avLst>
          </a:prstGeom>
          <a:solidFill>
            <a:srgbClr val="FDEFE2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77656" y="384048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= noise floor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77656" y="4169664"/>
            <a:ext cx="2715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benchmarks have no clinical meaning, yet at each size they bracket the clinical subgroups’ tail risk. Reading a forest plot without this calibration invites over-interpretation.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Summary Statistics — Selected Subgroups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55096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51560"/>
                <a:gridCol w="1234440"/>
                <a:gridCol w="1234440"/>
                <a:gridCol w="914400"/>
                <a:gridCol w="1234440"/>
                <a:gridCol w="1234440"/>
                <a:gridCol w="149961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(exact)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Pr(HR&lt;0.5)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Pr(HR&gt;1.0)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Pr(UB≥2)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Pr(UB≥3)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Patients (ITT)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5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3 / ER-high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5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Pre-meno / Age&gt;50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3 / PGR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5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5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13248"/>
            <a:ext cx="11055096" cy="822960"/>
          </a:xfrm>
          <a:prstGeom prst="roundRect">
            <a:avLst>
              <a:gd name="adj" fmla="val 7778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5413248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row: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15-patient subgroup, 9 of 10 trials produce UB ≥ 2 and 3 of 4 produce UB ≥ 3 — under a uniform benefit of HR = 0.70.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mHR ≈ 0.70 throughout: the estimator is unbiased; the tails are pure sampling noise.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5047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rows: random benchmarks (membership re-drawn per trial over the fixed panel; sizes exact by construction).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Rationale Provides No Statistical Protection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93592" cy="3063240"/>
          </a:xfrm>
          <a:prstGeom prst="roundRect">
            <a:avLst>
              <a:gd name="adj" fmla="val 209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179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Pre-meno / Age &gt; 50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18653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35  ·  clinically defined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86384" y="27249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trials reach UB(HR) ≥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3090672"/>
            <a:ext cx="3154680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200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size-matched noise floor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random40  (N = 40):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random20  (N = 20):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80.4%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9976" y="1371600"/>
            <a:ext cx="3593592" cy="3063240"/>
          </a:xfrm>
          <a:prstGeom prst="roundRect">
            <a:avLst>
              <a:gd name="adj" fmla="val 209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5179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3 / PGR high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9432" y="18653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34  ·  clinically defined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9432" y="21396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55.2%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99432" y="27249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trials reach UB(HR) ≥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99432" y="3090672"/>
            <a:ext cx="3154680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3200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size-matched noise floor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random40  (N = 40):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random20  (N = 20):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80.4%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93024" y="1371600"/>
            <a:ext cx="3593592" cy="3063240"/>
          </a:xfrm>
          <a:prstGeom prst="roundRect">
            <a:avLst>
              <a:gd name="adj" fmla="val 2090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5179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3 / ER-high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12480" y="18653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55  ·  clinically defined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21396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412480" y="27249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trials reach UB(HR) ≥ 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0" y="3090672"/>
            <a:ext cx="3154680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200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size-matched noise floor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random60  (N = 60):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31.1%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random40  (N = 40):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4754880"/>
            <a:ext cx="11055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matched N, clinical and random subgroups share the same chance distribution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clinical label does not change the sampling behaviour of the estimator.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screen: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Pr(UB≥2) ≥ 10% filter catches 11 of the 51 estimable subgroups — 7 clinical / interaction subgroups plus all 4 random benchmarks — every one with N ≤ 87.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ROBUSTNESS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vs Random Baseline — Does the Choice Matter?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66928" cy="56692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7" name="Image 0" descr="/home/claude/deck/icon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56472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comparison: same DGM, same 56 subgroups, random-X vignette vs this fixed-X study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214884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 conclusions are essentially identical: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56 subgroups, mean ΔPr(UB≥2) ≈ −0.3 percentage points between designs.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differences trace to exact-N vs mean-N composition: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random X, an “N ≈ 35” subgroup is sometimes 28 and sometimes 42 patients; under fixed X it is 35 in every replicate.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extreme-subgroup phenomenon is a property of subgroup size and outcome noise — not of how the covariates were sampled.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34340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44805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8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fixed when…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4809744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is reviewing this trial: same patients every replicate, exact subgroup Ns in every output, and the clean conditional message — “these patients, re-run.”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36208" y="434340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EEF3F8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3952" y="44805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random when…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73952" y="4809744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about the enrolment process itself: population-sampling uncertainty is added on top, answering the unconditional “a different sample from the same population”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480560"/>
            <a:ext cx="4572000" cy="4572000"/>
          </a:xfrm>
          <a:prstGeom prst="ellipse">
            <a:avLst/>
          </a:prstGeom>
          <a:solidFill>
            <a:srgbClr val="12395F">
              <a:alpha val="60000"/>
            </a:srgbClr>
          </a:solidFill>
          <a:ln w="12700">
            <a:solidFill>
              <a:srgbClr val="1239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8191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subgroups produce extreme results by chance.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≈ 15, Pr(UB ≥ 2) = 90% and the median upper bound is 5.8 — under a uniform true HR of 0.70.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45059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rationale is not statistical protection.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Size-matched random benchmarks reproduce the clinical subgroups’ HR and UB(HR) behaviour.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31927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Cox model is working correctly.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HR ≈ 0.70 in every estimable subgroup; wide intervals in small subgroups are honest uncertainty.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18795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160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fixed-baseline design isolates outcome noise.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686 patients every replicate; subgroup Ns exact; conclusions match the random-X design (mean ΔPr(UB≥2) ≈ −0.3 pp).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505663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029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calibration is essential — and cheap.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10,000-trial, 56-subgroup benchmark runs in under a minute with forestsearch.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pak::pak("larry-leon/forestsearch")</a:t>
            </a:r>
            <a:pPr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larry-leon.github.io/forestsearch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DGM with Genuine Heterogeneity — model = "alt"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 ·  fixed-baseline simulation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extra knobs turn the null DGM into an HTE DGM: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subgroup_vars = c("er", "meno"),  subgroup_cuts = list(er = 20, meno = 0),  k_inter = 1.5.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embeds a harm subgroup — ER-low and pre-menopausal — covering 18.8% of the panel; flag_harm marks membership in every simulated dataset.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by construction: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HR ≈ 1.21 inside the harm subgroup vs a clear benefit in the complement — spline_spec and set_beta_spec allow still finer control of the effect surface.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fixed-baseline pipeline is reused unchanged: shared sim_config, its own calibrated cens_adjust = 0.041, same panel of 686 patients.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known-truth HTE target for evaluating subgroup-discovery methods such as forestsearch() — the flip side of the false-positive benchmark in this deck.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977640" cy="2926080"/>
          </a:xfrm>
          <a:prstGeom prst="roundRect">
            <a:avLst>
              <a:gd name="adj" fmla="val 2188"/>
            </a:avLst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2984" y="155448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 build (delta vs null)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72984" y="1874520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generate_aft_dgm_flex(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         = "alt",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subgroup_vars = c("er","meno"),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subgroup_cuts = list(er = 20,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meno = 0),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k_inter       = 1.5, …)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4526280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E9F5F1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2984" y="4617720"/>
            <a:ext cx="3502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Harm-subgroup prevalence: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 of the panel (134 patients in the demo trial).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Subgroup Effects Under a Uniform Treatment Benefit — Fixed-Baseline Simulation</dc:title>
  <dc:subject>PptxGenJS Presentation</dc:subject>
  <dc:creator>Larry F. Leon</dc:creator>
  <cp:lastModifiedBy>Larry F. Leon</cp:lastModifiedBy>
  <cp:revision>1</cp:revision>
  <dcterms:created xsi:type="dcterms:W3CDTF">2026-08-13T00:08:17Z</dcterms:created>
  <dcterms:modified xsi:type="dcterms:W3CDTF">2026-08-13T00:08:17Z</dcterms:modified>
</cp:coreProperties>
</file>