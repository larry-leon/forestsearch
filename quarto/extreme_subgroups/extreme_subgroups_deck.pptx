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99th percentile UB(HR)</c:v>
                </c:pt>
              </c:strCache>
            </c:strRef>
          </c:tx>
          <c:spPr>
            <a:solidFill>
              <a:srgbClr val="065A82"/>
            </a:solidFill>
            <a:effectLst/>
          </c:spPr>
          <c:invertIfNegative val="0"/>
          <c:dLbls>
            <c:numFmt formatCode="0.0" sourceLinked="0"/>
            <c:txPr>
              <a:bodyPr/>
              <a:lstStyle/>
              <a:p>
                <a:pPr>
                  <a:defRPr b="1" i="0" strike="noStrike" sz="1100" u="none">
                    <a:solidFill>
                      <a:srgbClr val="0C2344"/>
                    </a:solidFill>
                    <a:latin typeface="Calibri"/>
                  </a:defRPr>
                </a:pPr>
              </a:p>
            </c:txPr>
            <c:showLegendKey val="0"/>
            <c:showVal val="1"/>
            <c:showCatName val="0"/>
            <c:showSerName val="0"/>
            <c:showPercent val="0"/>
            <c:showBubbleSize val="0"/>
            <c:showLeaderLines val="0"/>
          </c:dLbls>
          <c:cat>
            <c:multiLvlStrRef>
              <c:f>Sheet1!$A$2:$A$7</c:f>
              <c:multiLvlStrCache>
                <c:ptCount val="6"/>
                <c:lvl>
                  <c:pt idx="0">
                    <c:v>ITT (~686)</c:v>
                  </c:pt>
                  <c:pt idx="1">
                    <c:v>~200</c:v>
                  </c:pt>
                  <c:pt idx="2">
                    <c:v>~60</c:v>
                  </c:pt>
                  <c:pt idx="3">
                    <c:v>random40 (~40)</c:v>
                  </c:pt>
                  <c:pt idx="4">
                    <c:v>random20 (~20)</c:v>
                  </c:pt>
                  <c:pt idx="5">
                    <c:v>random15 (~15)</c:v>
                  </c:pt>
                </c:lvl>
              </c:multiLvlStrCache>
            </c:multiLvlStrRef>
          </c:cat>
          <c:val>
            <c:numRef>
              <c:f>Sheet1!$B$2:$B$7</c:f>
              <c:numCache>
                <c:formatCode>General</c:formatCode>
                <c:ptCount val="6"/>
                <c:pt idx="0">
                  <c:v>1.1</c:v>
                </c:pt>
                <c:pt idx="1">
                  <c:v>1.5</c:v>
                </c:pt>
                <c:pt idx="2">
                  <c:v>2.5</c:v>
                </c:pt>
                <c:pt idx="3">
                  <c:v>3.5</c:v>
                </c:pt>
                <c:pt idx="4">
                  <c:v>5</c:v>
                </c:pt>
                <c:pt idx="5">
                  <c:v>5.8</c:v>
                </c:pt>
              </c:numCache>
            </c:numRef>
          </c:val>
        </c:ser>
        <c:dLbls>
          <c:numFmt formatCode="0.0" sourceLinked="0"/>
          <c:txPr>
            <a:bodyPr/>
            <a:lstStyle/>
            <a:p>
              <a:pPr>
                <a:defRPr b="1" i="0" strike="noStrike" sz="1100" u="none">
                  <a:solidFill>
                    <a:srgbClr val="0C2344"/>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2A3A"/>
                </a:solidFill>
                <a:latin typeface="Calibri"/>
              </a:defRPr>
            </a:pPr>
            <a:endParaRPr lang="en-US"/>
          </a:p>
        </c:txPr>
        <c:crossAx val="2094734552"/>
        <c:crosses val="autoZero"/>
        <c:auto val="1"/>
        <c:lblAlgn val="ctr"/>
        <c:noMultiLvlLbl val="1"/>
      </c:catAx>
      <c:valAx>
        <c:axId val="2094734552"/>
        <c:scaling>
          <c:orientation val="minMax"/>
          <c:max val="7"/>
          <c:min val="0"/>
        </c:scaling>
        <c:delete val="0"/>
        <c:axPos val="l"/>
        <c:majorGridlines>
          <c:spPr>
            <a:ln w="6350" cap="flat">
              <a:solidFill>
                <a:srgbClr val="C9D3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F83"/>
                </a:solidFill>
                <a:latin typeface="Arial"/>
              </a:defRPr>
            </a:pPr>
            <a:endParaRPr lang="en-US"/>
          </a:p>
        </c:txPr>
        <c:crossAx val="2094734554"/>
        <c:crosses val="autoZero"/>
        <c:crossBetween val="between"/>
        <c:majorUnit val="1"/>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larry-leon.github.io/forestsearch/" TargetMode="External"/><Relationship Id="rId2" Type="http://schemas.openxmlformats.org/officeDocument/2006/relationships/hyperlink" Target="https://larry-leon.github.io/forestsearch/articles/extreme_subgroups.html"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larry-leon.github.io/forestsearch/" TargetMode="External"/><Relationship Id="rId2" Type="http://schemas.openxmlformats.org/officeDocument/2006/relationships/hyperlink" Target="https://larry-leon.github.io/forestsearch/articles/extreme_subgroups.html"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344"/>
        </a:solidFill>
      </p:bgPr>
    </p:bg>
    <p:spTree>
      <p:nvGrpSpPr>
        <p:cNvPr id="1" name=""/>
        <p:cNvGrpSpPr/>
        <p:nvPr/>
      </p:nvGrpSpPr>
      <p:grpSpPr>
        <a:xfrm>
          <a:off x="0" y="0"/>
          <a:ext cx="0" cy="0"/>
          <a:chOff x="0" y="0"/>
          <a:chExt cx="0" cy="0"/>
        </a:xfrm>
      </p:grpSpPr>
      <p:sp>
        <p:nvSpPr>
          <p:cNvPr id="2" name="Shape 0"/>
          <p:cNvSpPr/>
          <p:nvPr/>
        </p:nvSpPr>
        <p:spPr>
          <a:xfrm>
            <a:off x="8321040" y="0"/>
            <a:ext cx="3840480" cy="6858000"/>
          </a:xfrm>
          <a:prstGeom prst="rect">
            <a:avLst/>
          </a:prstGeom>
          <a:solidFill>
            <a:srgbClr val="065A82"/>
          </a:solidFill>
          <a:ln w="12700">
            <a:solidFill>
              <a:srgbClr val="065A82"/>
            </a:solidFill>
            <a:prstDash val="solid"/>
          </a:ln>
        </p:spPr>
      </p:sp>
      <p:sp>
        <p:nvSpPr>
          <p:cNvPr id="3" name="Shape 1"/>
          <p:cNvSpPr/>
          <p:nvPr/>
        </p:nvSpPr>
        <p:spPr>
          <a:xfrm>
            <a:off x="8321040" y="0"/>
            <a:ext cx="109728" cy="6858000"/>
          </a:xfrm>
          <a:prstGeom prst="rect">
            <a:avLst/>
          </a:prstGeom>
          <a:solidFill>
            <a:srgbClr val="D4A017"/>
          </a:solidFill>
          <a:ln w="12700">
            <a:solidFill>
              <a:srgbClr val="D4A017"/>
            </a:solidFill>
            <a:prstDash val="solid"/>
          </a:ln>
        </p:spPr>
      </p:sp>
      <p:sp>
        <p:nvSpPr>
          <p:cNvPr id="4" name="Text 2"/>
          <p:cNvSpPr/>
          <p:nvPr/>
        </p:nvSpPr>
        <p:spPr>
          <a:xfrm>
            <a:off x="731520" y="822960"/>
            <a:ext cx="7315200" cy="320040"/>
          </a:xfrm>
          <a:prstGeom prst="rect">
            <a:avLst/>
          </a:prstGeom>
          <a:noFill/>
          <a:ln/>
        </p:spPr>
        <p:txBody>
          <a:bodyPr wrap="square" lIns="0" tIns="0" rIns="0" bIns="0" rtlCol="0" anchor="ctr"/>
          <a:lstStyle/>
          <a:p>
            <a:pPr indent="0" marL="0">
              <a:buNone/>
            </a:pPr>
            <a:r>
              <a:rPr lang="en-US" sz="1200" b="1" spc="600" kern="0" dirty="0">
                <a:solidFill>
                  <a:srgbClr val="D4A017"/>
                </a:solidFill>
                <a:latin typeface="Calibri" pitchFamily="34" charset="0"/>
                <a:ea typeface="Calibri" pitchFamily="34" charset="-122"/>
                <a:cs typeface="Calibri" pitchFamily="34" charset="-120"/>
              </a:rPr>
              <a:t>FORESTSEARCH  ·  VIGNETTE</a:t>
            </a:r>
            <a:endParaRPr lang="en-US" sz="1200" dirty="0"/>
          </a:p>
        </p:txBody>
      </p:sp>
      <p:sp>
        <p:nvSpPr>
          <p:cNvPr id="5" name="Text 3"/>
          <p:cNvSpPr/>
          <p:nvPr/>
        </p:nvSpPr>
        <p:spPr>
          <a:xfrm>
            <a:off x="731520" y="1234440"/>
            <a:ext cx="7315200" cy="1005840"/>
          </a:xfrm>
          <a:prstGeom prst="rect">
            <a:avLst/>
          </a:prstGeom>
          <a:noFill/>
          <a:ln/>
        </p:spPr>
        <p:txBody>
          <a:bodyPr wrap="square" lIns="0" tIns="0" rIns="0" bIns="0"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Extreme Subgroup Effects</a:t>
            </a:r>
            <a:endParaRPr lang="en-US" sz="4600" dirty="0"/>
          </a:p>
        </p:txBody>
      </p:sp>
      <p:sp>
        <p:nvSpPr>
          <p:cNvPr id="6" name="Text 4"/>
          <p:cNvSpPr/>
          <p:nvPr/>
        </p:nvSpPr>
        <p:spPr>
          <a:xfrm>
            <a:off x="731520" y="2240280"/>
            <a:ext cx="7315200" cy="731520"/>
          </a:xfrm>
          <a:prstGeom prst="rect">
            <a:avLst/>
          </a:prstGeom>
          <a:noFill/>
          <a:ln/>
        </p:spPr>
        <p:txBody>
          <a:bodyPr wrap="square" lIns="0" tIns="0" rIns="0" bIns="0" rtlCol="0" anchor="ctr"/>
          <a:lstStyle/>
          <a:p>
            <a:pPr indent="0" marL="0">
              <a:buNone/>
            </a:pPr>
            <a:r>
              <a:rPr lang="en-US" sz="3000" i="1" dirty="0">
                <a:solidFill>
                  <a:srgbClr val="FFFFFF"/>
                </a:solidFill>
                <a:latin typeface="Calibri" pitchFamily="34" charset="0"/>
                <a:ea typeface="Calibri" pitchFamily="34" charset="-122"/>
                <a:cs typeface="Calibri" pitchFamily="34" charset="-120"/>
              </a:rPr>
              <a:t>Under a Uniform Treatment Benefit</a:t>
            </a:r>
            <a:endParaRPr lang="en-US" sz="3000" dirty="0"/>
          </a:p>
        </p:txBody>
      </p:sp>
      <p:sp>
        <p:nvSpPr>
          <p:cNvPr id="7" name="Shape 5"/>
          <p:cNvSpPr/>
          <p:nvPr/>
        </p:nvSpPr>
        <p:spPr>
          <a:xfrm>
            <a:off x="731520" y="3200400"/>
            <a:ext cx="1371600" cy="0"/>
          </a:xfrm>
          <a:prstGeom prst="line">
            <a:avLst/>
          </a:prstGeom>
          <a:noFill/>
          <a:ln w="38100">
            <a:solidFill>
              <a:srgbClr val="D4A017"/>
            </a:solidFill>
            <a:prstDash val="solid"/>
          </a:ln>
        </p:spPr>
      </p:sp>
      <p:sp>
        <p:nvSpPr>
          <p:cNvPr id="8" name="Text 6"/>
          <p:cNvSpPr/>
          <p:nvPr/>
        </p:nvSpPr>
        <p:spPr>
          <a:xfrm>
            <a:off x="731520" y="3429000"/>
            <a:ext cx="7315200" cy="457200"/>
          </a:xfrm>
          <a:prstGeom prst="rect">
            <a:avLst/>
          </a:prstGeom>
          <a:noFill/>
          <a:ln/>
        </p:spPr>
        <p:txBody>
          <a:bodyPr wrap="square" lIns="0" tIns="0" rIns="0" bIns="0" rtlCol="0" anchor="ctr"/>
          <a:lstStyle/>
          <a:p>
            <a:pPr indent="0" marL="0">
              <a:buNone/>
            </a:pPr>
            <a:r>
              <a:rPr lang="en-US" sz="1800" dirty="0">
                <a:solidFill>
                  <a:srgbClr val="E8F0F7"/>
                </a:solidFill>
                <a:latin typeface="Calibri" pitchFamily="34" charset="0"/>
                <a:ea typeface="Calibri" pitchFamily="34" charset="-122"/>
                <a:cs typeface="Calibri" pitchFamily="34" charset="-120"/>
              </a:rPr>
              <a:t>A Simulation Study Based on Observed Trial Data</a:t>
            </a:r>
            <a:endParaRPr lang="en-US" sz="1800" dirty="0"/>
          </a:p>
        </p:txBody>
      </p:sp>
      <p:sp>
        <p:nvSpPr>
          <p:cNvPr id="9" name="Text 7"/>
          <p:cNvSpPr/>
          <p:nvPr/>
        </p:nvSpPr>
        <p:spPr>
          <a:xfrm>
            <a:off x="8595360" y="2468880"/>
            <a:ext cx="3108960" cy="3017520"/>
          </a:xfrm>
          <a:prstGeom prst="rect">
            <a:avLst/>
          </a:prstGeom>
          <a:noFill/>
          <a:ln/>
        </p:spPr>
        <p:txBody>
          <a:bodyPr wrap="square" lIns="0" tIns="0" rIns="0" bIns="0" rtlCol="0" anchor="t"/>
          <a:lstStyle/>
          <a:p>
            <a:pPr indent="0" marL="0">
              <a:buNone/>
            </a:pPr>
            <a:r>
              <a:rPr lang="en-US" sz="1600" i="1" dirty="0">
                <a:solidFill>
                  <a:srgbClr val="FFFFFF"/>
                </a:solidFill>
                <a:latin typeface="Georgia" pitchFamily="34" charset="0"/>
                <a:ea typeface="Georgia" pitchFamily="34" charset="-122"/>
                <a:cs typeface="Georgia" pitchFamily="34" charset="-120"/>
              </a:rPr>
              <a:t>Before concluding a subgroup finding is real, compare it against what chance alone produces for a subgroup of </a:t>
            </a:r>
            <a:pPr indent="0" marL="0">
              <a:buNone/>
            </a:pPr>
            <a:r>
              <a:rPr lang="en-US" sz="1600" b="1" i="1" dirty="0">
                <a:solidFill>
                  <a:srgbClr val="D4A017"/>
                </a:solidFill>
                <a:latin typeface="Georgia" pitchFamily="34" charset="0"/>
                <a:ea typeface="Georgia" pitchFamily="34" charset="-122"/>
                <a:cs typeface="Georgia" pitchFamily="34" charset="-120"/>
              </a:rPr>
              <a:t>the same size.</a:t>
            </a:r>
            <a:endParaRPr lang="en-US" sz="1600" dirty="0"/>
          </a:p>
        </p:txBody>
      </p:sp>
      <p:sp>
        <p:nvSpPr>
          <p:cNvPr id="10" name="Text 8"/>
          <p:cNvSpPr/>
          <p:nvPr/>
        </p:nvSpPr>
        <p:spPr>
          <a:xfrm>
            <a:off x="731520" y="5394960"/>
            <a:ext cx="54864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Larry F. León</a:t>
            </a:r>
            <a:endParaRPr lang="en-US" sz="1800" dirty="0"/>
          </a:p>
        </p:txBody>
      </p:sp>
      <p:sp>
        <p:nvSpPr>
          <p:cNvPr id="11" name="Text 9"/>
          <p:cNvSpPr/>
          <p:nvPr/>
        </p:nvSpPr>
        <p:spPr>
          <a:xfrm>
            <a:off x="731520" y="5760720"/>
            <a:ext cx="7315200" cy="274320"/>
          </a:xfrm>
          <a:prstGeom prst="rect">
            <a:avLst/>
          </a:prstGeom>
          <a:noFill/>
          <a:ln/>
        </p:spPr>
        <p:txBody>
          <a:bodyPr wrap="square" lIns="0" tIns="0" rIns="0" bIns="0" rtlCol="0" anchor="ctr"/>
          <a:lstStyle/>
          <a:p>
            <a:pPr indent="0" marL="0">
              <a:buNone/>
            </a:pPr>
            <a:r>
              <a:rPr lang="en-US" sz="1200" dirty="0">
                <a:solidFill>
                  <a:srgbClr val="E8F0F7"/>
                </a:solidFill>
                <a:latin typeface="Calibri" pitchFamily="34" charset="0"/>
                <a:ea typeface="Calibri" pitchFamily="34" charset="-122"/>
                <a:cs typeface="Calibri" pitchFamily="34" charset="-120"/>
              </a:rPr>
              <a:t>forestsearch R package  ·  github.com/larry-leon/forestsearch</a:t>
            </a:r>
            <a:endParaRPr lang="en-US" sz="1200" dirty="0"/>
          </a:p>
        </p:txBody>
      </p:sp>
      <p:sp>
        <p:nvSpPr>
          <p:cNvPr id="12" name="Text 10"/>
          <p:cNvSpPr/>
          <p:nvPr/>
        </p:nvSpPr>
        <p:spPr>
          <a:xfrm>
            <a:off x="731520" y="6126480"/>
            <a:ext cx="5486400" cy="274320"/>
          </a:xfrm>
          <a:prstGeom prst="rect">
            <a:avLst/>
          </a:prstGeom>
          <a:noFill/>
          <a:ln/>
        </p:spPr>
        <p:txBody>
          <a:bodyPr wrap="square" lIns="0" tIns="0" rIns="0" bIns="0" rtlCol="0" anchor="ctr"/>
          <a:lstStyle/>
          <a:p>
            <a:pPr indent="0" marL="0">
              <a:buNone/>
            </a:pPr>
            <a:r>
              <a:rPr lang="en-US" sz="1100" spc="400" kern="0" dirty="0">
                <a:solidFill>
                  <a:srgbClr val="D4A017"/>
                </a:solidFill>
                <a:latin typeface="Calibri" pitchFamily="34" charset="0"/>
                <a:ea typeface="Calibri" pitchFamily="34" charset="-122"/>
                <a:cs typeface="Calibri" pitchFamily="34" charset="-120"/>
              </a:rPr>
              <a:t>April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65A82"/>
          </a:solidFill>
          <a:ln w="12700">
            <a:solidFill>
              <a:srgbClr val="065A82"/>
            </a:solidFill>
            <a:prstDash val="solid"/>
          </a:ln>
        </p:spPr>
      </p:sp>
      <p:sp>
        <p:nvSpPr>
          <p:cNvPr id="3" name="Text 1"/>
          <p:cNvSpPr/>
          <p:nvPr/>
        </p:nvSpPr>
        <p:spPr>
          <a:xfrm>
            <a:off x="502920" y="320040"/>
            <a:ext cx="11155680" cy="292608"/>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PRIMARY QUESTION</a:t>
            </a:r>
            <a:endParaRPr lang="en-US" sz="1100" dirty="0"/>
          </a:p>
        </p:txBody>
      </p:sp>
      <p:sp>
        <p:nvSpPr>
          <p:cNvPr id="4" name="Text 2"/>
          <p:cNvSpPr/>
          <p:nvPr/>
        </p:nvSpPr>
        <p:spPr>
          <a:xfrm>
            <a:off x="502920" y="612648"/>
            <a:ext cx="11155680" cy="685800"/>
          </a:xfrm>
          <a:prstGeom prst="rect">
            <a:avLst/>
          </a:prstGeom>
          <a:noFill/>
          <a:ln/>
        </p:spPr>
        <p:txBody>
          <a:bodyPr wrap="square" lIns="0" tIns="0" rIns="0" bIns="0" rtlCol="0" anchor="ctr"/>
          <a:lstStyle/>
          <a:p>
            <a:pPr indent="0" marL="0">
              <a:buNone/>
            </a:pPr>
            <a:r>
              <a:rPr lang="en-US" sz="3000" b="1" dirty="0">
                <a:solidFill>
                  <a:srgbClr val="0C2344"/>
                </a:solidFill>
                <a:latin typeface="Calibri" pitchFamily="34" charset="0"/>
                <a:ea typeface="Calibri" pitchFamily="34" charset="-122"/>
                <a:cs typeface="Calibri" pitchFamily="34" charset="-120"/>
              </a:rPr>
              <a:t>The Central Question</a:t>
            </a:r>
            <a:endParaRPr lang="en-US" sz="3000" dirty="0"/>
          </a:p>
        </p:txBody>
      </p:sp>
      <p:sp>
        <p:nvSpPr>
          <p:cNvPr id="5" name="Shape 3"/>
          <p:cNvSpPr/>
          <p:nvPr/>
        </p:nvSpPr>
        <p:spPr>
          <a:xfrm>
            <a:off x="502920" y="1417320"/>
            <a:ext cx="11155680" cy="1234440"/>
          </a:xfrm>
          <a:prstGeom prst="rect">
            <a:avLst/>
          </a:prstGeom>
          <a:solidFill>
            <a:srgbClr val="F5F8FC"/>
          </a:solidFill>
          <a:ln w="6350">
            <a:solidFill>
              <a:srgbClr val="C9D3DD"/>
            </a:solidFill>
            <a:prstDash val="solid"/>
          </a:ln>
        </p:spPr>
      </p:sp>
      <p:sp>
        <p:nvSpPr>
          <p:cNvPr id="6" name="Shape 4"/>
          <p:cNvSpPr/>
          <p:nvPr/>
        </p:nvSpPr>
        <p:spPr>
          <a:xfrm>
            <a:off x="502920" y="1417320"/>
            <a:ext cx="73152" cy="1234440"/>
          </a:xfrm>
          <a:prstGeom prst="rect">
            <a:avLst/>
          </a:prstGeom>
          <a:solidFill>
            <a:srgbClr val="C0392B"/>
          </a:solidFill>
          <a:ln w="12700">
            <a:solidFill>
              <a:srgbClr val="C0392B"/>
            </a:solidFill>
            <a:prstDash val="solid"/>
          </a:ln>
        </p:spPr>
      </p:sp>
      <p:sp>
        <p:nvSpPr>
          <p:cNvPr id="7" name="Text 5"/>
          <p:cNvSpPr/>
          <p:nvPr/>
        </p:nvSpPr>
        <p:spPr>
          <a:xfrm>
            <a:off x="777240" y="1645920"/>
            <a:ext cx="10698480" cy="384048"/>
          </a:xfrm>
          <a:prstGeom prst="rect">
            <a:avLst/>
          </a:prstGeom>
          <a:noFill/>
          <a:ln/>
        </p:spPr>
        <p:txBody>
          <a:bodyPr wrap="square" lIns="0" tIns="0" rIns="0" bIns="0" rtlCol="0" anchor="ctr"/>
          <a:lstStyle/>
          <a:p>
            <a:pPr indent="0" marL="0">
              <a:buNone/>
            </a:pPr>
            <a:r>
              <a:rPr lang="en-US" sz="2000" i="1" dirty="0">
                <a:solidFill>
                  <a:srgbClr val="1A2A3A"/>
                </a:solidFill>
                <a:latin typeface="Georgia" pitchFamily="34" charset="0"/>
                <a:ea typeface="Georgia" pitchFamily="34" charset="-122"/>
                <a:cs typeface="Georgia" pitchFamily="34" charset="-120"/>
              </a:rPr>
              <a:t>Does an apparent subgroup finding reflect</a:t>
            </a:r>
            <a:endParaRPr lang="en-US" sz="2000" dirty="0"/>
          </a:p>
        </p:txBody>
      </p:sp>
      <p:sp>
        <p:nvSpPr>
          <p:cNvPr id="8" name="Text 6"/>
          <p:cNvSpPr/>
          <p:nvPr/>
        </p:nvSpPr>
        <p:spPr>
          <a:xfrm>
            <a:off x="777240" y="2057400"/>
            <a:ext cx="10698480" cy="640080"/>
          </a:xfrm>
          <a:prstGeom prst="rect">
            <a:avLst/>
          </a:prstGeom>
          <a:noFill/>
          <a:ln/>
        </p:spPr>
        <p:txBody>
          <a:bodyPr wrap="square" lIns="0" tIns="0" rIns="0" bIns="0" rtlCol="0" anchor="ctr"/>
          <a:lstStyle/>
          <a:p>
            <a:pPr indent="0" marL="0">
              <a:buNone/>
            </a:pPr>
            <a:r>
              <a:rPr lang="en-US" sz="2200" b="1" i="1" dirty="0">
                <a:solidFill>
                  <a:srgbClr val="C0392B"/>
                </a:solidFill>
                <a:latin typeface="Georgia" pitchFamily="34" charset="0"/>
                <a:ea typeface="Georgia" pitchFamily="34" charset="-122"/>
                <a:cs typeface="Georgia" pitchFamily="34" charset="-120"/>
              </a:rPr>
              <a:t>genuine heterogeneity</a:t>
            </a:r>
            <a:pPr indent="0" marL="0">
              <a:buNone/>
            </a:pPr>
            <a:r>
              <a:rPr lang="en-US" sz="2200" i="1" dirty="0">
                <a:solidFill>
                  <a:srgbClr val="1A2A3A"/>
                </a:solidFill>
                <a:latin typeface="Georgia" pitchFamily="34" charset="0"/>
                <a:ea typeface="Georgia" pitchFamily="34" charset="-122"/>
                <a:cs typeface="Georgia" pitchFamily="34" charset="-120"/>
              </a:rPr>
              <a:t>  or is it  </a:t>
            </a:r>
            <a:pPr indent="0" marL="0">
              <a:buNone/>
            </a:pPr>
            <a:r>
              <a:rPr lang="en-US" sz="2200" b="1" i="1" dirty="0">
                <a:solidFill>
                  <a:srgbClr val="C0392B"/>
                </a:solidFill>
                <a:latin typeface="Georgia" pitchFamily="34" charset="0"/>
                <a:ea typeface="Georgia" pitchFamily="34" charset="-122"/>
                <a:cs typeface="Georgia" pitchFamily="34" charset="-120"/>
              </a:rPr>
              <a:t>noise amplified by small sample size</a:t>
            </a:r>
            <a:pPr indent="0" marL="0">
              <a:buNone/>
            </a:pPr>
            <a:r>
              <a:rPr lang="en-US" sz="2200" i="1" dirty="0">
                <a:solidFill>
                  <a:srgbClr val="1A2A3A"/>
                </a:solidFill>
                <a:latin typeface="Georgia" pitchFamily="34" charset="0"/>
                <a:ea typeface="Georgia" pitchFamily="34" charset="-122"/>
                <a:cs typeface="Georgia" pitchFamily="34" charset="-120"/>
              </a:rPr>
              <a:t>?</a:t>
            </a:r>
            <a:endParaRPr lang="en-US" sz="2200" dirty="0"/>
          </a:p>
        </p:txBody>
      </p:sp>
      <p:sp>
        <p:nvSpPr>
          <p:cNvPr id="9" name="Shape 7"/>
          <p:cNvSpPr/>
          <p:nvPr/>
        </p:nvSpPr>
        <p:spPr>
          <a:xfrm>
            <a:off x="502920" y="2880360"/>
            <a:ext cx="3535680" cy="3246120"/>
          </a:xfrm>
          <a:prstGeom prst="rect">
            <a:avLst/>
          </a:prstGeom>
          <a:solidFill>
            <a:srgbClr val="F5F8FC"/>
          </a:solidFill>
          <a:ln w="6350">
            <a:solidFill>
              <a:srgbClr val="C9D3DD"/>
            </a:solidFill>
            <a:prstDash val="solid"/>
          </a:ln>
        </p:spPr>
      </p:sp>
      <p:sp>
        <p:nvSpPr>
          <p:cNvPr id="10" name="Shape 8"/>
          <p:cNvSpPr/>
          <p:nvPr/>
        </p:nvSpPr>
        <p:spPr>
          <a:xfrm>
            <a:off x="502920" y="2880360"/>
            <a:ext cx="73152" cy="3246120"/>
          </a:xfrm>
          <a:prstGeom prst="rect">
            <a:avLst/>
          </a:prstGeom>
          <a:solidFill>
            <a:srgbClr val="065A82"/>
          </a:solidFill>
          <a:ln w="12700">
            <a:solidFill>
              <a:srgbClr val="065A82"/>
            </a:solidFill>
            <a:prstDash val="solid"/>
          </a:ln>
        </p:spPr>
      </p:sp>
      <p:sp>
        <p:nvSpPr>
          <p:cNvPr id="11" name="Text 9"/>
          <p:cNvSpPr/>
          <p:nvPr/>
        </p:nvSpPr>
        <p:spPr>
          <a:xfrm>
            <a:off x="777240" y="3063240"/>
            <a:ext cx="3078480" cy="411480"/>
          </a:xfrm>
          <a:prstGeom prst="rect">
            <a:avLst/>
          </a:prstGeom>
          <a:noFill/>
          <a:ln/>
        </p:spPr>
        <p:txBody>
          <a:bodyPr wrap="square" lIns="0" tIns="0" rIns="0" bIns="0"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What reviewers see</a:t>
            </a:r>
            <a:endParaRPr lang="en-US" sz="1600" dirty="0"/>
          </a:p>
        </p:txBody>
      </p:sp>
      <p:sp>
        <p:nvSpPr>
          <p:cNvPr id="12" name="Text 10"/>
          <p:cNvSpPr/>
          <p:nvPr/>
        </p:nvSpPr>
        <p:spPr>
          <a:xfrm>
            <a:off x="777240" y="3566160"/>
            <a:ext cx="3078480" cy="237744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1A2A3A"/>
                </a:solidFill>
                <a:latin typeface="Calibri" pitchFamily="34" charset="0"/>
                <a:ea typeface="Calibri" pitchFamily="34" charset="-122"/>
                <a:cs typeface="Calibri" pitchFamily="34" charset="-120"/>
              </a:rPr>
              <a:t>Forest plots with dozens of subgroup HRs and 95 % CIs.</a:t>
            </a:r>
            <a:endParaRPr lang="en-US" sz="1300" dirty="0"/>
          </a:p>
          <a:p>
            <a:pPr marL="342900" indent="-342900">
              <a:spcAft>
                <a:spcPts val="800"/>
              </a:spcAft>
              <a:buSzPct val="100000"/>
              <a:buChar char="■"/>
            </a:pPr>
            <a:r>
              <a:rPr lang="en-US" sz="1300" dirty="0">
                <a:solidFill>
                  <a:srgbClr val="1A2A3A"/>
                </a:solidFill>
                <a:latin typeface="Calibri" pitchFamily="34" charset="0"/>
                <a:ea typeface="Calibri" pitchFamily="34" charset="-122"/>
                <a:cs typeface="Calibri" pitchFamily="34" charset="-120"/>
              </a:rPr>
              <a:t>Small subgroups routinely show dramatic point estimates and wide intervals.</a:t>
            </a:r>
            <a:endParaRPr lang="en-US" sz="1300" dirty="0"/>
          </a:p>
          <a:p>
            <a:pPr marL="342900" indent="-342900">
              <a:spcAft>
                <a:spcPts val="800"/>
              </a:spcAft>
              <a:buSzPct val="100000"/>
              <a:buChar char="■"/>
            </a:pPr>
            <a:r>
              <a:rPr lang="en-US" sz="1300" dirty="0">
                <a:solidFill>
                  <a:srgbClr val="1A2A3A"/>
                </a:solidFill>
                <a:latin typeface="Calibri" pitchFamily="34" charset="0"/>
                <a:ea typeface="Calibri" pitchFamily="34" charset="-122"/>
                <a:cs typeface="Calibri" pitchFamily="34" charset="-120"/>
              </a:rPr>
              <a:t>Country-level analyses, biomarker strata, and post-hoc cuts amplify the problem.</a:t>
            </a:r>
            <a:endParaRPr lang="en-US" sz="1300" dirty="0"/>
          </a:p>
        </p:txBody>
      </p:sp>
      <p:sp>
        <p:nvSpPr>
          <p:cNvPr id="13" name="Shape 11"/>
          <p:cNvSpPr/>
          <p:nvPr/>
        </p:nvSpPr>
        <p:spPr>
          <a:xfrm>
            <a:off x="4312920" y="2880360"/>
            <a:ext cx="3535680" cy="3246120"/>
          </a:xfrm>
          <a:prstGeom prst="rect">
            <a:avLst/>
          </a:prstGeom>
          <a:solidFill>
            <a:srgbClr val="F5F8FC"/>
          </a:solidFill>
          <a:ln w="6350">
            <a:solidFill>
              <a:srgbClr val="C9D3DD"/>
            </a:solidFill>
            <a:prstDash val="solid"/>
          </a:ln>
        </p:spPr>
      </p:sp>
      <p:sp>
        <p:nvSpPr>
          <p:cNvPr id="14" name="Shape 12"/>
          <p:cNvSpPr/>
          <p:nvPr/>
        </p:nvSpPr>
        <p:spPr>
          <a:xfrm>
            <a:off x="4312920" y="2880360"/>
            <a:ext cx="73152" cy="3246120"/>
          </a:xfrm>
          <a:prstGeom prst="rect">
            <a:avLst/>
          </a:prstGeom>
          <a:solidFill>
            <a:srgbClr val="1C7293"/>
          </a:solidFill>
          <a:ln w="12700">
            <a:solidFill>
              <a:srgbClr val="1C7293"/>
            </a:solidFill>
            <a:prstDash val="solid"/>
          </a:ln>
        </p:spPr>
      </p:sp>
      <p:sp>
        <p:nvSpPr>
          <p:cNvPr id="15" name="Text 13"/>
          <p:cNvSpPr/>
          <p:nvPr/>
        </p:nvSpPr>
        <p:spPr>
          <a:xfrm>
            <a:off x="4587240" y="3063240"/>
            <a:ext cx="3078480" cy="411480"/>
          </a:xfrm>
          <a:prstGeom prst="rect">
            <a:avLst/>
          </a:prstGeom>
          <a:noFill/>
          <a:ln/>
        </p:spPr>
        <p:txBody>
          <a:bodyPr wrap="square" lIns="0" tIns="0" rIns="0" bIns="0" rtlCol="0" anchor="ctr"/>
          <a:lstStyle/>
          <a:p>
            <a:pPr indent="0" marL="0">
              <a:buNone/>
            </a:pPr>
            <a:r>
              <a:rPr lang="en-US" sz="1600" b="1" dirty="0">
                <a:solidFill>
                  <a:srgbClr val="1C7293"/>
                </a:solidFill>
                <a:latin typeface="Calibri" pitchFamily="34" charset="0"/>
                <a:ea typeface="Calibri" pitchFamily="34" charset="-122"/>
                <a:cs typeface="Calibri" pitchFamily="34" charset="-120"/>
              </a:rPr>
              <a:t>Why it matters</a:t>
            </a:r>
            <a:endParaRPr lang="en-US" sz="1600" dirty="0"/>
          </a:p>
        </p:txBody>
      </p:sp>
      <p:sp>
        <p:nvSpPr>
          <p:cNvPr id="16" name="Text 14"/>
          <p:cNvSpPr/>
          <p:nvPr/>
        </p:nvSpPr>
        <p:spPr>
          <a:xfrm>
            <a:off x="4587240" y="3566160"/>
            <a:ext cx="3078480" cy="237744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1A2A3A"/>
                </a:solidFill>
                <a:latin typeface="Calibri" pitchFamily="34" charset="0"/>
                <a:ea typeface="Calibri" pitchFamily="34" charset="-122"/>
                <a:cs typeface="Calibri" pitchFamily="34" charset="-120"/>
              </a:rPr>
              <a:t>Regulatory and HTA reviews increasingly scrutinize subgroups.</a:t>
            </a:r>
            <a:endParaRPr lang="en-US" sz="1300" dirty="0"/>
          </a:p>
          <a:p>
            <a:pPr marL="342900" indent="-342900">
              <a:spcAft>
                <a:spcPts val="800"/>
              </a:spcAft>
              <a:buSzPct val="100000"/>
              <a:buChar char="■"/>
            </a:pPr>
            <a:r>
              <a:rPr lang="en-US" sz="1300" dirty="0">
                <a:solidFill>
                  <a:srgbClr val="1A2A3A"/>
                </a:solidFill>
                <a:latin typeface="Calibri" pitchFamily="34" charset="0"/>
                <a:ea typeface="Calibri" pitchFamily="34" charset="-122"/>
                <a:cs typeface="Calibri" pitchFamily="34" charset="-120"/>
              </a:rPr>
              <a:t>Apparent “no-benefit” or “harm” signals in small groups can alter approval decisions.</a:t>
            </a:r>
            <a:endParaRPr lang="en-US" sz="1300" dirty="0"/>
          </a:p>
          <a:p>
            <a:pPr marL="342900" indent="-342900">
              <a:spcAft>
                <a:spcPts val="800"/>
              </a:spcAft>
              <a:buSzPct val="100000"/>
              <a:buChar char="■"/>
            </a:pPr>
            <a:r>
              <a:rPr lang="en-US" sz="1300" dirty="0">
                <a:solidFill>
                  <a:srgbClr val="1A2A3A"/>
                </a:solidFill>
                <a:latin typeface="Calibri" pitchFamily="34" charset="0"/>
                <a:ea typeface="Calibri" pitchFamily="34" charset="-122"/>
                <a:cs typeface="Calibri" pitchFamily="34" charset="-120"/>
              </a:rPr>
              <a:t>Clinical rationale does not automatically translate into statistical protection.</a:t>
            </a:r>
            <a:endParaRPr lang="en-US" sz="1300" dirty="0"/>
          </a:p>
        </p:txBody>
      </p:sp>
      <p:sp>
        <p:nvSpPr>
          <p:cNvPr id="17" name="Shape 15"/>
          <p:cNvSpPr/>
          <p:nvPr/>
        </p:nvSpPr>
        <p:spPr>
          <a:xfrm>
            <a:off x="8122920" y="2880360"/>
            <a:ext cx="3535680" cy="3246120"/>
          </a:xfrm>
          <a:prstGeom prst="rect">
            <a:avLst/>
          </a:prstGeom>
          <a:solidFill>
            <a:srgbClr val="F5F8FC"/>
          </a:solidFill>
          <a:ln w="6350">
            <a:solidFill>
              <a:srgbClr val="C9D3DD"/>
            </a:solidFill>
            <a:prstDash val="solid"/>
          </a:ln>
        </p:spPr>
      </p:sp>
      <p:sp>
        <p:nvSpPr>
          <p:cNvPr id="18" name="Shape 16"/>
          <p:cNvSpPr/>
          <p:nvPr/>
        </p:nvSpPr>
        <p:spPr>
          <a:xfrm>
            <a:off x="8122920" y="2880360"/>
            <a:ext cx="73152" cy="3246120"/>
          </a:xfrm>
          <a:prstGeom prst="rect">
            <a:avLst/>
          </a:prstGeom>
          <a:solidFill>
            <a:srgbClr val="D4A017"/>
          </a:solidFill>
          <a:ln w="12700">
            <a:solidFill>
              <a:srgbClr val="D4A017"/>
            </a:solidFill>
            <a:prstDash val="solid"/>
          </a:ln>
        </p:spPr>
      </p:sp>
      <p:sp>
        <p:nvSpPr>
          <p:cNvPr id="19" name="Text 17"/>
          <p:cNvSpPr/>
          <p:nvPr/>
        </p:nvSpPr>
        <p:spPr>
          <a:xfrm>
            <a:off x="8397240" y="3063240"/>
            <a:ext cx="3078480" cy="411480"/>
          </a:xfrm>
          <a:prstGeom prst="rect">
            <a:avLst/>
          </a:prstGeom>
          <a:noFill/>
          <a:ln/>
        </p:spPr>
        <p:txBody>
          <a:bodyPr wrap="square" lIns="0" tIns="0" rIns="0" bIns="0" rtlCol="0" anchor="ctr"/>
          <a:lstStyle/>
          <a:p>
            <a:pPr indent="0" marL="0">
              <a:buNone/>
            </a:pPr>
            <a:r>
              <a:rPr lang="en-US" sz="1600" b="1" dirty="0">
                <a:solidFill>
                  <a:srgbClr val="D4A017"/>
                </a:solidFill>
                <a:latin typeface="Calibri" pitchFamily="34" charset="0"/>
                <a:ea typeface="Calibri" pitchFamily="34" charset="-122"/>
                <a:cs typeface="Calibri" pitchFamily="34" charset="-120"/>
              </a:rPr>
              <a:t>What chance alone does</a:t>
            </a:r>
            <a:endParaRPr lang="en-US" sz="1600" dirty="0"/>
          </a:p>
        </p:txBody>
      </p:sp>
      <p:sp>
        <p:nvSpPr>
          <p:cNvPr id="20" name="Text 18"/>
          <p:cNvSpPr/>
          <p:nvPr/>
        </p:nvSpPr>
        <p:spPr>
          <a:xfrm>
            <a:off x="8397240" y="3566160"/>
            <a:ext cx="3078480" cy="237744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1A2A3A"/>
                </a:solidFill>
                <a:latin typeface="Calibri" pitchFamily="34" charset="0"/>
                <a:ea typeface="Calibri" pitchFamily="34" charset="-122"/>
                <a:cs typeface="Calibri" pitchFamily="34" charset="-120"/>
              </a:rPr>
              <a:t>Even when the treatment helps every patient equally, small subgroups produce extreme estimates.</a:t>
            </a:r>
            <a:endParaRPr lang="en-US" sz="1300" dirty="0"/>
          </a:p>
          <a:p>
            <a:pPr marL="342900" indent="-342900">
              <a:spcAft>
                <a:spcPts val="800"/>
              </a:spcAft>
              <a:buSzPct val="100000"/>
              <a:buChar char="■"/>
            </a:pPr>
            <a:r>
              <a:rPr lang="en-US" sz="1300" dirty="0">
                <a:solidFill>
                  <a:srgbClr val="1A2A3A"/>
                </a:solidFill>
                <a:latin typeface="Calibri" pitchFamily="34" charset="0"/>
                <a:ea typeface="Calibri" pitchFamily="34" charset="-122"/>
                <a:cs typeface="Calibri" pitchFamily="34" charset="-120"/>
              </a:rPr>
              <a:t>Wide CIs in small N are the Cox model working correctly.</a:t>
            </a:r>
            <a:endParaRPr lang="en-US" sz="1300" dirty="0"/>
          </a:p>
          <a:p>
            <a:pPr marL="342900" indent="-342900">
              <a:spcAft>
                <a:spcPts val="800"/>
              </a:spcAft>
              <a:buSzPct val="100000"/>
              <a:buChar char="■"/>
            </a:pPr>
            <a:r>
              <a:rPr lang="en-US" sz="1300" dirty="0">
                <a:solidFill>
                  <a:srgbClr val="1A2A3A"/>
                </a:solidFill>
                <a:latin typeface="Calibri" pitchFamily="34" charset="0"/>
                <a:ea typeface="Calibri" pitchFamily="34" charset="-122"/>
                <a:cs typeface="Calibri" pitchFamily="34" charset="-120"/>
              </a:rPr>
              <a:t>Without calibration, “extreme” cannot be interpreted.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65A82"/>
          </a:solidFill>
          <a:ln w="12700">
            <a:solidFill>
              <a:srgbClr val="065A82"/>
            </a:solidFill>
            <a:prstDash val="solid"/>
          </a:ln>
        </p:spPr>
      </p:sp>
      <p:sp>
        <p:nvSpPr>
          <p:cNvPr id="3" name="Text 1"/>
          <p:cNvSpPr/>
          <p:nvPr/>
        </p:nvSpPr>
        <p:spPr>
          <a:xfrm>
            <a:off x="502920" y="320040"/>
            <a:ext cx="11155680" cy="292608"/>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STRATEGY</a:t>
            </a:r>
            <a:endParaRPr lang="en-US" sz="1100" dirty="0"/>
          </a:p>
        </p:txBody>
      </p:sp>
      <p:sp>
        <p:nvSpPr>
          <p:cNvPr id="4" name="Text 2"/>
          <p:cNvSpPr/>
          <p:nvPr/>
        </p:nvSpPr>
        <p:spPr>
          <a:xfrm>
            <a:off x="502920" y="612648"/>
            <a:ext cx="11155680" cy="685800"/>
          </a:xfrm>
          <a:prstGeom prst="rect">
            <a:avLst/>
          </a:prstGeom>
          <a:noFill/>
          <a:ln/>
        </p:spPr>
        <p:txBody>
          <a:bodyPr wrap="square" lIns="0" tIns="0" rIns="0" bIns="0" rtlCol="0" anchor="ctr"/>
          <a:lstStyle/>
          <a:p>
            <a:pPr indent="0" marL="0">
              <a:buNone/>
            </a:pPr>
            <a:r>
              <a:rPr lang="en-US" sz="3000" b="1" dirty="0">
                <a:solidFill>
                  <a:srgbClr val="0C2344"/>
                </a:solidFill>
                <a:latin typeface="Calibri" pitchFamily="34" charset="0"/>
                <a:ea typeface="Calibri" pitchFamily="34" charset="-122"/>
                <a:cs typeface="Calibri" pitchFamily="34" charset="-120"/>
              </a:rPr>
              <a:t>Strategy: Let the Trial Data Define the Null</a:t>
            </a:r>
            <a:endParaRPr lang="en-US" sz="3000" dirty="0"/>
          </a:p>
        </p:txBody>
      </p:sp>
      <p:sp>
        <p:nvSpPr>
          <p:cNvPr id="5" name="Shape 3"/>
          <p:cNvSpPr/>
          <p:nvPr/>
        </p:nvSpPr>
        <p:spPr>
          <a:xfrm>
            <a:off x="594360" y="1508760"/>
            <a:ext cx="4023360" cy="1188720"/>
          </a:xfrm>
          <a:prstGeom prst="rect">
            <a:avLst/>
          </a:prstGeom>
          <a:solidFill>
            <a:srgbClr val="FFFFFF"/>
          </a:solidFill>
          <a:ln w="25400">
            <a:solidFill>
              <a:srgbClr val="065A82"/>
            </a:solidFill>
            <a:prstDash val="solid"/>
          </a:ln>
        </p:spPr>
      </p:sp>
      <p:sp>
        <p:nvSpPr>
          <p:cNvPr id="6" name="Shape 4"/>
          <p:cNvSpPr/>
          <p:nvPr/>
        </p:nvSpPr>
        <p:spPr>
          <a:xfrm>
            <a:off x="594360" y="1508760"/>
            <a:ext cx="137160" cy="1188720"/>
          </a:xfrm>
          <a:prstGeom prst="rect">
            <a:avLst/>
          </a:prstGeom>
          <a:solidFill>
            <a:srgbClr val="065A82"/>
          </a:solidFill>
          <a:ln w="12700">
            <a:solidFill>
              <a:srgbClr val="065A82"/>
            </a:solidFill>
            <a:prstDash val="solid"/>
          </a:ln>
        </p:spPr>
      </p:sp>
      <p:sp>
        <p:nvSpPr>
          <p:cNvPr id="7" name="Text 5"/>
          <p:cNvSpPr/>
          <p:nvPr/>
        </p:nvSpPr>
        <p:spPr>
          <a:xfrm>
            <a:off x="868680" y="1673352"/>
            <a:ext cx="3657600" cy="411480"/>
          </a:xfrm>
          <a:prstGeom prst="rect">
            <a:avLst/>
          </a:prstGeom>
          <a:noFill/>
          <a:ln/>
        </p:spPr>
        <p:txBody>
          <a:bodyPr wrap="square" lIns="0" tIns="0" rIns="0" bIns="0" rtlCol="0" anchor="ctr"/>
          <a:lstStyle/>
          <a:p>
            <a:pPr indent="0" marL="0">
              <a:buNone/>
            </a:pPr>
            <a:r>
              <a:rPr lang="en-US" sz="1600" b="1" dirty="0">
                <a:solidFill>
                  <a:srgbClr val="0C2344"/>
                </a:solidFill>
                <a:latin typeface="Calibri" pitchFamily="34" charset="0"/>
                <a:ea typeface="Calibri" pitchFamily="34" charset="-122"/>
                <a:cs typeface="Calibri" pitchFamily="34" charset="-120"/>
              </a:rPr>
              <a:t>Observed trial data</a:t>
            </a:r>
            <a:endParaRPr lang="en-US" sz="1600" dirty="0"/>
          </a:p>
        </p:txBody>
      </p:sp>
      <p:sp>
        <p:nvSpPr>
          <p:cNvPr id="8" name="Text 6"/>
          <p:cNvSpPr/>
          <p:nvPr/>
        </p:nvSpPr>
        <p:spPr>
          <a:xfrm>
            <a:off x="868680" y="2103120"/>
            <a:ext cx="3657600" cy="502920"/>
          </a:xfrm>
          <a:prstGeom prst="rect">
            <a:avLst/>
          </a:prstGeom>
          <a:noFill/>
          <a:ln/>
        </p:spPr>
        <p:txBody>
          <a:bodyPr wrap="square" lIns="0" tIns="0" rIns="0" bIns="0" rtlCol="0" anchor="ctr"/>
          <a:lstStyle/>
          <a:p>
            <a:pPr indent="0" marL="0">
              <a:buNone/>
            </a:pPr>
            <a:r>
              <a:rPr lang="en-US" sz="1200" i="1" dirty="0">
                <a:solidFill>
                  <a:srgbClr val="5C6F83"/>
                </a:solidFill>
                <a:latin typeface="Calibri" pitchFamily="34" charset="0"/>
                <a:ea typeface="Calibri" pitchFamily="34" charset="-122"/>
                <a:cs typeface="Calibri" pitchFamily="34" charset="-120"/>
              </a:rPr>
              <a:t>GBSG  ·  N = 686  ·  all baseline covariates, censoring, outcomes</a:t>
            </a:r>
            <a:endParaRPr lang="en-US" sz="1200" dirty="0"/>
          </a:p>
        </p:txBody>
      </p:sp>
      <p:sp>
        <p:nvSpPr>
          <p:cNvPr id="9" name="Shape 7"/>
          <p:cNvSpPr/>
          <p:nvPr/>
        </p:nvSpPr>
        <p:spPr>
          <a:xfrm>
            <a:off x="2496312" y="2724912"/>
            <a:ext cx="219456" cy="219456"/>
          </a:xfrm>
          <a:prstGeom prst="rect">
            <a:avLst/>
          </a:prstGeom>
          <a:solidFill>
            <a:srgbClr val="1C7293"/>
          </a:solidFill>
          <a:ln w="12700">
            <a:solidFill>
              <a:srgbClr val="1C7293"/>
            </a:solidFill>
            <a:prstDash val="solid"/>
          </a:ln>
        </p:spPr>
      </p:sp>
      <p:sp>
        <p:nvSpPr>
          <p:cNvPr id="10" name="Shape 8"/>
          <p:cNvSpPr/>
          <p:nvPr/>
        </p:nvSpPr>
        <p:spPr>
          <a:xfrm>
            <a:off x="594360" y="2971800"/>
            <a:ext cx="4023360" cy="1188720"/>
          </a:xfrm>
          <a:prstGeom prst="rect">
            <a:avLst/>
          </a:prstGeom>
          <a:solidFill>
            <a:srgbClr val="FFFFFF"/>
          </a:solidFill>
          <a:ln w="25400">
            <a:solidFill>
              <a:srgbClr val="1C7293"/>
            </a:solidFill>
            <a:prstDash val="solid"/>
          </a:ln>
        </p:spPr>
      </p:sp>
      <p:sp>
        <p:nvSpPr>
          <p:cNvPr id="11" name="Shape 9"/>
          <p:cNvSpPr/>
          <p:nvPr/>
        </p:nvSpPr>
        <p:spPr>
          <a:xfrm>
            <a:off x="594360" y="2971800"/>
            <a:ext cx="137160" cy="1188720"/>
          </a:xfrm>
          <a:prstGeom prst="rect">
            <a:avLst/>
          </a:prstGeom>
          <a:solidFill>
            <a:srgbClr val="1C7293"/>
          </a:solidFill>
          <a:ln w="12700">
            <a:solidFill>
              <a:srgbClr val="1C7293"/>
            </a:solidFill>
            <a:prstDash val="solid"/>
          </a:ln>
        </p:spPr>
      </p:sp>
      <p:sp>
        <p:nvSpPr>
          <p:cNvPr id="12" name="Text 10"/>
          <p:cNvSpPr/>
          <p:nvPr/>
        </p:nvSpPr>
        <p:spPr>
          <a:xfrm>
            <a:off x="868680" y="3136392"/>
            <a:ext cx="3657600" cy="411480"/>
          </a:xfrm>
          <a:prstGeom prst="rect">
            <a:avLst/>
          </a:prstGeom>
          <a:noFill/>
          <a:ln/>
        </p:spPr>
        <p:txBody>
          <a:bodyPr wrap="square" lIns="0" tIns="0" rIns="0" bIns="0" rtlCol="0" anchor="ctr"/>
          <a:lstStyle/>
          <a:p>
            <a:pPr indent="0" marL="0">
              <a:buNone/>
            </a:pPr>
            <a:r>
              <a:rPr lang="en-US" sz="1600" b="1" dirty="0">
                <a:solidFill>
                  <a:srgbClr val="0C2344"/>
                </a:solidFill>
                <a:latin typeface="Calibri" pitchFamily="34" charset="0"/>
                <a:ea typeface="Calibri" pitchFamily="34" charset="-122"/>
                <a:cs typeface="Calibri" pitchFamily="34" charset="-120"/>
              </a:rPr>
              <a:t>Weibull AFT model + super-population</a:t>
            </a:r>
            <a:endParaRPr lang="en-US" sz="1600" dirty="0"/>
          </a:p>
        </p:txBody>
      </p:sp>
      <p:sp>
        <p:nvSpPr>
          <p:cNvPr id="13" name="Text 11"/>
          <p:cNvSpPr/>
          <p:nvPr/>
        </p:nvSpPr>
        <p:spPr>
          <a:xfrm>
            <a:off x="868680" y="3566160"/>
            <a:ext cx="3657600" cy="502920"/>
          </a:xfrm>
          <a:prstGeom prst="rect">
            <a:avLst/>
          </a:prstGeom>
          <a:noFill/>
          <a:ln/>
        </p:spPr>
        <p:txBody>
          <a:bodyPr wrap="square" lIns="0" tIns="0" rIns="0" bIns="0" rtlCol="0" anchor="ctr"/>
          <a:lstStyle/>
          <a:p>
            <a:pPr indent="0" marL="0">
              <a:buNone/>
            </a:pPr>
            <a:r>
              <a:rPr lang="en-US" sz="1200" i="1" dirty="0">
                <a:solidFill>
                  <a:srgbClr val="5C6F83"/>
                </a:solidFill>
                <a:latin typeface="Calibri" pitchFamily="34" charset="0"/>
                <a:ea typeface="Calibri" pitchFamily="34" charset="-122"/>
                <a:cs typeface="Calibri" pitchFamily="34" charset="-120"/>
              </a:rPr>
              <a:t>generate_aft_dgm_flex()  ·  fits the source structure</a:t>
            </a:r>
            <a:endParaRPr lang="en-US" sz="1200" dirty="0"/>
          </a:p>
        </p:txBody>
      </p:sp>
      <p:sp>
        <p:nvSpPr>
          <p:cNvPr id="14" name="Shape 12"/>
          <p:cNvSpPr/>
          <p:nvPr/>
        </p:nvSpPr>
        <p:spPr>
          <a:xfrm>
            <a:off x="2496312" y="4187952"/>
            <a:ext cx="219456" cy="219456"/>
          </a:xfrm>
          <a:prstGeom prst="rect">
            <a:avLst/>
          </a:prstGeom>
          <a:solidFill>
            <a:srgbClr val="1C7293"/>
          </a:solidFill>
          <a:ln w="12700">
            <a:solidFill>
              <a:srgbClr val="1C7293"/>
            </a:solidFill>
            <a:prstDash val="solid"/>
          </a:ln>
        </p:spPr>
      </p:sp>
      <p:sp>
        <p:nvSpPr>
          <p:cNvPr id="15" name="Shape 13"/>
          <p:cNvSpPr/>
          <p:nvPr/>
        </p:nvSpPr>
        <p:spPr>
          <a:xfrm>
            <a:off x="594360" y="4434840"/>
            <a:ext cx="4023360" cy="1188720"/>
          </a:xfrm>
          <a:prstGeom prst="rect">
            <a:avLst/>
          </a:prstGeom>
          <a:solidFill>
            <a:srgbClr val="FFFFFF"/>
          </a:solidFill>
          <a:ln w="25400">
            <a:solidFill>
              <a:srgbClr val="D4A017"/>
            </a:solidFill>
            <a:prstDash val="solid"/>
          </a:ln>
        </p:spPr>
      </p:sp>
      <p:sp>
        <p:nvSpPr>
          <p:cNvPr id="16" name="Shape 14"/>
          <p:cNvSpPr/>
          <p:nvPr/>
        </p:nvSpPr>
        <p:spPr>
          <a:xfrm>
            <a:off x="594360" y="4434840"/>
            <a:ext cx="137160" cy="1188720"/>
          </a:xfrm>
          <a:prstGeom prst="rect">
            <a:avLst/>
          </a:prstGeom>
          <a:solidFill>
            <a:srgbClr val="D4A017"/>
          </a:solidFill>
          <a:ln w="12700">
            <a:solidFill>
              <a:srgbClr val="D4A017"/>
            </a:solidFill>
            <a:prstDash val="solid"/>
          </a:ln>
        </p:spPr>
      </p:sp>
      <p:sp>
        <p:nvSpPr>
          <p:cNvPr id="17" name="Text 15"/>
          <p:cNvSpPr/>
          <p:nvPr/>
        </p:nvSpPr>
        <p:spPr>
          <a:xfrm>
            <a:off x="868680" y="4599432"/>
            <a:ext cx="3657600" cy="411480"/>
          </a:xfrm>
          <a:prstGeom prst="rect">
            <a:avLst/>
          </a:prstGeom>
          <a:noFill/>
          <a:ln/>
        </p:spPr>
        <p:txBody>
          <a:bodyPr wrap="square" lIns="0" tIns="0" rIns="0" bIns="0" rtlCol="0" anchor="ctr"/>
          <a:lstStyle/>
          <a:p>
            <a:pPr indent="0" marL="0">
              <a:buNone/>
            </a:pPr>
            <a:r>
              <a:rPr lang="en-US" sz="1600" b="1" dirty="0">
                <a:solidFill>
                  <a:srgbClr val="0C2344"/>
                </a:solidFill>
                <a:latin typeface="Calibri" pitchFamily="34" charset="0"/>
                <a:ea typeface="Calibri" pitchFamily="34" charset="-122"/>
                <a:cs typeface="Calibri" pitchFamily="34" charset="-120"/>
              </a:rPr>
              <a:t>Synthetic trials with a uniform benefit</a:t>
            </a:r>
            <a:endParaRPr lang="en-US" sz="1600" dirty="0"/>
          </a:p>
        </p:txBody>
      </p:sp>
      <p:sp>
        <p:nvSpPr>
          <p:cNvPr id="18" name="Text 16"/>
          <p:cNvSpPr/>
          <p:nvPr/>
        </p:nvSpPr>
        <p:spPr>
          <a:xfrm>
            <a:off x="868680" y="5029200"/>
            <a:ext cx="3657600" cy="502920"/>
          </a:xfrm>
          <a:prstGeom prst="rect">
            <a:avLst/>
          </a:prstGeom>
          <a:noFill/>
          <a:ln/>
        </p:spPr>
        <p:txBody>
          <a:bodyPr wrap="square" lIns="0" tIns="0" rIns="0" bIns="0" rtlCol="0" anchor="ctr"/>
          <a:lstStyle/>
          <a:p>
            <a:pPr indent="0" marL="0">
              <a:buNone/>
            </a:pPr>
            <a:r>
              <a:rPr lang="en-US" sz="1200" i="1" dirty="0">
                <a:solidFill>
                  <a:srgbClr val="5C6F83"/>
                </a:solidFill>
                <a:latin typeface="Calibri" pitchFamily="34" charset="0"/>
                <a:ea typeface="Calibri" pitchFamily="34" charset="-122"/>
                <a:cs typeface="Calibri" pitchFamily="34" charset="-120"/>
              </a:rPr>
              <a:t>simulate_from_dgm()  ·  true HR = 0.70 for every patient</a:t>
            </a:r>
            <a:endParaRPr lang="en-US" sz="1200" dirty="0"/>
          </a:p>
        </p:txBody>
      </p:sp>
      <p:sp>
        <p:nvSpPr>
          <p:cNvPr id="19" name="Text 17"/>
          <p:cNvSpPr/>
          <p:nvPr/>
        </p:nvSpPr>
        <p:spPr>
          <a:xfrm>
            <a:off x="5166360" y="1508760"/>
            <a:ext cx="6492240" cy="411480"/>
          </a:xfrm>
          <a:prstGeom prst="rect">
            <a:avLst/>
          </a:prstGeom>
          <a:noFill/>
          <a:ln/>
        </p:spPr>
        <p:txBody>
          <a:bodyPr wrap="square" lIns="0" tIns="0" rIns="0" bIns="0" rtlCol="0" anchor="ctr"/>
          <a:lstStyle/>
          <a:p>
            <a:pPr indent="0" marL="0">
              <a:buNone/>
            </a:pPr>
            <a:r>
              <a:rPr lang="en-US" sz="1800" b="1" dirty="0">
                <a:solidFill>
                  <a:srgbClr val="0C2344"/>
                </a:solidFill>
                <a:latin typeface="Calibri" pitchFamily="34" charset="0"/>
                <a:ea typeface="Calibri" pitchFamily="34" charset="-122"/>
                <a:cs typeface="Calibri" pitchFamily="34" charset="-120"/>
              </a:rPr>
              <a:t>The data-generating mechanism (DGM) is built from the trial itself</a:t>
            </a:r>
            <a:endParaRPr lang="en-US" sz="1800" dirty="0"/>
          </a:p>
        </p:txBody>
      </p:sp>
      <p:sp>
        <p:nvSpPr>
          <p:cNvPr id="20" name="Text 18"/>
          <p:cNvSpPr/>
          <p:nvPr/>
        </p:nvSpPr>
        <p:spPr>
          <a:xfrm>
            <a:off x="5166360" y="2011680"/>
            <a:ext cx="6492240" cy="2286000"/>
          </a:xfrm>
          <a:prstGeom prst="rect">
            <a:avLst/>
          </a:prstGeom>
          <a:noFill/>
          <a:ln/>
        </p:spPr>
        <p:txBody>
          <a:bodyPr wrap="square" lIns="0" tIns="0" rIns="0" bIns="0" rtlCol="0" anchor="ctr"/>
          <a:lstStyle/>
          <a:p>
            <a:pPr indent="0" marL="0">
              <a:buNone/>
            </a:pPr>
            <a:r>
              <a:rPr lang="en-US" sz="1400" dirty="0">
                <a:solidFill>
                  <a:srgbClr val="1A2A3A"/>
                </a:solidFill>
                <a:latin typeface="Calibri" pitchFamily="34" charset="0"/>
                <a:ea typeface="Calibri" pitchFamily="34" charset="-122"/>
                <a:cs typeface="Calibri" pitchFamily="34" charset="-120"/>
              </a:rPr>
              <a:t>Observed covariate distributions, censoring process, and individual patient characteristics all carry over into the simulation.</a:t>
            </a:r>
            <a:endParaRPr lang="en-US" sz="1400" dirty="0"/>
          </a:p>
          <a:p>
            <a:pPr indent="0" marL="0">
              <a:buNone/>
            </a:pPr>
            <a:endParaRPr lang="en-US" sz="1400" dirty="0"/>
          </a:p>
          <a:p>
            <a:pPr indent="0" marL="0">
              <a:buNone/>
            </a:pPr>
            <a:r>
              <a:rPr lang="en-US" sz="1400" dirty="0">
                <a:solidFill>
                  <a:srgbClr val="1A2A3A"/>
                </a:solidFill>
                <a:latin typeface="Calibri" pitchFamily="34" charset="0"/>
                <a:ea typeface="Calibri" pitchFamily="34" charset="-122"/>
                <a:cs typeface="Calibri" pitchFamily="34" charset="-120"/>
              </a:rPr>
              <a:t>Treatment effect is overridden to be </a:t>
            </a:r>
            <a:pPr indent="0" marL="0">
              <a:buNone/>
            </a:pPr>
            <a:r>
              <a:rPr lang="en-US" sz="1400" b="1" dirty="0">
                <a:solidFill>
                  <a:srgbClr val="C0392B"/>
                </a:solidFill>
                <a:latin typeface="Calibri" pitchFamily="34" charset="0"/>
                <a:ea typeface="Calibri" pitchFamily="34" charset="-122"/>
                <a:cs typeface="Calibri" pitchFamily="34" charset="-120"/>
              </a:rPr>
              <a:t>perfectly uniform</a:t>
            </a:r>
            <a:endParaRPr lang="en-US" sz="1400" dirty="0"/>
          </a:p>
          <a:p>
            <a:pPr indent="0" marL="0">
              <a:buNone/>
            </a:pPr>
            <a:r>
              <a:rPr lang="en-US" sz="1400" i="1" dirty="0">
                <a:solidFill>
                  <a:srgbClr val="21295C"/>
                </a:solidFill>
                <a:latin typeface="Cambria" pitchFamily="34" charset="0"/>
                <a:ea typeface="Cambria" pitchFamily="34" charset="-122"/>
                <a:cs typeface="Cambria" pitchFamily="34" charset="-120"/>
              </a:rPr>
              <a:t>   ψ⁰(L) = log(HR₀)  for all L.</a:t>
            </a:r>
            <a:endParaRPr lang="en-US" sz="1400" dirty="0"/>
          </a:p>
          <a:p>
            <a:pPr indent="0" marL="0">
              <a:buNone/>
            </a:pPr>
            <a:endParaRPr lang="en-US" sz="1400" dirty="0"/>
          </a:p>
          <a:p>
            <a:pPr indent="0" marL="0">
              <a:buNone/>
            </a:pPr>
            <a:r>
              <a:rPr lang="en-US" sz="1400" dirty="0">
                <a:solidFill>
                  <a:srgbClr val="1A2A3A"/>
                </a:solidFill>
                <a:latin typeface="Calibri" pitchFamily="34" charset="0"/>
                <a:ea typeface="Calibri" pitchFamily="34" charset="-122"/>
                <a:cs typeface="Calibri" pitchFamily="34" charset="-120"/>
              </a:rPr>
              <a:t>Any apparent subgroup finding is, by construction, </a:t>
            </a:r>
            <a:pPr indent="0" marL="0">
              <a:buNone/>
            </a:pPr>
            <a:r>
              <a:rPr lang="en-US" sz="1400" b="1" dirty="0">
                <a:solidFill>
                  <a:srgbClr val="C0392B"/>
                </a:solidFill>
                <a:latin typeface="Calibri" pitchFamily="34" charset="0"/>
                <a:ea typeface="Calibri" pitchFamily="34" charset="-122"/>
                <a:cs typeface="Calibri" pitchFamily="34" charset="-120"/>
              </a:rPr>
              <a:t>a false positive</a:t>
            </a:r>
            <a:pPr indent="0" marL="0">
              <a:buNone/>
            </a:pPr>
            <a:r>
              <a:rPr lang="en-US" sz="1400" dirty="0">
                <a:solidFill>
                  <a:srgbClr val="1A2A3A"/>
                </a:solidFill>
                <a:latin typeface="Calibri" pitchFamily="34" charset="0"/>
                <a:ea typeface="Calibri" pitchFamily="34" charset="-122"/>
                <a:cs typeface="Calibri" pitchFamily="34" charset="-120"/>
              </a:rPr>
              <a:t>.</a:t>
            </a:r>
            <a:endParaRPr lang="en-US" sz="1400" dirty="0"/>
          </a:p>
        </p:txBody>
      </p:sp>
      <p:sp>
        <p:nvSpPr>
          <p:cNvPr id="21" name="Shape 19"/>
          <p:cNvSpPr/>
          <p:nvPr/>
        </p:nvSpPr>
        <p:spPr>
          <a:xfrm>
            <a:off x="5166360" y="4572000"/>
            <a:ext cx="6492240" cy="1691640"/>
          </a:xfrm>
          <a:prstGeom prst="rect">
            <a:avLst/>
          </a:prstGeom>
          <a:solidFill>
            <a:srgbClr val="F5F8FC"/>
          </a:solidFill>
          <a:ln w="6350">
            <a:solidFill>
              <a:srgbClr val="C9D3DD"/>
            </a:solidFill>
            <a:prstDash val="solid"/>
          </a:ln>
        </p:spPr>
      </p:sp>
      <p:sp>
        <p:nvSpPr>
          <p:cNvPr id="22" name="Shape 20"/>
          <p:cNvSpPr/>
          <p:nvPr/>
        </p:nvSpPr>
        <p:spPr>
          <a:xfrm>
            <a:off x="5166360" y="4572000"/>
            <a:ext cx="73152" cy="1691640"/>
          </a:xfrm>
          <a:prstGeom prst="rect">
            <a:avLst/>
          </a:prstGeom>
          <a:solidFill>
            <a:srgbClr val="1E8449"/>
          </a:solidFill>
          <a:ln w="12700">
            <a:solidFill>
              <a:srgbClr val="1E8449"/>
            </a:solidFill>
            <a:prstDash val="solid"/>
          </a:ln>
        </p:spPr>
      </p:sp>
      <p:sp>
        <p:nvSpPr>
          <p:cNvPr id="23" name="Text 21"/>
          <p:cNvSpPr/>
          <p:nvPr/>
        </p:nvSpPr>
        <p:spPr>
          <a:xfrm>
            <a:off x="5440680" y="4754880"/>
            <a:ext cx="6035040" cy="365760"/>
          </a:xfrm>
          <a:prstGeom prst="rect">
            <a:avLst/>
          </a:prstGeom>
          <a:noFill/>
          <a:ln/>
        </p:spPr>
        <p:txBody>
          <a:bodyPr wrap="square" lIns="0" tIns="0" rIns="0" bIns="0" rtlCol="0" anchor="ctr"/>
          <a:lstStyle/>
          <a:p>
            <a:pPr indent="0" marL="0">
              <a:buNone/>
            </a:pPr>
            <a:r>
              <a:rPr lang="en-US" sz="1400" b="1" dirty="0">
                <a:solidFill>
                  <a:srgbClr val="1E8449"/>
                </a:solidFill>
                <a:latin typeface="Calibri" pitchFamily="34" charset="0"/>
                <a:ea typeface="Calibri" pitchFamily="34" charset="-122"/>
                <a:cs typeface="Calibri" pitchFamily="34" charset="-120"/>
              </a:rPr>
              <a:t>Key design feature</a:t>
            </a:r>
            <a:endParaRPr lang="en-US" sz="1400" dirty="0"/>
          </a:p>
        </p:txBody>
      </p:sp>
      <p:sp>
        <p:nvSpPr>
          <p:cNvPr id="24" name="Text 22"/>
          <p:cNvSpPr/>
          <p:nvPr/>
        </p:nvSpPr>
        <p:spPr>
          <a:xfrm>
            <a:off x="5440680" y="5120640"/>
            <a:ext cx="6035040" cy="960120"/>
          </a:xfrm>
          <a:prstGeom prst="rect">
            <a:avLst/>
          </a:prstGeom>
          <a:noFill/>
          <a:ln/>
        </p:spPr>
        <p:txBody>
          <a:bodyPr wrap="square" lIns="0" tIns="0" rIns="0" bIns="0" rtlCol="0" anchor="ctr"/>
          <a:lstStyle/>
          <a:p>
            <a:pPr indent="0" marL="0">
              <a:buNone/>
            </a:pPr>
            <a:r>
              <a:rPr lang="en-US" sz="1300" dirty="0">
                <a:solidFill>
                  <a:srgbClr val="1A2A3A"/>
                </a:solidFill>
                <a:latin typeface="Calibri" pitchFamily="34" charset="0"/>
                <a:ea typeface="Calibri" pitchFamily="34" charset="-122"/>
                <a:cs typeface="Calibri" pitchFamily="34" charset="-120"/>
              </a:rPr>
              <a:t>The DGM is study-specific, not generic. Covariate correlations, event rates, censoring patterns — everything that makes real subgroups correlated with each other — is preserved. This is what separates the framework from abstract power calculations.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65A82"/>
          </a:solidFill>
          <a:ln w="12700">
            <a:solidFill>
              <a:srgbClr val="065A82"/>
            </a:solidFill>
            <a:prstDash val="solid"/>
          </a:ln>
        </p:spPr>
      </p:sp>
      <p:sp>
        <p:nvSpPr>
          <p:cNvPr id="3" name="Text 1"/>
          <p:cNvSpPr/>
          <p:nvPr/>
        </p:nvSpPr>
        <p:spPr>
          <a:xfrm>
            <a:off x="502920" y="320040"/>
            <a:ext cx="11155680" cy="292608"/>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SOURCE DATA</a:t>
            </a:r>
            <a:endParaRPr lang="en-US" sz="1100" dirty="0"/>
          </a:p>
        </p:txBody>
      </p:sp>
      <p:sp>
        <p:nvSpPr>
          <p:cNvPr id="4" name="Text 2"/>
          <p:cNvSpPr/>
          <p:nvPr/>
        </p:nvSpPr>
        <p:spPr>
          <a:xfrm>
            <a:off x="502920" y="612648"/>
            <a:ext cx="11155680" cy="685800"/>
          </a:xfrm>
          <a:prstGeom prst="rect">
            <a:avLst/>
          </a:prstGeom>
          <a:noFill/>
          <a:ln/>
        </p:spPr>
        <p:txBody>
          <a:bodyPr wrap="square" lIns="0" tIns="0" rIns="0" bIns="0" rtlCol="0" anchor="ctr"/>
          <a:lstStyle/>
          <a:p>
            <a:pPr indent="0" marL="0">
              <a:buNone/>
            </a:pPr>
            <a:r>
              <a:rPr lang="en-US" sz="3000" b="1" dirty="0">
                <a:solidFill>
                  <a:srgbClr val="0C2344"/>
                </a:solidFill>
                <a:latin typeface="Calibri" pitchFamily="34" charset="0"/>
                <a:ea typeface="Calibri" pitchFamily="34" charset="-122"/>
                <a:cs typeface="Calibri" pitchFamily="34" charset="-120"/>
              </a:rPr>
              <a:t>Case Study: the GBSG Breast Cancer Trial</a:t>
            </a:r>
            <a:endParaRPr lang="en-US" sz="3000" dirty="0"/>
          </a:p>
        </p:txBody>
      </p:sp>
      <p:sp>
        <p:nvSpPr>
          <p:cNvPr id="5" name="Shape 3"/>
          <p:cNvSpPr/>
          <p:nvPr/>
        </p:nvSpPr>
        <p:spPr>
          <a:xfrm>
            <a:off x="502920" y="1508760"/>
            <a:ext cx="4846320" cy="932688"/>
          </a:xfrm>
          <a:prstGeom prst="rect">
            <a:avLst/>
          </a:prstGeom>
          <a:solidFill>
            <a:srgbClr val="F5F8FC"/>
          </a:solidFill>
          <a:ln w="6350">
            <a:solidFill>
              <a:srgbClr val="C9D3DD"/>
            </a:solidFill>
            <a:prstDash val="solid"/>
          </a:ln>
        </p:spPr>
      </p:sp>
      <p:sp>
        <p:nvSpPr>
          <p:cNvPr id="6" name="Shape 4"/>
          <p:cNvSpPr/>
          <p:nvPr/>
        </p:nvSpPr>
        <p:spPr>
          <a:xfrm>
            <a:off x="502920" y="1508760"/>
            <a:ext cx="73152" cy="932688"/>
          </a:xfrm>
          <a:prstGeom prst="rect">
            <a:avLst/>
          </a:prstGeom>
          <a:solidFill>
            <a:srgbClr val="065A82"/>
          </a:solidFill>
          <a:ln w="12700">
            <a:solidFill>
              <a:srgbClr val="065A82"/>
            </a:solidFill>
            <a:prstDash val="solid"/>
          </a:ln>
        </p:spPr>
      </p:sp>
      <p:sp>
        <p:nvSpPr>
          <p:cNvPr id="7" name="Text 5"/>
          <p:cNvSpPr/>
          <p:nvPr/>
        </p:nvSpPr>
        <p:spPr>
          <a:xfrm>
            <a:off x="731520" y="1554480"/>
            <a:ext cx="1828800" cy="822960"/>
          </a:xfrm>
          <a:prstGeom prst="rect">
            <a:avLst/>
          </a:prstGeom>
          <a:noFill/>
          <a:ln/>
        </p:spPr>
        <p:txBody>
          <a:bodyPr wrap="square" lIns="0" tIns="0" rIns="0" bIns="0" rtlCol="0" anchor="ctr"/>
          <a:lstStyle/>
          <a:p>
            <a:pPr indent="0" marL="0">
              <a:buNone/>
            </a:pPr>
            <a:r>
              <a:rPr lang="en-US" sz="4000" b="1" dirty="0">
                <a:solidFill>
                  <a:srgbClr val="0C2344"/>
                </a:solidFill>
                <a:latin typeface="Calibri" pitchFamily="34" charset="0"/>
                <a:ea typeface="Calibri" pitchFamily="34" charset="-122"/>
                <a:cs typeface="Calibri" pitchFamily="34" charset="-120"/>
              </a:rPr>
              <a:t>686</a:t>
            </a:r>
            <a:endParaRPr lang="en-US" sz="4000" dirty="0"/>
          </a:p>
        </p:txBody>
      </p:sp>
      <p:sp>
        <p:nvSpPr>
          <p:cNvPr id="8" name="Text 6"/>
          <p:cNvSpPr/>
          <p:nvPr/>
        </p:nvSpPr>
        <p:spPr>
          <a:xfrm>
            <a:off x="2651760" y="1554480"/>
            <a:ext cx="2651760" cy="822960"/>
          </a:xfrm>
          <a:prstGeom prst="rect">
            <a:avLst/>
          </a:prstGeom>
          <a:noFill/>
          <a:ln/>
        </p:spPr>
        <p:txBody>
          <a:bodyPr wrap="square" lIns="0" tIns="0" rIns="0" bIns="0" rtlCol="0" anchor="ctr"/>
          <a:lstStyle/>
          <a:p>
            <a:pPr indent="0" marL="0">
              <a:buNone/>
            </a:pPr>
            <a:r>
              <a:rPr lang="en-US" sz="1300" dirty="0">
                <a:solidFill>
                  <a:srgbClr val="1A2A3A"/>
                </a:solidFill>
                <a:latin typeface="Calibri" pitchFamily="34" charset="0"/>
                <a:ea typeface="Calibri" pitchFamily="34" charset="-122"/>
                <a:cs typeface="Calibri" pitchFamily="34" charset="-120"/>
              </a:rPr>
              <a:t>patients with complete prognostic data</a:t>
            </a:r>
            <a:endParaRPr lang="en-US" sz="1300" dirty="0"/>
          </a:p>
        </p:txBody>
      </p:sp>
      <p:sp>
        <p:nvSpPr>
          <p:cNvPr id="9" name="Shape 7"/>
          <p:cNvSpPr/>
          <p:nvPr/>
        </p:nvSpPr>
        <p:spPr>
          <a:xfrm>
            <a:off x="502920" y="2560320"/>
            <a:ext cx="4846320" cy="932688"/>
          </a:xfrm>
          <a:prstGeom prst="rect">
            <a:avLst/>
          </a:prstGeom>
          <a:solidFill>
            <a:srgbClr val="F5F8FC"/>
          </a:solidFill>
          <a:ln w="6350">
            <a:solidFill>
              <a:srgbClr val="C9D3DD"/>
            </a:solidFill>
            <a:prstDash val="solid"/>
          </a:ln>
        </p:spPr>
      </p:sp>
      <p:sp>
        <p:nvSpPr>
          <p:cNvPr id="10" name="Shape 8"/>
          <p:cNvSpPr/>
          <p:nvPr/>
        </p:nvSpPr>
        <p:spPr>
          <a:xfrm>
            <a:off x="502920" y="2560320"/>
            <a:ext cx="73152" cy="932688"/>
          </a:xfrm>
          <a:prstGeom prst="rect">
            <a:avLst/>
          </a:prstGeom>
          <a:solidFill>
            <a:srgbClr val="065A82"/>
          </a:solidFill>
          <a:ln w="12700">
            <a:solidFill>
              <a:srgbClr val="065A82"/>
            </a:solidFill>
            <a:prstDash val="solid"/>
          </a:ln>
        </p:spPr>
      </p:sp>
      <p:sp>
        <p:nvSpPr>
          <p:cNvPr id="11" name="Text 9"/>
          <p:cNvSpPr/>
          <p:nvPr/>
        </p:nvSpPr>
        <p:spPr>
          <a:xfrm>
            <a:off x="731520" y="2606040"/>
            <a:ext cx="1828800" cy="822960"/>
          </a:xfrm>
          <a:prstGeom prst="rect">
            <a:avLst/>
          </a:prstGeom>
          <a:noFill/>
          <a:ln/>
        </p:spPr>
        <p:txBody>
          <a:bodyPr wrap="square" lIns="0" tIns="0" rIns="0" bIns="0" rtlCol="0" anchor="ctr"/>
          <a:lstStyle/>
          <a:p>
            <a:pPr indent="0" marL="0">
              <a:buNone/>
            </a:pPr>
            <a:r>
              <a:rPr lang="en-US" sz="4000" b="1" dirty="0">
                <a:solidFill>
                  <a:srgbClr val="0C2344"/>
                </a:solidFill>
                <a:latin typeface="Calibri" pitchFamily="34" charset="0"/>
                <a:ea typeface="Calibri" pitchFamily="34" charset="-122"/>
                <a:cs typeface="Calibri" pitchFamily="34" charset="-120"/>
              </a:rPr>
              <a:t>299</a:t>
            </a:r>
            <a:endParaRPr lang="en-US" sz="4000" dirty="0"/>
          </a:p>
        </p:txBody>
      </p:sp>
      <p:sp>
        <p:nvSpPr>
          <p:cNvPr id="12" name="Text 10"/>
          <p:cNvSpPr/>
          <p:nvPr/>
        </p:nvSpPr>
        <p:spPr>
          <a:xfrm>
            <a:off x="2651760" y="2606040"/>
            <a:ext cx="2651760" cy="822960"/>
          </a:xfrm>
          <a:prstGeom prst="rect">
            <a:avLst/>
          </a:prstGeom>
          <a:noFill/>
          <a:ln/>
        </p:spPr>
        <p:txBody>
          <a:bodyPr wrap="square" lIns="0" tIns="0" rIns="0" bIns="0" rtlCol="0" anchor="ctr"/>
          <a:lstStyle/>
          <a:p>
            <a:pPr indent="0" marL="0">
              <a:buNone/>
            </a:pPr>
            <a:r>
              <a:rPr lang="en-US" sz="1300" dirty="0">
                <a:solidFill>
                  <a:srgbClr val="1A2A3A"/>
                </a:solidFill>
                <a:latin typeface="Calibri" pitchFamily="34" charset="0"/>
                <a:ea typeface="Calibri" pitchFamily="34" charset="-122"/>
                <a:cs typeface="Calibri" pitchFamily="34" charset="-120"/>
              </a:rPr>
              <a:t>recurrence-free survival events</a:t>
            </a:r>
            <a:endParaRPr lang="en-US" sz="1300" dirty="0"/>
          </a:p>
        </p:txBody>
      </p:sp>
      <p:sp>
        <p:nvSpPr>
          <p:cNvPr id="13" name="Shape 11"/>
          <p:cNvSpPr/>
          <p:nvPr/>
        </p:nvSpPr>
        <p:spPr>
          <a:xfrm>
            <a:off x="502920" y="3611880"/>
            <a:ext cx="4846320" cy="932688"/>
          </a:xfrm>
          <a:prstGeom prst="rect">
            <a:avLst/>
          </a:prstGeom>
          <a:solidFill>
            <a:srgbClr val="F5F8FC"/>
          </a:solidFill>
          <a:ln w="6350">
            <a:solidFill>
              <a:srgbClr val="C9D3DD"/>
            </a:solidFill>
            <a:prstDash val="solid"/>
          </a:ln>
        </p:spPr>
      </p:sp>
      <p:sp>
        <p:nvSpPr>
          <p:cNvPr id="14" name="Shape 12"/>
          <p:cNvSpPr/>
          <p:nvPr/>
        </p:nvSpPr>
        <p:spPr>
          <a:xfrm>
            <a:off x="502920" y="3611880"/>
            <a:ext cx="73152" cy="932688"/>
          </a:xfrm>
          <a:prstGeom prst="rect">
            <a:avLst/>
          </a:prstGeom>
          <a:solidFill>
            <a:srgbClr val="065A82"/>
          </a:solidFill>
          <a:ln w="12700">
            <a:solidFill>
              <a:srgbClr val="065A82"/>
            </a:solidFill>
            <a:prstDash val="solid"/>
          </a:ln>
        </p:spPr>
      </p:sp>
      <p:sp>
        <p:nvSpPr>
          <p:cNvPr id="15" name="Text 13"/>
          <p:cNvSpPr/>
          <p:nvPr/>
        </p:nvSpPr>
        <p:spPr>
          <a:xfrm>
            <a:off x="731520" y="3657600"/>
            <a:ext cx="1828800" cy="822960"/>
          </a:xfrm>
          <a:prstGeom prst="rect">
            <a:avLst/>
          </a:prstGeom>
          <a:noFill/>
          <a:ln/>
        </p:spPr>
        <p:txBody>
          <a:bodyPr wrap="square" lIns="0" tIns="0" rIns="0" bIns="0" rtlCol="0" anchor="ctr"/>
          <a:lstStyle/>
          <a:p>
            <a:pPr indent="0" marL="0">
              <a:buNone/>
            </a:pPr>
            <a:r>
              <a:rPr lang="en-US" sz="4000" b="1" dirty="0">
                <a:solidFill>
                  <a:srgbClr val="0C2344"/>
                </a:solidFill>
                <a:latin typeface="Calibri" pitchFamily="34" charset="0"/>
                <a:ea typeface="Calibri" pitchFamily="34" charset="-122"/>
                <a:cs typeface="Calibri" pitchFamily="34" charset="-120"/>
              </a:rPr>
              <a:t>~33</a:t>
            </a:r>
            <a:endParaRPr lang="en-US" sz="4000" dirty="0"/>
          </a:p>
        </p:txBody>
      </p:sp>
      <p:sp>
        <p:nvSpPr>
          <p:cNvPr id="16" name="Text 14"/>
          <p:cNvSpPr/>
          <p:nvPr/>
        </p:nvSpPr>
        <p:spPr>
          <a:xfrm>
            <a:off x="2651760" y="3657600"/>
            <a:ext cx="2651760" cy="822960"/>
          </a:xfrm>
          <a:prstGeom prst="rect">
            <a:avLst/>
          </a:prstGeom>
          <a:noFill/>
          <a:ln/>
        </p:spPr>
        <p:txBody>
          <a:bodyPr wrap="square" lIns="0" tIns="0" rIns="0" bIns="0" rtlCol="0" anchor="ctr"/>
          <a:lstStyle/>
          <a:p>
            <a:pPr indent="0" marL="0">
              <a:buNone/>
            </a:pPr>
            <a:r>
              <a:rPr lang="en-US" sz="1300" dirty="0">
                <a:solidFill>
                  <a:srgbClr val="1A2A3A"/>
                </a:solidFill>
                <a:latin typeface="Calibri" pitchFamily="34" charset="0"/>
                <a:ea typeface="Calibri" pitchFamily="34" charset="-122"/>
                <a:cs typeface="Calibri" pitchFamily="34" charset="-120"/>
              </a:rPr>
              <a:t>months median event time</a:t>
            </a:r>
            <a:endParaRPr lang="en-US" sz="1300" dirty="0"/>
          </a:p>
        </p:txBody>
      </p:sp>
      <p:sp>
        <p:nvSpPr>
          <p:cNvPr id="17" name="Shape 15"/>
          <p:cNvSpPr/>
          <p:nvPr/>
        </p:nvSpPr>
        <p:spPr>
          <a:xfrm>
            <a:off x="502920" y="4663440"/>
            <a:ext cx="4846320" cy="932688"/>
          </a:xfrm>
          <a:prstGeom prst="rect">
            <a:avLst/>
          </a:prstGeom>
          <a:solidFill>
            <a:srgbClr val="F5F8FC"/>
          </a:solidFill>
          <a:ln w="6350">
            <a:solidFill>
              <a:srgbClr val="C9D3DD"/>
            </a:solidFill>
            <a:prstDash val="solid"/>
          </a:ln>
        </p:spPr>
      </p:sp>
      <p:sp>
        <p:nvSpPr>
          <p:cNvPr id="18" name="Shape 16"/>
          <p:cNvSpPr/>
          <p:nvPr/>
        </p:nvSpPr>
        <p:spPr>
          <a:xfrm>
            <a:off x="502920" y="4663440"/>
            <a:ext cx="73152" cy="932688"/>
          </a:xfrm>
          <a:prstGeom prst="rect">
            <a:avLst/>
          </a:prstGeom>
          <a:solidFill>
            <a:srgbClr val="065A82"/>
          </a:solidFill>
          <a:ln w="12700">
            <a:solidFill>
              <a:srgbClr val="065A82"/>
            </a:solidFill>
            <a:prstDash val="solid"/>
          </a:ln>
        </p:spPr>
      </p:sp>
      <p:sp>
        <p:nvSpPr>
          <p:cNvPr id="19" name="Text 17"/>
          <p:cNvSpPr/>
          <p:nvPr/>
        </p:nvSpPr>
        <p:spPr>
          <a:xfrm>
            <a:off x="731520" y="4709160"/>
            <a:ext cx="2194560" cy="822960"/>
          </a:xfrm>
          <a:prstGeom prst="rect">
            <a:avLst/>
          </a:prstGeom>
          <a:noFill/>
          <a:ln/>
        </p:spPr>
        <p:txBody>
          <a:bodyPr wrap="square" lIns="0" tIns="0" rIns="0" bIns="0" rtlCol="0" anchor="ctr"/>
          <a:lstStyle/>
          <a:p>
            <a:pPr indent="0" marL="0">
              <a:buNone/>
            </a:pPr>
            <a:r>
              <a:rPr lang="en-US" sz="2600" b="1" dirty="0">
                <a:solidFill>
                  <a:srgbClr val="0C2344"/>
                </a:solidFill>
                <a:latin typeface="Calibri" pitchFamily="34" charset="0"/>
                <a:ea typeface="Calibri" pitchFamily="34" charset="-122"/>
                <a:cs typeface="Calibri" pitchFamily="34" charset="-120"/>
              </a:rPr>
              <a:t>1984–89</a:t>
            </a:r>
            <a:endParaRPr lang="en-US" sz="2600" dirty="0"/>
          </a:p>
        </p:txBody>
      </p:sp>
      <p:sp>
        <p:nvSpPr>
          <p:cNvPr id="20" name="Text 18"/>
          <p:cNvSpPr/>
          <p:nvPr/>
        </p:nvSpPr>
        <p:spPr>
          <a:xfrm>
            <a:off x="3017520" y="4709160"/>
            <a:ext cx="2286000" cy="822960"/>
          </a:xfrm>
          <a:prstGeom prst="rect">
            <a:avLst/>
          </a:prstGeom>
          <a:noFill/>
          <a:ln/>
        </p:spPr>
        <p:txBody>
          <a:bodyPr wrap="square" lIns="0" tIns="0" rIns="0" bIns="0" rtlCol="0" anchor="ctr"/>
          <a:lstStyle/>
          <a:p>
            <a:pPr indent="0" marL="0">
              <a:buNone/>
            </a:pPr>
            <a:r>
              <a:rPr lang="en-US" sz="1300" dirty="0">
                <a:solidFill>
                  <a:srgbClr val="1A2A3A"/>
                </a:solidFill>
                <a:latin typeface="Calibri" pitchFamily="34" charset="0"/>
                <a:ea typeface="Calibri" pitchFamily="34" charset="-122"/>
                <a:cs typeface="Calibri" pitchFamily="34" charset="-120"/>
              </a:rPr>
              <a:t>enrollment period  ·  Schumacher et al., JCO 1994</a:t>
            </a:r>
            <a:endParaRPr lang="en-US" sz="1300" dirty="0"/>
          </a:p>
        </p:txBody>
      </p:sp>
      <p:sp>
        <p:nvSpPr>
          <p:cNvPr id="21" name="Text 19"/>
          <p:cNvSpPr/>
          <p:nvPr/>
        </p:nvSpPr>
        <p:spPr>
          <a:xfrm>
            <a:off x="5715000" y="1417320"/>
            <a:ext cx="5943600" cy="365760"/>
          </a:xfrm>
          <a:prstGeom prst="rect">
            <a:avLst/>
          </a:prstGeom>
          <a:noFill/>
          <a:ln/>
        </p:spPr>
        <p:txBody>
          <a:bodyPr wrap="square" lIns="0" tIns="0" rIns="0" bIns="0" rtlCol="0" anchor="ctr"/>
          <a:lstStyle/>
          <a:p>
            <a:pPr indent="0" marL="0">
              <a:buNone/>
            </a:pPr>
            <a:r>
              <a:rPr lang="en-US" sz="1600" b="1" dirty="0">
                <a:solidFill>
                  <a:srgbClr val="1C7293"/>
                </a:solidFill>
                <a:latin typeface="Calibri" pitchFamily="34" charset="0"/>
                <a:ea typeface="Calibri" pitchFamily="34" charset="-122"/>
                <a:cs typeface="Calibri" pitchFamily="34" charset="-120"/>
              </a:rPr>
              <a:t>Key variables</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715000" y="1828800"/>
          <a:ext cx="5943600" cy="914400"/>
        </p:xfrm>
        <a:graphic>
          <a:graphicData uri="http://schemas.openxmlformats.org/drawingml/2006/table">
            <a:tbl>
              <a:tblPr/>
              <a:tblGrid>
                <a:gridCol w="1188720"/>
                <a:gridCol w="4754880"/>
              </a:tblGrid>
              <a:tr h="292608">
                <a:tc>
                  <a:txBody>
                    <a:bodyPr/>
                    <a:lstStyle/>
                    <a:p>
                      <a:pPr algn="l" indent="0" marL="0">
                        <a:buNone/>
                      </a:pPr>
                      <a:r>
                        <a:rPr lang="en-US" sz="1100" b="1" dirty="0">
                          <a:solidFill>
                            <a:srgbClr val="065A82"/>
                          </a:solidFill>
                          <a:latin typeface="Consolas" pitchFamily="34" charset="0"/>
                          <a:ea typeface="Consolas" pitchFamily="34" charset="-122"/>
                          <a:cs typeface="Consolas" pitchFamily="34" charset="-120"/>
                        </a:rPr>
                        <a:t>hormon</a:t>
                      </a:r>
                      <a:endParaRPr lang="en-US" sz="1100" dirty="0">
                        <a:latin typeface="Consolas" charset="0"/>
                        <a:ea typeface="Consolas" charset="0"/>
                        <a:cs typeface="Consolas" charset="0"/>
                      </a:endParaRPr>
                    </a:p>
                  </a:txBody>
                  <a:tcPr marL="73152" marR="73152" marT="73152" marB="7315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A3A"/>
                          </a:solidFill>
                          <a:latin typeface="Calibri" pitchFamily="34" charset="0"/>
                          <a:ea typeface="Calibri" pitchFamily="34" charset="-122"/>
                          <a:cs typeface="Calibri" pitchFamily="34" charset="-120"/>
                        </a:rPr>
                        <a:t>treatment: hormonal therapy (0 / 1)</a:t>
                      </a:r>
                      <a:endParaRPr lang="en-US" sz="1100" dirty="0">
                        <a:latin typeface="Calibri" charset="0"/>
                        <a:ea typeface="Calibri" charset="0"/>
                        <a:cs typeface="Calibri" charset="0"/>
                      </a:endParaRPr>
                    </a:p>
                  </a:txBody>
                  <a:tcPr marL="73152" marR="73152" marT="73152" marB="7315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292608">
                <a:tc>
                  <a:txBody>
                    <a:bodyPr/>
                    <a:lstStyle/>
                    <a:p>
                      <a:pPr algn="l" indent="0" marL="0">
                        <a:buNone/>
                      </a:pPr>
                      <a:r>
                        <a:rPr lang="en-US" sz="1100" b="1" dirty="0">
                          <a:solidFill>
                            <a:srgbClr val="065A82"/>
                          </a:solidFill>
                          <a:latin typeface="Consolas" pitchFamily="34" charset="0"/>
                          <a:ea typeface="Consolas" pitchFamily="34" charset="-122"/>
                          <a:cs typeface="Consolas" pitchFamily="34" charset="-120"/>
                        </a:rPr>
                        <a:t>rfstime</a:t>
                      </a:r>
                      <a:endParaRPr lang="en-US" sz="1100" dirty="0">
                        <a:latin typeface="Consolas" charset="0"/>
                        <a:ea typeface="Consolas" charset="0"/>
                        <a:cs typeface="Consolas" charset="0"/>
                      </a:endParaRPr>
                    </a:p>
                  </a:txBody>
                  <a:tcPr marL="73152" marR="73152" marT="73152" marB="7315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A3A"/>
                          </a:solidFill>
                          <a:latin typeface="Calibri" pitchFamily="34" charset="0"/>
                          <a:ea typeface="Calibri" pitchFamily="34" charset="-122"/>
                          <a:cs typeface="Calibri" pitchFamily="34" charset="-120"/>
                        </a:rPr>
                        <a:t>recurrence-free survival time (days)</a:t>
                      </a:r>
                      <a:endParaRPr lang="en-US" sz="1100" dirty="0">
                        <a:latin typeface="Calibri" charset="0"/>
                        <a:ea typeface="Calibri" charset="0"/>
                        <a:cs typeface="Calibri" charset="0"/>
                      </a:endParaRPr>
                    </a:p>
                  </a:txBody>
                  <a:tcPr marL="73152" marR="73152" marT="73152" marB="7315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292608">
                <a:tc>
                  <a:txBody>
                    <a:bodyPr/>
                    <a:lstStyle/>
                    <a:p>
                      <a:pPr algn="l" indent="0" marL="0">
                        <a:buNone/>
                      </a:pPr>
                      <a:r>
                        <a:rPr lang="en-US" sz="1100" b="1" dirty="0">
                          <a:solidFill>
                            <a:srgbClr val="065A82"/>
                          </a:solidFill>
                          <a:latin typeface="Consolas" pitchFamily="34" charset="0"/>
                          <a:ea typeface="Consolas" pitchFamily="34" charset="-122"/>
                          <a:cs typeface="Consolas" pitchFamily="34" charset="-120"/>
                        </a:rPr>
                        <a:t>status</a:t>
                      </a:r>
                      <a:endParaRPr lang="en-US" sz="1100" dirty="0">
                        <a:latin typeface="Consolas" charset="0"/>
                        <a:ea typeface="Consolas" charset="0"/>
                        <a:cs typeface="Consolas" charset="0"/>
                      </a:endParaRPr>
                    </a:p>
                  </a:txBody>
                  <a:tcPr marL="73152" marR="73152" marT="73152" marB="7315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A3A"/>
                          </a:solidFill>
                          <a:latin typeface="Calibri" pitchFamily="34" charset="0"/>
                          <a:ea typeface="Calibri" pitchFamily="34" charset="-122"/>
                          <a:cs typeface="Calibri" pitchFamily="34" charset="-120"/>
                        </a:rPr>
                        <a:t>event indicator (0 = censored, 1 = event)</a:t>
                      </a:r>
                      <a:endParaRPr lang="en-US" sz="1100" dirty="0">
                        <a:latin typeface="Calibri" charset="0"/>
                        <a:ea typeface="Calibri" charset="0"/>
                        <a:cs typeface="Calibri" charset="0"/>
                      </a:endParaRPr>
                    </a:p>
                  </a:txBody>
                  <a:tcPr marL="73152" marR="73152" marT="73152" marB="7315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292608">
                <a:tc>
                  <a:txBody>
                    <a:bodyPr/>
                    <a:lstStyle/>
                    <a:p>
                      <a:pPr algn="l" indent="0" marL="0">
                        <a:buNone/>
                      </a:pPr>
                      <a:r>
                        <a:rPr lang="en-US" sz="1100" b="1" dirty="0">
                          <a:solidFill>
                            <a:srgbClr val="065A82"/>
                          </a:solidFill>
                          <a:latin typeface="Consolas" pitchFamily="34" charset="0"/>
                          <a:ea typeface="Consolas" pitchFamily="34" charset="-122"/>
                          <a:cs typeface="Consolas" pitchFamily="34" charset="-120"/>
                        </a:rPr>
                        <a:t>age</a:t>
                      </a:r>
                      <a:endParaRPr lang="en-US" sz="1100" dirty="0">
                        <a:latin typeface="Consolas" charset="0"/>
                        <a:ea typeface="Consolas" charset="0"/>
                        <a:cs typeface="Consolas" charset="0"/>
                      </a:endParaRPr>
                    </a:p>
                  </a:txBody>
                  <a:tcPr marL="73152" marR="73152" marT="73152" marB="7315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A3A"/>
                          </a:solidFill>
                          <a:latin typeface="Calibri" pitchFamily="34" charset="0"/>
                          <a:ea typeface="Calibri" pitchFamily="34" charset="-122"/>
                          <a:cs typeface="Calibri" pitchFamily="34" charset="-120"/>
                        </a:rPr>
                        <a:t>age in years</a:t>
                      </a:r>
                      <a:endParaRPr lang="en-US" sz="1100" dirty="0">
                        <a:latin typeface="Calibri" charset="0"/>
                        <a:ea typeface="Calibri" charset="0"/>
                        <a:cs typeface="Calibri" charset="0"/>
                      </a:endParaRPr>
                    </a:p>
                  </a:txBody>
                  <a:tcPr marL="73152" marR="73152" marT="73152" marB="7315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292608">
                <a:tc>
                  <a:txBody>
                    <a:bodyPr/>
                    <a:lstStyle/>
                    <a:p>
                      <a:pPr algn="l" indent="0" marL="0">
                        <a:buNone/>
                      </a:pPr>
                      <a:r>
                        <a:rPr lang="en-US" sz="1100" b="1" dirty="0">
                          <a:solidFill>
                            <a:srgbClr val="065A82"/>
                          </a:solidFill>
                          <a:latin typeface="Consolas" pitchFamily="34" charset="0"/>
                          <a:ea typeface="Consolas" pitchFamily="34" charset="-122"/>
                          <a:cs typeface="Consolas" pitchFamily="34" charset="-120"/>
                        </a:rPr>
                        <a:t>meno</a:t>
                      </a:r>
                      <a:endParaRPr lang="en-US" sz="1100" dirty="0">
                        <a:latin typeface="Consolas" charset="0"/>
                        <a:ea typeface="Consolas" charset="0"/>
                        <a:cs typeface="Consolas" charset="0"/>
                      </a:endParaRPr>
                    </a:p>
                  </a:txBody>
                  <a:tcPr marL="73152" marR="73152" marT="73152" marB="7315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A3A"/>
                          </a:solidFill>
                          <a:latin typeface="Calibri" pitchFamily="34" charset="0"/>
                          <a:ea typeface="Calibri" pitchFamily="34" charset="-122"/>
                          <a:cs typeface="Calibri" pitchFamily="34" charset="-120"/>
                        </a:rPr>
                        <a:t>menopausal status (0 = pre, 1 = post)</a:t>
                      </a:r>
                      <a:endParaRPr lang="en-US" sz="1100" dirty="0">
                        <a:latin typeface="Calibri" charset="0"/>
                        <a:ea typeface="Calibri" charset="0"/>
                        <a:cs typeface="Calibri" charset="0"/>
                      </a:endParaRPr>
                    </a:p>
                  </a:txBody>
                  <a:tcPr marL="73152" marR="73152" marT="73152" marB="7315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292608">
                <a:tc>
                  <a:txBody>
                    <a:bodyPr/>
                    <a:lstStyle/>
                    <a:p>
                      <a:pPr algn="l" indent="0" marL="0">
                        <a:buNone/>
                      </a:pPr>
                      <a:r>
                        <a:rPr lang="en-US" sz="1100" b="1" dirty="0">
                          <a:solidFill>
                            <a:srgbClr val="065A82"/>
                          </a:solidFill>
                          <a:latin typeface="Consolas" pitchFamily="34" charset="0"/>
                          <a:ea typeface="Consolas" pitchFamily="34" charset="-122"/>
                          <a:cs typeface="Consolas" pitchFamily="34" charset="-120"/>
                        </a:rPr>
                        <a:t>size</a:t>
                      </a:r>
                      <a:endParaRPr lang="en-US" sz="1100" dirty="0">
                        <a:latin typeface="Consolas" charset="0"/>
                        <a:ea typeface="Consolas" charset="0"/>
                        <a:cs typeface="Consolas" charset="0"/>
                      </a:endParaRPr>
                    </a:p>
                  </a:txBody>
                  <a:tcPr marL="73152" marR="73152" marT="73152" marB="7315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A3A"/>
                          </a:solidFill>
                          <a:latin typeface="Calibri" pitchFamily="34" charset="0"/>
                          <a:ea typeface="Calibri" pitchFamily="34" charset="-122"/>
                          <a:cs typeface="Calibri" pitchFamily="34" charset="-120"/>
                        </a:rPr>
                        <a:t>tumour size (mm)</a:t>
                      </a:r>
                      <a:endParaRPr lang="en-US" sz="1100" dirty="0">
                        <a:latin typeface="Calibri" charset="0"/>
                        <a:ea typeface="Calibri" charset="0"/>
                        <a:cs typeface="Calibri" charset="0"/>
                      </a:endParaRPr>
                    </a:p>
                  </a:txBody>
                  <a:tcPr marL="73152" marR="73152" marT="73152" marB="7315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292608">
                <a:tc>
                  <a:txBody>
                    <a:bodyPr/>
                    <a:lstStyle/>
                    <a:p>
                      <a:pPr algn="l" indent="0" marL="0">
                        <a:buNone/>
                      </a:pPr>
                      <a:r>
                        <a:rPr lang="en-US" sz="1100" b="1" dirty="0">
                          <a:solidFill>
                            <a:srgbClr val="065A82"/>
                          </a:solidFill>
                          <a:latin typeface="Consolas" pitchFamily="34" charset="0"/>
                          <a:ea typeface="Consolas" pitchFamily="34" charset="-122"/>
                          <a:cs typeface="Consolas" pitchFamily="34" charset="-120"/>
                        </a:rPr>
                        <a:t>grade</a:t>
                      </a:r>
                      <a:endParaRPr lang="en-US" sz="1100" dirty="0">
                        <a:latin typeface="Consolas" charset="0"/>
                        <a:ea typeface="Consolas" charset="0"/>
                        <a:cs typeface="Consolas" charset="0"/>
                      </a:endParaRPr>
                    </a:p>
                  </a:txBody>
                  <a:tcPr marL="73152" marR="73152" marT="73152" marB="7315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A3A"/>
                          </a:solidFill>
                          <a:latin typeface="Calibri" pitchFamily="34" charset="0"/>
                          <a:ea typeface="Calibri" pitchFamily="34" charset="-122"/>
                          <a:cs typeface="Calibri" pitchFamily="34" charset="-120"/>
                        </a:rPr>
                        <a:t>tumour grade (1, 2, 3)</a:t>
                      </a:r>
                      <a:endParaRPr lang="en-US" sz="1100" dirty="0">
                        <a:latin typeface="Calibri" charset="0"/>
                        <a:ea typeface="Calibri" charset="0"/>
                        <a:cs typeface="Calibri" charset="0"/>
                      </a:endParaRPr>
                    </a:p>
                  </a:txBody>
                  <a:tcPr marL="73152" marR="73152" marT="73152" marB="7315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292608">
                <a:tc>
                  <a:txBody>
                    <a:bodyPr/>
                    <a:lstStyle/>
                    <a:p>
                      <a:pPr algn="l" indent="0" marL="0">
                        <a:buNone/>
                      </a:pPr>
                      <a:r>
                        <a:rPr lang="en-US" sz="1100" b="1" dirty="0">
                          <a:solidFill>
                            <a:srgbClr val="065A82"/>
                          </a:solidFill>
                          <a:latin typeface="Consolas" pitchFamily="34" charset="0"/>
                          <a:ea typeface="Consolas" pitchFamily="34" charset="-122"/>
                          <a:cs typeface="Consolas" pitchFamily="34" charset="-120"/>
                        </a:rPr>
                        <a:t>nodes</a:t>
                      </a:r>
                      <a:endParaRPr lang="en-US" sz="1100" dirty="0">
                        <a:latin typeface="Consolas" charset="0"/>
                        <a:ea typeface="Consolas" charset="0"/>
                        <a:cs typeface="Consolas" charset="0"/>
                      </a:endParaRPr>
                    </a:p>
                  </a:txBody>
                  <a:tcPr marL="73152" marR="73152" marT="73152" marB="7315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A3A"/>
                          </a:solidFill>
                          <a:latin typeface="Calibri" pitchFamily="34" charset="0"/>
                          <a:ea typeface="Calibri" pitchFamily="34" charset="-122"/>
                          <a:cs typeface="Calibri" pitchFamily="34" charset="-120"/>
                        </a:rPr>
                        <a:t>number of positive nodes</a:t>
                      </a:r>
                      <a:endParaRPr lang="en-US" sz="1100" dirty="0">
                        <a:latin typeface="Calibri" charset="0"/>
                        <a:ea typeface="Calibri" charset="0"/>
                        <a:cs typeface="Calibri" charset="0"/>
                      </a:endParaRPr>
                    </a:p>
                  </a:txBody>
                  <a:tcPr marL="73152" marR="73152" marT="73152" marB="7315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292608">
                <a:tc>
                  <a:txBody>
                    <a:bodyPr/>
                    <a:lstStyle/>
                    <a:p>
                      <a:pPr algn="l" indent="0" marL="0">
                        <a:buNone/>
                      </a:pPr>
                      <a:r>
                        <a:rPr lang="en-US" sz="1100" b="1" dirty="0">
                          <a:solidFill>
                            <a:srgbClr val="065A82"/>
                          </a:solidFill>
                          <a:latin typeface="Consolas" pitchFamily="34" charset="0"/>
                          <a:ea typeface="Consolas" pitchFamily="34" charset="-122"/>
                          <a:cs typeface="Consolas" pitchFamily="34" charset="-120"/>
                        </a:rPr>
                        <a:t>pgr</a:t>
                      </a:r>
                      <a:endParaRPr lang="en-US" sz="1100" dirty="0">
                        <a:latin typeface="Consolas" charset="0"/>
                        <a:ea typeface="Consolas" charset="0"/>
                        <a:cs typeface="Consolas" charset="0"/>
                      </a:endParaRPr>
                    </a:p>
                  </a:txBody>
                  <a:tcPr marL="73152" marR="73152" marT="73152" marB="7315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A3A"/>
                          </a:solidFill>
                          <a:latin typeface="Calibri" pitchFamily="34" charset="0"/>
                          <a:ea typeface="Calibri" pitchFamily="34" charset="-122"/>
                          <a:cs typeface="Calibri" pitchFamily="34" charset="-120"/>
                        </a:rPr>
                        <a:t>progesterone receptor (fmol)</a:t>
                      </a:r>
                      <a:endParaRPr lang="en-US" sz="1100" dirty="0">
                        <a:latin typeface="Calibri" charset="0"/>
                        <a:ea typeface="Calibri" charset="0"/>
                        <a:cs typeface="Calibri" charset="0"/>
                      </a:endParaRPr>
                    </a:p>
                  </a:txBody>
                  <a:tcPr marL="73152" marR="73152" marT="73152" marB="7315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r h="292608">
                <a:tc>
                  <a:txBody>
                    <a:bodyPr/>
                    <a:lstStyle/>
                    <a:p>
                      <a:pPr algn="l" indent="0" marL="0">
                        <a:buNone/>
                      </a:pPr>
                      <a:r>
                        <a:rPr lang="en-US" sz="1100" b="1" dirty="0">
                          <a:solidFill>
                            <a:srgbClr val="065A82"/>
                          </a:solidFill>
                          <a:latin typeface="Consolas" pitchFamily="34" charset="0"/>
                          <a:ea typeface="Consolas" pitchFamily="34" charset="-122"/>
                          <a:cs typeface="Consolas" pitchFamily="34" charset="-120"/>
                        </a:rPr>
                        <a:t>er</a:t>
                      </a:r>
                      <a:endParaRPr lang="en-US" sz="1100" dirty="0">
                        <a:latin typeface="Consolas" charset="0"/>
                        <a:ea typeface="Consolas" charset="0"/>
                        <a:cs typeface="Consolas" charset="0"/>
                      </a:endParaRPr>
                    </a:p>
                  </a:txBody>
                  <a:tcPr marL="73152" marR="73152" marT="73152" marB="7315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A3A"/>
                          </a:solidFill>
                          <a:latin typeface="Calibri" pitchFamily="34" charset="0"/>
                          <a:ea typeface="Calibri" pitchFamily="34" charset="-122"/>
                          <a:cs typeface="Calibri" pitchFamily="34" charset="-120"/>
                        </a:rPr>
                        <a:t>oestrogen receptor (fmol)</a:t>
                      </a:r>
                      <a:endParaRPr lang="en-US" sz="1100" dirty="0">
                        <a:latin typeface="Calibri" charset="0"/>
                        <a:ea typeface="Calibri" charset="0"/>
                        <a:cs typeface="Calibri" charset="0"/>
                      </a:endParaRPr>
                    </a:p>
                  </a:txBody>
                  <a:tcPr marL="73152" marR="73152" marT="73152" marB="73152" anchor="ctr">
                    <a:lnL w="6350" cap="flat" cmpd="sng" algn="ctr">
                      <a:solidFill>
                        <a:srgbClr val="C9D3DD"/>
                      </a:solidFill>
                      <a:prstDash val="solid"/>
                      <a:round/>
                      <a:headEnd type="none" w="med" len="med"/>
                      <a:tailEnd type="none" w="med" len="med"/>
                    </a:lnL>
                    <a:lnR w="6350" cap="flat" cmpd="sng" algn="ctr">
                      <a:solidFill>
                        <a:srgbClr val="C9D3DD"/>
                      </a:solidFill>
                      <a:prstDash val="solid"/>
                      <a:round/>
                      <a:headEnd type="none" w="med" len="med"/>
                      <a:tailEnd type="none" w="med" len="med"/>
                    </a:lnR>
                    <a:lnT w="6350" cap="flat" cmpd="sng" algn="ctr">
                      <a:solidFill>
                        <a:srgbClr val="C9D3DD"/>
                      </a:solidFill>
                      <a:prstDash val="solid"/>
                      <a:round/>
                      <a:headEnd type="none" w="med" len="med"/>
                      <a:tailEnd type="none" w="med" len="med"/>
                    </a:lnT>
                    <a:lnB w="6350" cap="flat" cmpd="sng" algn="ctr">
                      <a:solidFill>
                        <a:srgbClr val="C9D3DD"/>
                      </a:solidFill>
                      <a:prstDash val="solid"/>
                      <a:round/>
                      <a:headEnd type="none" w="med" len="med"/>
                      <a:tailEnd type="none" w="med" len="med"/>
                    </a:lnB>
                    <a:solidFill>
                      <a:srgbClr val="FFFFFF"/>
                    </a:solidFill>
                  </a:tcPr>
                </a:tc>
              </a:tr>
            </a:tbl>
          </a:graphicData>
        </a:graphic>
      </p:graphicFrame>
      <p:sp>
        <p:nvSpPr>
          <p:cNvPr id="23" name="Text 20"/>
          <p:cNvSpPr/>
          <p:nvPr/>
        </p:nvSpPr>
        <p:spPr>
          <a:xfrm>
            <a:off x="502920" y="6172200"/>
            <a:ext cx="11155680" cy="365760"/>
          </a:xfrm>
          <a:prstGeom prst="rect">
            <a:avLst/>
          </a:prstGeom>
          <a:noFill/>
          <a:ln/>
        </p:spPr>
        <p:txBody>
          <a:bodyPr wrap="square" lIns="0" tIns="0" rIns="0" bIns="0" rtlCol="0" anchor="ctr"/>
          <a:lstStyle/>
          <a:p>
            <a:pPr indent="0" marL="0">
              <a:buNone/>
            </a:pPr>
            <a:r>
              <a:rPr lang="en-US" sz="1000" i="1" dirty="0">
                <a:solidFill>
                  <a:srgbClr val="5C6F83"/>
                </a:solidFill>
                <a:latin typeface="Calibri" pitchFamily="34" charset="0"/>
                <a:ea typeface="Calibri" pitchFamily="34" charset="-122"/>
                <a:cs typeface="Calibri" pitchFamily="34" charset="-120"/>
              </a:rPr>
              <a:t>Randomised 2×2 trial of hormonal therapy and chemotherapy duration in node-positive breast cancer.  In this vignette we use hormonal therapy as the treatment factor.  Available as  survival::gbsg.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65A82"/>
          </a:solidFill>
          <a:ln w="12700">
            <a:solidFill>
              <a:srgbClr val="065A82"/>
            </a:solidFill>
            <a:prstDash val="solid"/>
          </a:ln>
        </p:spPr>
      </p:sp>
      <p:sp>
        <p:nvSpPr>
          <p:cNvPr id="3" name="Text 1"/>
          <p:cNvSpPr/>
          <p:nvPr/>
        </p:nvSpPr>
        <p:spPr>
          <a:xfrm>
            <a:off x="502920" y="320040"/>
            <a:ext cx="11155680" cy="292608"/>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NULL DGM</a:t>
            </a:r>
            <a:endParaRPr lang="en-US" sz="1100" dirty="0"/>
          </a:p>
        </p:txBody>
      </p:sp>
      <p:sp>
        <p:nvSpPr>
          <p:cNvPr id="4" name="Text 2"/>
          <p:cNvSpPr/>
          <p:nvPr/>
        </p:nvSpPr>
        <p:spPr>
          <a:xfrm>
            <a:off x="502920" y="612648"/>
            <a:ext cx="11155680" cy="685800"/>
          </a:xfrm>
          <a:prstGeom prst="rect">
            <a:avLst/>
          </a:prstGeom>
          <a:noFill/>
          <a:ln/>
        </p:spPr>
        <p:txBody>
          <a:bodyPr wrap="square" lIns="0" tIns="0" rIns="0" bIns="0" rtlCol="0" anchor="ctr"/>
          <a:lstStyle/>
          <a:p>
            <a:pPr indent="0" marL="0">
              <a:buNone/>
            </a:pPr>
            <a:r>
              <a:rPr lang="en-US" sz="3000" b="1" dirty="0">
                <a:solidFill>
                  <a:srgbClr val="0C2344"/>
                </a:solidFill>
                <a:latin typeface="Calibri" pitchFamily="34" charset="0"/>
                <a:ea typeface="Calibri" pitchFamily="34" charset="-122"/>
                <a:cs typeface="Calibri" pitchFamily="34" charset="-120"/>
              </a:rPr>
              <a:t>Setting: a Perfectly Uniform Treatment Effect</a:t>
            </a:r>
            <a:endParaRPr lang="en-US" sz="3000" dirty="0"/>
          </a:p>
        </p:txBody>
      </p:sp>
      <p:sp>
        <p:nvSpPr>
          <p:cNvPr id="5" name="Shape 3"/>
          <p:cNvSpPr/>
          <p:nvPr/>
        </p:nvSpPr>
        <p:spPr>
          <a:xfrm>
            <a:off x="502920" y="1417320"/>
            <a:ext cx="11155680" cy="1097280"/>
          </a:xfrm>
          <a:prstGeom prst="rect">
            <a:avLst/>
          </a:prstGeom>
          <a:solidFill>
            <a:srgbClr val="0C2344"/>
          </a:solidFill>
          <a:ln w="12700">
            <a:solidFill>
              <a:srgbClr val="0C2344"/>
            </a:solidFill>
            <a:prstDash val="solid"/>
          </a:ln>
        </p:spPr>
      </p:sp>
      <p:sp>
        <p:nvSpPr>
          <p:cNvPr id="6" name="Text 4"/>
          <p:cNvSpPr/>
          <p:nvPr/>
        </p:nvSpPr>
        <p:spPr>
          <a:xfrm>
            <a:off x="777240" y="1508760"/>
            <a:ext cx="10607040" cy="365760"/>
          </a:xfrm>
          <a:prstGeom prst="rect">
            <a:avLst/>
          </a:prstGeom>
          <a:noFill/>
          <a:ln/>
        </p:spPr>
        <p:txBody>
          <a:bodyPr wrap="square" lIns="0" tIns="0" rIns="0" bIns="0" rtlCol="0" anchor="ctr"/>
          <a:lstStyle/>
          <a:p>
            <a:pPr indent="0" marL="0">
              <a:buNone/>
            </a:pPr>
            <a:r>
              <a:rPr lang="en-US" sz="1400" i="1" dirty="0">
                <a:solidFill>
                  <a:srgbClr val="E8F0F7"/>
                </a:solidFill>
                <a:latin typeface="Calibri" pitchFamily="34" charset="0"/>
                <a:ea typeface="Calibri" pitchFamily="34" charset="-122"/>
                <a:cs typeface="Calibri" pitchFamily="34" charset="-120"/>
              </a:rPr>
              <a:t>True log hazard ratio is constant across every patient:</a:t>
            </a:r>
            <a:endParaRPr lang="en-US" sz="1400" dirty="0"/>
          </a:p>
        </p:txBody>
      </p:sp>
      <p:sp>
        <p:nvSpPr>
          <p:cNvPr id="7" name="Text 5"/>
          <p:cNvSpPr/>
          <p:nvPr/>
        </p:nvSpPr>
        <p:spPr>
          <a:xfrm>
            <a:off x="777240" y="1874520"/>
            <a:ext cx="10607040" cy="502920"/>
          </a:xfrm>
          <a:prstGeom prst="rect">
            <a:avLst/>
          </a:prstGeom>
          <a:noFill/>
          <a:ln/>
        </p:spPr>
        <p:txBody>
          <a:bodyPr wrap="square" lIns="0" tIns="0" rIns="0" bIns="0" rtlCol="0" anchor="ctr"/>
          <a:lstStyle/>
          <a:p>
            <a:pPr indent="0" marL="0">
              <a:buNone/>
            </a:pPr>
            <a:r>
              <a:rPr lang="en-US" sz="2400" b="1" i="1" dirty="0">
                <a:solidFill>
                  <a:srgbClr val="FFFFFF"/>
                </a:solidFill>
                <a:latin typeface="Cambria" pitchFamily="34" charset="0"/>
                <a:ea typeface="Cambria" pitchFamily="34" charset="-122"/>
                <a:cs typeface="Cambria" pitchFamily="34" charset="-120"/>
              </a:rPr>
              <a:t>ψ⁰(L)</a:t>
            </a:r>
            <a:pPr indent="0" marL="0">
              <a:buNone/>
            </a:pPr>
            <a:r>
              <a:rPr lang="en-US" sz="2400" b="1" dirty="0">
                <a:solidFill>
                  <a:srgbClr val="FFFFFF"/>
                </a:solidFill>
                <a:latin typeface="Cambria" pitchFamily="34" charset="0"/>
                <a:ea typeface="Cambria" pitchFamily="34" charset="-122"/>
                <a:cs typeface="Cambria" pitchFamily="34" charset="-120"/>
              </a:rPr>
              <a:t>  =  </a:t>
            </a:r>
            <a:pPr indent="0" marL="0">
              <a:buNone/>
            </a:pPr>
            <a:r>
              <a:rPr lang="en-US" sz="2400" b="1" dirty="0">
                <a:solidFill>
                  <a:srgbClr val="FFFFFF"/>
                </a:solidFill>
                <a:latin typeface="Cambria" pitchFamily="34" charset="0"/>
                <a:ea typeface="Cambria" pitchFamily="34" charset="-122"/>
                <a:cs typeface="Cambria" pitchFamily="34" charset="-120"/>
              </a:rPr>
              <a:t>log(HR</a:t>
            </a:r>
            <a:pPr indent="0" marL="0">
              <a:buNone/>
            </a:pPr>
            <a:r>
              <a:rPr lang="en-US" sz="2400" b="1" baseline="-40000" dirty="0">
                <a:solidFill>
                  <a:srgbClr val="FFFFFF"/>
                </a:solidFill>
                <a:latin typeface="Cambria" pitchFamily="34" charset="0"/>
                <a:ea typeface="Cambria" pitchFamily="34" charset="-122"/>
                <a:cs typeface="Cambria" pitchFamily="34" charset="-120"/>
              </a:rPr>
              <a:t>true</a:t>
            </a:r>
            <a:pPr indent="0" marL="0">
              <a:buNone/>
            </a:pPr>
            <a:r>
              <a:rPr lang="en-US" sz="2400" b="1" dirty="0">
                <a:solidFill>
                  <a:srgbClr val="FFFFFF"/>
                </a:solidFill>
                <a:latin typeface="Cambria" pitchFamily="34" charset="0"/>
                <a:ea typeface="Cambria" pitchFamily="34" charset="-122"/>
                <a:cs typeface="Cambria" pitchFamily="34" charset="-120"/>
              </a:rPr>
              <a:t>)</a:t>
            </a:r>
            <a:pPr indent="0" marL="0">
              <a:buNone/>
            </a:pPr>
            <a:r>
              <a:rPr lang="en-US" sz="1800" b="1" dirty="0">
                <a:solidFill>
                  <a:srgbClr val="E8F0F7"/>
                </a:solidFill>
                <a:latin typeface="Cambria" pitchFamily="34" charset="0"/>
                <a:ea typeface="Cambria" pitchFamily="34" charset="-122"/>
                <a:cs typeface="Cambria" pitchFamily="34" charset="-120"/>
              </a:rPr>
              <a:t>     for every covariate profile  </a:t>
            </a:r>
            <a:pPr indent="0" marL="0">
              <a:buNone/>
            </a:pPr>
            <a:r>
              <a:rPr lang="en-US" sz="1800" b="1" i="1" dirty="0">
                <a:solidFill>
                  <a:srgbClr val="E8F0F7"/>
                </a:solidFill>
                <a:latin typeface="Cambria" pitchFamily="34" charset="0"/>
                <a:ea typeface="Cambria" pitchFamily="34" charset="-122"/>
                <a:cs typeface="Cambria" pitchFamily="34" charset="-120"/>
              </a:rPr>
              <a:t>L</a:t>
            </a:r>
            <a:pPr indent="0" marL="0">
              <a:buNone/>
            </a:pPr>
            <a:r>
              <a:rPr lang="en-US" sz="1800" b="1" dirty="0">
                <a:solidFill>
                  <a:srgbClr val="E8F0F7"/>
                </a:solidFill>
                <a:latin typeface="Cambria" pitchFamily="34" charset="0"/>
                <a:ea typeface="Cambria" pitchFamily="34" charset="-122"/>
                <a:cs typeface="Cambria" pitchFamily="34" charset="-120"/>
              </a:rPr>
              <a:t>.</a:t>
            </a:r>
            <a:endParaRPr lang="en-US" sz="2400" dirty="0"/>
          </a:p>
        </p:txBody>
      </p:sp>
      <p:sp>
        <p:nvSpPr>
          <p:cNvPr id="8" name="Shape 6"/>
          <p:cNvSpPr/>
          <p:nvPr/>
        </p:nvSpPr>
        <p:spPr>
          <a:xfrm>
            <a:off x="502920" y="2834640"/>
            <a:ext cx="3535680" cy="3154680"/>
          </a:xfrm>
          <a:prstGeom prst="rect">
            <a:avLst/>
          </a:prstGeom>
          <a:solidFill>
            <a:srgbClr val="F5F8FC"/>
          </a:solidFill>
          <a:ln w="6350">
            <a:solidFill>
              <a:srgbClr val="C9D3DD"/>
            </a:solidFill>
            <a:prstDash val="solid"/>
          </a:ln>
        </p:spPr>
      </p:sp>
      <p:sp>
        <p:nvSpPr>
          <p:cNvPr id="9" name="Shape 7"/>
          <p:cNvSpPr/>
          <p:nvPr/>
        </p:nvSpPr>
        <p:spPr>
          <a:xfrm>
            <a:off x="502920" y="2834640"/>
            <a:ext cx="73152" cy="3154680"/>
          </a:xfrm>
          <a:prstGeom prst="rect">
            <a:avLst/>
          </a:prstGeom>
          <a:solidFill>
            <a:srgbClr val="C0392B"/>
          </a:solidFill>
          <a:ln w="12700">
            <a:solidFill>
              <a:srgbClr val="C0392B"/>
            </a:solidFill>
            <a:prstDash val="solid"/>
          </a:ln>
        </p:spPr>
      </p:sp>
      <p:sp>
        <p:nvSpPr>
          <p:cNvPr id="10" name="Text 8"/>
          <p:cNvSpPr/>
          <p:nvPr/>
        </p:nvSpPr>
        <p:spPr>
          <a:xfrm>
            <a:off x="777240" y="3017520"/>
            <a:ext cx="3078480" cy="457200"/>
          </a:xfrm>
          <a:prstGeom prst="rect">
            <a:avLst/>
          </a:prstGeom>
          <a:noFill/>
          <a:ln/>
        </p:spPr>
        <p:txBody>
          <a:bodyPr wrap="square" lIns="0" tIns="0" rIns="0" bIns="0" rtlCol="0" anchor="ctr"/>
          <a:lstStyle/>
          <a:p>
            <a:pPr indent="0" marL="0">
              <a:buNone/>
            </a:pPr>
            <a:r>
              <a:rPr lang="en-US" sz="1700" b="1" dirty="0">
                <a:solidFill>
                  <a:srgbClr val="C0392B"/>
                </a:solidFill>
                <a:latin typeface="Calibri" pitchFamily="34" charset="0"/>
                <a:ea typeface="Calibri" pitchFamily="34" charset="-122"/>
                <a:cs typeface="Calibri" pitchFamily="34" charset="-120"/>
              </a:rPr>
              <a:t>HR  =  0.70</a:t>
            </a:r>
            <a:endParaRPr lang="en-US" sz="1700" dirty="0"/>
          </a:p>
        </p:txBody>
      </p:sp>
      <p:sp>
        <p:nvSpPr>
          <p:cNvPr id="11" name="Text 9"/>
          <p:cNvSpPr/>
          <p:nvPr/>
        </p:nvSpPr>
        <p:spPr>
          <a:xfrm>
            <a:off x="777240" y="3520440"/>
            <a:ext cx="3078480" cy="2240280"/>
          </a:xfrm>
          <a:prstGeom prst="rect">
            <a:avLst/>
          </a:prstGeom>
          <a:noFill/>
          <a:ln/>
        </p:spPr>
        <p:txBody>
          <a:bodyPr wrap="square" lIns="0" tIns="0" rIns="0" bIns="0" rtlCol="0" anchor="ctr"/>
          <a:lstStyle/>
          <a:p>
            <a:pPr indent="0" marL="0">
              <a:buNone/>
            </a:pPr>
            <a:r>
              <a:rPr lang="en-US" sz="1300" dirty="0">
                <a:solidFill>
                  <a:srgbClr val="1A2A3A"/>
                </a:solidFill>
                <a:latin typeface="Calibri" pitchFamily="34" charset="0"/>
                <a:ea typeface="Calibri" pitchFamily="34" charset="-122"/>
                <a:cs typeface="Calibri" pitchFamily="34" charset="-120"/>
              </a:rPr>
              <a:t>A moderate treatment benefit — identical for every subject. Specified via the spline anchors:</a:t>
            </a:r>
            <a:endParaRPr lang="en-US" sz="1300" dirty="0"/>
          </a:p>
          <a:p>
            <a:pPr indent="0" marL="0">
              <a:buNone/>
            </a:pPr>
            <a:endParaRPr lang="en-US" sz="1300" dirty="0"/>
          </a:p>
          <a:p>
            <a:pPr indent="0" marL="0">
              <a:buNone/>
            </a:pPr>
            <a:r>
              <a:rPr lang="en-US" sz="1300" dirty="0">
                <a:solidFill>
                  <a:srgbClr val="1A2A3A"/>
                </a:solidFill>
                <a:latin typeface="Calibri" pitchFamily="34" charset="0"/>
                <a:ea typeface="Calibri" pitchFamily="34" charset="-122"/>
                <a:cs typeface="Calibri" pitchFamily="34" charset="-120"/>
              </a:rPr>
              <a:t>log.hrs = log(c(0.70, 0.70, 0.70))</a:t>
            </a:r>
            <a:endParaRPr lang="en-US" sz="1300" dirty="0"/>
          </a:p>
        </p:txBody>
      </p:sp>
      <p:sp>
        <p:nvSpPr>
          <p:cNvPr id="12" name="Shape 10"/>
          <p:cNvSpPr/>
          <p:nvPr/>
        </p:nvSpPr>
        <p:spPr>
          <a:xfrm>
            <a:off x="4312920" y="2834640"/>
            <a:ext cx="3535680" cy="3154680"/>
          </a:xfrm>
          <a:prstGeom prst="rect">
            <a:avLst/>
          </a:prstGeom>
          <a:solidFill>
            <a:srgbClr val="F5F8FC"/>
          </a:solidFill>
          <a:ln w="6350">
            <a:solidFill>
              <a:srgbClr val="C9D3DD"/>
            </a:solidFill>
            <a:prstDash val="solid"/>
          </a:ln>
        </p:spPr>
      </p:sp>
      <p:sp>
        <p:nvSpPr>
          <p:cNvPr id="13" name="Shape 11"/>
          <p:cNvSpPr/>
          <p:nvPr/>
        </p:nvSpPr>
        <p:spPr>
          <a:xfrm>
            <a:off x="4312920" y="2834640"/>
            <a:ext cx="73152" cy="3154680"/>
          </a:xfrm>
          <a:prstGeom prst="rect">
            <a:avLst/>
          </a:prstGeom>
          <a:solidFill>
            <a:srgbClr val="065A82"/>
          </a:solidFill>
          <a:ln w="12700">
            <a:solidFill>
              <a:srgbClr val="065A82"/>
            </a:solidFill>
            <a:prstDash val="solid"/>
          </a:ln>
        </p:spPr>
      </p:sp>
      <p:sp>
        <p:nvSpPr>
          <p:cNvPr id="14" name="Text 12"/>
          <p:cNvSpPr/>
          <p:nvPr/>
        </p:nvSpPr>
        <p:spPr>
          <a:xfrm>
            <a:off x="4587240" y="3017520"/>
            <a:ext cx="3078480" cy="457200"/>
          </a:xfrm>
          <a:prstGeom prst="rect">
            <a:avLst/>
          </a:prstGeom>
          <a:noFill/>
          <a:ln/>
        </p:spPr>
        <p:txBody>
          <a:bodyPr wrap="square" lIns="0" tIns="0" rIns="0" bIns="0" rtlCol="0" anchor="ctr"/>
          <a:lstStyle/>
          <a:p>
            <a:pPr indent="0" marL="0">
              <a:buNone/>
            </a:pPr>
            <a:r>
              <a:rPr lang="en-US" sz="1700" b="1" dirty="0">
                <a:solidFill>
                  <a:srgbClr val="065A82"/>
                </a:solidFill>
                <a:latin typeface="Calibri" pitchFamily="34" charset="0"/>
                <a:ea typeface="Calibri" pitchFamily="34" charset="-122"/>
                <a:cs typeface="Calibri" pitchFamily="34" charset="-120"/>
              </a:rPr>
              <a:t>No embedded subgroup</a:t>
            </a:r>
            <a:endParaRPr lang="en-US" sz="1700" dirty="0"/>
          </a:p>
        </p:txBody>
      </p:sp>
      <p:sp>
        <p:nvSpPr>
          <p:cNvPr id="15" name="Text 13"/>
          <p:cNvSpPr/>
          <p:nvPr/>
        </p:nvSpPr>
        <p:spPr>
          <a:xfrm>
            <a:off x="4587240" y="3520440"/>
            <a:ext cx="3078480" cy="2240280"/>
          </a:xfrm>
          <a:prstGeom prst="rect">
            <a:avLst/>
          </a:prstGeom>
          <a:noFill/>
          <a:ln/>
        </p:spPr>
        <p:txBody>
          <a:bodyPr wrap="square" lIns="0" tIns="0" rIns="0" bIns="0" rtlCol="0" anchor="ctr"/>
          <a:lstStyle/>
          <a:p>
            <a:pPr indent="0" marL="0">
              <a:buNone/>
            </a:pPr>
            <a:r>
              <a:rPr lang="en-US" sz="1300" dirty="0">
                <a:solidFill>
                  <a:srgbClr val="1A2A3A"/>
                </a:solidFill>
                <a:latin typeface="Calibri" pitchFamily="34" charset="0"/>
                <a:ea typeface="Calibri" pitchFamily="34" charset="-122"/>
                <a:cs typeface="Calibri" pitchFamily="34" charset="-120"/>
              </a:rPr>
              <a:t>model = "null" in generate_aft_dgm_flex().</a:t>
            </a:r>
            <a:endParaRPr lang="en-US" sz="1300" dirty="0"/>
          </a:p>
          <a:p>
            <a:pPr indent="0" marL="0">
              <a:buNone/>
            </a:pPr>
            <a:endParaRPr lang="en-US" sz="1300" dirty="0"/>
          </a:p>
          <a:p>
            <a:pPr indent="0" marL="0">
              <a:buNone/>
            </a:pPr>
            <a:r>
              <a:rPr lang="en-US" sz="1300" dirty="0">
                <a:solidFill>
                  <a:srgbClr val="1A2A3A"/>
                </a:solidFill>
                <a:latin typeface="Calibri" pitchFamily="34" charset="0"/>
                <a:ea typeface="Calibri" pitchFamily="34" charset="-122"/>
                <a:cs typeface="Calibri" pitchFamily="34" charset="-120"/>
              </a:rPr>
              <a:t>There is no harm subgroup, no effect modifier, no heterogeneity. Every subgroup shares exactly the same HR.</a:t>
            </a:r>
            <a:endParaRPr lang="en-US" sz="1300" dirty="0"/>
          </a:p>
        </p:txBody>
      </p:sp>
      <p:sp>
        <p:nvSpPr>
          <p:cNvPr id="16" name="Shape 14"/>
          <p:cNvSpPr/>
          <p:nvPr/>
        </p:nvSpPr>
        <p:spPr>
          <a:xfrm>
            <a:off x="8122920" y="2834640"/>
            <a:ext cx="3535680" cy="3154680"/>
          </a:xfrm>
          <a:prstGeom prst="rect">
            <a:avLst/>
          </a:prstGeom>
          <a:solidFill>
            <a:srgbClr val="F5F8FC"/>
          </a:solidFill>
          <a:ln w="6350">
            <a:solidFill>
              <a:srgbClr val="C9D3DD"/>
            </a:solidFill>
            <a:prstDash val="solid"/>
          </a:ln>
        </p:spPr>
      </p:sp>
      <p:sp>
        <p:nvSpPr>
          <p:cNvPr id="17" name="Shape 15"/>
          <p:cNvSpPr/>
          <p:nvPr/>
        </p:nvSpPr>
        <p:spPr>
          <a:xfrm>
            <a:off x="8122920" y="2834640"/>
            <a:ext cx="73152" cy="3154680"/>
          </a:xfrm>
          <a:prstGeom prst="rect">
            <a:avLst/>
          </a:prstGeom>
          <a:solidFill>
            <a:srgbClr val="D4A017"/>
          </a:solidFill>
          <a:ln w="12700">
            <a:solidFill>
              <a:srgbClr val="D4A017"/>
            </a:solidFill>
            <a:prstDash val="solid"/>
          </a:ln>
        </p:spPr>
      </p:sp>
      <p:sp>
        <p:nvSpPr>
          <p:cNvPr id="18" name="Text 16"/>
          <p:cNvSpPr/>
          <p:nvPr/>
        </p:nvSpPr>
        <p:spPr>
          <a:xfrm>
            <a:off x="8397240" y="3017520"/>
            <a:ext cx="3078480" cy="457200"/>
          </a:xfrm>
          <a:prstGeom prst="rect">
            <a:avLst/>
          </a:prstGeom>
          <a:noFill/>
          <a:ln/>
        </p:spPr>
        <p:txBody>
          <a:bodyPr wrap="square" lIns="0" tIns="0" rIns="0" bIns="0" rtlCol="0" anchor="ctr"/>
          <a:lstStyle/>
          <a:p>
            <a:pPr indent="0" marL="0">
              <a:buNone/>
            </a:pPr>
            <a:r>
              <a:rPr lang="en-US" sz="1700" b="1" dirty="0">
                <a:solidFill>
                  <a:srgbClr val="D4A017"/>
                </a:solidFill>
                <a:latin typeface="Calibri" pitchFamily="34" charset="0"/>
                <a:ea typeface="Calibri" pitchFamily="34" charset="-122"/>
                <a:cs typeface="Calibri" pitchFamily="34" charset="-120"/>
              </a:rPr>
              <a:t>Any finding is a false positive</a:t>
            </a:r>
            <a:endParaRPr lang="en-US" sz="1700" dirty="0"/>
          </a:p>
        </p:txBody>
      </p:sp>
      <p:sp>
        <p:nvSpPr>
          <p:cNvPr id="19" name="Text 17"/>
          <p:cNvSpPr/>
          <p:nvPr/>
        </p:nvSpPr>
        <p:spPr>
          <a:xfrm>
            <a:off x="8397240" y="3520440"/>
            <a:ext cx="3078480" cy="2240280"/>
          </a:xfrm>
          <a:prstGeom prst="rect">
            <a:avLst/>
          </a:prstGeom>
          <a:noFill/>
          <a:ln/>
        </p:spPr>
        <p:txBody>
          <a:bodyPr wrap="square" lIns="0" tIns="0" rIns="0" bIns="0" rtlCol="0" anchor="ctr"/>
          <a:lstStyle/>
          <a:p>
            <a:pPr indent="0" marL="0">
              <a:buNone/>
            </a:pPr>
            <a:r>
              <a:rPr lang="en-US" sz="1300" dirty="0">
                <a:solidFill>
                  <a:srgbClr val="1A2A3A"/>
                </a:solidFill>
                <a:latin typeface="Calibri" pitchFamily="34" charset="0"/>
                <a:ea typeface="Calibri" pitchFamily="34" charset="-122"/>
                <a:cs typeface="Calibri" pitchFamily="34" charset="-120"/>
              </a:rPr>
              <a:t>By construction. What we observe across simulated trials is the pure sampling-variability distribution of subgroup estimates.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65A82"/>
          </a:solidFill>
          <a:ln w="12700">
            <a:solidFill>
              <a:srgbClr val="065A82"/>
            </a:solidFill>
            <a:prstDash val="solid"/>
          </a:ln>
        </p:spPr>
      </p:sp>
      <p:sp>
        <p:nvSpPr>
          <p:cNvPr id="3" name="Text 1"/>
          <p:cNvSpPr/>
          <p:nvPr/>
        </p:nvSpPr>
        <p:spPr>
          <a:xfrm>
            <a:off x="502920" y="320040"/>
            <a:ext cx="11155680" cy="292608"/>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GETTING STARTED</a:t>
            </a:r>
            <a:endParaRPr lang="en-US" sz="1100" dirty="0"/>
          </a:p>
        </p:txBody>
      </p:sp>
      <p:sp>
        <p:nvSpPr>
          <p:cNvPr id="4" name="Text 2"/>
          <p:cNvSpPr/>
          <p:nvPr/>
        </p:nvSpPr>
        <p:spPr>
          <a:xfrm>
            <a:off x="502920" y="612648"/>
            <a:ext cx="11155680" cy="685800"/>
          </a:xfrm>
          <a:prstGeom prst="rect">
            <a:avLst/>
          </a:prstGeom>
          <a:noFill/>
          <a:ln/>
        </p:spPr>
        <p:txBody>
          <a:bodyPr wrap="square" lIns="0" tIns="0" rIns="0" bIns="0" rtlCol="0" anchor="ctr"/>
          <a:lstStyle/>
          <a:p>
            <a:pPr indent="0" marL="0">
              <a:buNone/>
            </a:pPr>
            <a:r>
              <a:rPr lang="en-US" sz="3000" b="1" dirty="0">
                <a:solidFill>
                  <a:srgbClr val="0C2344"/>
                </a:solidFill>
                <a:latin typeface="Calibri" pitchFamily="34" charset="0"/>
                <a:ea typeface="Calibri" pitchFamily="34" charset="-122"/>
                <a:cs typeface="Calibri" pitchFamily="34" charset="-120"/>
              </a:rPr>
              <a:t>Installing forestsearch &amp; Accessing the Vignette</a:t>
            </a:r>
            <a:endParaRPr lang="en-US" sz="3000" dirty="0"/>
          </a:p>
        </p:txBody>
      </p:sp>
      <p:sp>
        <p:nvSpPr>
          <p:cNvPr id="5" name="Shape 3"/>
          <p:cNvSpPr/>
          <p:nvPr/>
        </p:nvSpPr>
        <p:spPr>
          <a:xfrm>
            <a:off x="502920" y="1417320"/>
            <a:ext cx="5715000" cy="2377440"/>
          </a:xfrm>
          <a:prstGeom prst="rect">
            <a:avLst/>
          </a:prstGeom>
          <a:solidFill>
            <a:srgbClr val="0C2344"/>
          </a:solidFill>
          <a:ln w="12700">
            <a:solidFill>
              <a:srgbClr val="0C2344"/>
            </a:solidFill>
            <a:prstDash val="solid"/>
          </a:ln>
        </p:spPr>
      </p:sp>
      <p:sp>
        <p:nvSpPr>
          <p:cNvPr id="6" name="Text 4"/>
          <p:cNvSpPr/>
          <p:nvPr/>
        </p:nvSpPr>
        <p:spPr>
          <a:xfrm>
            <a:off x="777240" y="1554480"/>
            <a:ext cx="5166360" cy="365760"/>
          </a:xfrm>
          <a:prstGeom prst="rect">
            <a:avLst/>
          </a:prstGeom>
          <a:noFill/>
          <a:ln/>
        </p:spPr>
        <p:txBody>
          <a:bodyPr wrap="square" lIns="0" tIns="0" rIns="0" bIns="0" rtlCol="0" anchor="ctr"/>
          <a:lstStyle/>
          <a:p>
            <a:pPr indent="0" marL="0">
              <a:buNone/>
            </a:pPr>
            <a:r>
              <a:rPr lang="en-US" sz="1600" b="1" dirty="0">
                <a:solidFill>
                  <a:srgbClr val="D4A017"/>
                </a:solidFill>
                <a:latin typeface="Calibri" pitchFamily="34" charset="0"/>
                <a:ea typeface="Calibri" pitchFamily="34" charset="-122"/>
                <a:cs typeface="Calibri" pitchFamily="34" charset="-120"/>
              </a:rPr>
              <a:t>Installation</a:t>
            </a:r>
            <a:endParaRPr lang="en-US" sz="1600" dirty="0"/>
          </a:p>
        </p:txBody>
      </p:sp>
      <p:sp>
        <p:nvSpPr>
          <p:cNvPr id="7" name="Text 5"/>
          <p:cNvSpPr/>
          <p:nvPr/>
        </p:nvSpPr>
        <p:spPr>
          <a:xfrm>
            <a:off x="777240" y="1920240"/>
            <a:ext cx="5166360" cy="274320"/>
          </a:xfrm>
          <a:prstGeom prst="rect">
            <a:avLst/>
          </a:prstGeom>
          <a:noFill/>
          <a:ln/>
        </p:spPr>
        <p:txBody>
          <a:bodyPr wrap="square" lIns="0" tIns="0" rIns="0" bIns="0" rtlCol="0" anchor="ctr"/>
          <a:lstStyle/>
          <a:p>
            <a:pPr indent="0" marL="0">
              <a:buNone/>
            </a:pPr>
            <a:r>
              <a:rPr lang="en-US" sz="1100" i="1" dirty="0">
                <a:solidFill>
                  <a:srgbClr val="E8F0F7"/>
                </a:solidFill>
                <a:latin typeface="Calibri" pitchFamily="34" charset="0"/>
                <a:ea typeface="Calibri" pitchFamily="34" charset="-122"/>
                <a:cs typeface="Calibri" pitchFamily="34" charset="-120"/>
              </a:rPr>
              <a:t>1.  Install pak (one time)</a:t>
            </a:r>
            <a:endParaRPr lang="en-US" sz="1100" dirty="0"/>
          </a:p>
        </p:txBody>
      </p:sp>
      <p:sp>
        <p:nvSpPr>
          <p:cNvPr id="8" name="Text 6"/>
          <p:cNvSpPr/>
          <p:nvPr/>
        </p:nvSpPr>
        <p:spPr>
          <a:xfrm>
            <a:off x="777240" y="2167128"/>
            <a:ext cx="5166360" cy="292608"/>
          </a:xfrm>
          <a:prstGeom prst="rect">
            <a:avLst/>
          </a:prstGeom>
          <a:noFill/>
          <a:ln/>
        </p:spPr>
        <p:txBody>
          <a:bodyPr wrap="square" lIns="0" tIns="0" rIns="0" bIns="0"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install.packages("pak")</a:t>
            </a:r>
            <a:endParaRPr lang="en-US" sz="1300" dirty="0"/>
          </a:p>
        </p:txBody>
      </p:sp>
      <p:sp>
        <p:nvSpPr>
          <p:cNvPr id="9" name="Text 7"/>
          <p:cNvSpPr/>
          <p:nvPr/>
        </p:nvSpPr>
        <p:spPr>
          <a:xfrm>
            <a:off x="777240" y="2514600"/>
            <a:ext cx="5166360" cy="274320"/>
          </a:xfrm>
          <a:prstGeom prst="rect">
            <a:avLst/>
          </a:prstGeom>
          <a:noFill/>
          <a:ln/>
        </p:spPr>
        <p:txBody>
          <a:bodyPr wrap="square" lIns="0" tIns="0" rIns="0" bIns="0" rtlCol="0" anchor="ctr"/>
          <a:lstStyle/>
          <a:p>
            <a:pPr indent="0" marL="0">
              <a:buNone/>
            </a:pPr>
            <a:r>
              <a:rPr lang="en-US" sz="1100" i="1" dirty="0">
                <a:solidFill>
                  <a:srgbClr val="E8F0F7"/>
                </a:solidFill>
                <a:latin typeface="Calibri" pitchFamily="34" charset="0"/>
                <a:ea typeface="Calibri" pitchFamily="34" charset="-122"/>
                <a:cs typeface="Calibri" pitchFamily="34" charset="-120"/>
              </a:rPr>
              <a:t>2.  Install forestsearch from GitHub</a:t>
            </a:r>
            <a:endParaRPr lang="en-US" sz="1100" dirty="0"/>
          </a:p>
        </p:txBody>
      </p:sp>
      <p:sp>
        <p:nvSpPr>
          <p:cNvPr id="10" name="Text 8"/>
          <p:cNvSpPr/>
          <p:nvPr/>
        </p:nvSpPr>
        <p:spPr>
          <a:xfrm>
            <a:off x="777240" y="2761488"/>
            <a:ext cx="5166360" cy="292608"/>
          </a:xfrm>
          <a:prstGeom prst="rect">
            <a:avLst/>
          </a:prstGeom>
          <a:noFill/>
          <a:ln/>
        </p:spPr>
        <p:txBody>
          <a:bodyPr wrap="square" lIns="0" tIns="0" rIns="0" bIns="0"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pak::pak("larry-leon/forestsearch")</a:t>
            </a:r>
            <a:endParaRPr lang="en-US" sz="1300" dirty="0"/>
          </a:p>
        </p:txBody>
      </p:sp>
      <p:sp>
        <p:nvSpPr>
          <p:cNvPr id="11" name="Text 9"/>
          <p:cNvSpPr/>
          <p:nvPr/>
        </p:nvSpPr>
        <p:spPr>
          <a:xfrm>
            <a:off x="777240" y="3108960"/>
            <a:ext cx="5166360" cy="274320"/>
          </a:xfrm>
          <a:prstGeom prst="rect">
            <a:avLst/>
          </a:prstGeom>
          <a:noFill/>
          <a:ln/>
        </p:spPr>
        <p:txBody>
          <a:bodyPr wrap="square" lIns="0" tIns="0" rIns="0" bIns="0" rtlCol="0" anchor="ctr"/>
          <a:lstStyle/>
          <a:p>
            <a:pPr indent="0" marL="0">
              <a:buNone/>
            </a:pPr>
            <a:r>
              <a:rPr lang="en-US" sz="1100" i="1" dirty="0">
                <a:solidFill>
                  <a:srgbClr val="E8F0F7"/>
                </a:solidFill>
                <a:latin typeface="Calibri" pitchFamily="34" charset="0"/>
                <a:ea typeface="Calibri" pitchFamily="34" charset="-122"/>
                <a:cs typeface="Calibri" pitchFamily="34" charset="-120"/>
              </a:rPr>
              <a:t>3.  Load the package</a:t>
            </a:r>
            <a:endParaRPr lang="en-US" sz="1100" dirty="0"/>
          </a:p>
        </p:txBody>
      </p:sp>
      <p:sp>
        <p:nvSpPr>
          <p:cNvPr id="12" name="Text 10"/>
          <p:cNvSpPr/>
          <p:nvPr/>
        </p:nvSpPr>
        <p:spPr>
          <a:xfrm>
            <a:off x="777240" y="3355848"/>
            <a:ext cx="5166360" cy="292608"/>
          </a:xfrm>
          <a:prstGeom prst="rect">
            <a:avLst/>
          </a:prstGeom>
          <a:noFill/>
          <a:ln/>
        </p:spPr>
        <p:txBody>
          <a:bodyPr wrap="square" lIns="0" tIns="0" rIns="0" bIns="0"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library(forestsearch)</a:t>
            </a:r>
            <a:endParaRPr lang="en-US" sz="1300" dirty="0"/>
          </a:p>
        </p:txBody>
      </p:sp>
      <p:sp>
        <p:nvSpPr>
          <p:cNvPr id="13" name="Text 11"/>
          <p:cNvSpPr/>
          <p:nvPr/>
        </p:nvSpPr>
        <p:spPr>
          <a:xfrm>
            <a:off x="6583680" y="1417320"/>
            <a:ext cx="5074920" cy="365760"/>
          </a:xfrm>
          <a:prstGeom prst="rect">
            <a:avLst/>
          </a:prstGeom>
          <a:noFill/>
          <a:ln/>
        </p:spPr>
        <p:txBody>
          <a:bodyPr wrap="square" lIns="0" tIns="0" rIns="0" bIns="0" rtlCol="0" anchor="ctr"/>
          <a:lstStyle/>
          <a:p>
            <a:pPr indent="0" marL="0">
              <a:buNone/>
            </a:pPr>
            <a:r>
              <a:rPr lang="en-US" sz="1600" b="1" dirty="0">
                <a:solidFill>
                  <a:srgbClr val="1C7293"/>
                </a:solidFill>
                <a:latin typeface="Calibri" pitchFamily="34" charset="0"/>
                <a:ea typeface="Calibri" pitchFamily="34" charset="-122"/>
                <a:cs typeface="Calibri" pitchFamily="34" charset="-120"/>
              </a:rPr>
              <a:t>Documentation site</a:t>
            </a:r>
            <a:endParaRPr lang="en-US" sz="1600" dirty="0"/>
          </a:p>
        </p:txBody>
      </p:sp>
      <p:sp>
        <p:nvSpPr>
          <p:cNvPr id="14" name="Text 12"/>
          <p:cNvSpPr/>
          <p:nvPr/>
        </p:nvSpPr>
        <p:spPr>
          <a:xfrm>
            <a:off x="6583680" y="1783080"/>
            <a:ext cx="5074920" cy="365760"/>
          </a:xfrm>
          <a:prstGeom prst="rect">
            <a:avLst/>
          </a:prstGeom>
          <a:noFill/>
          <a:ln/>
        </p:spPr>
        <p:txBody>
          <a:bodyPr wrap="square" lIns="0" tIns="0" rIns="0" bIns="0" rtlCol="0" anchor="ctr"/>
          <a:lstStyle/>
          <a:p>
            <a:pPr indent="0" marL="0">
              <a:buNone/>
            </a:pPr>
            <a:r>
              <a:rPr lang="en-US" sz="1400" b="1" u="sng" dirty="0">
                <a:solidFill>
                  <a:srgbClr val="065A82"/>
                </a:solidFill>
                <a:latin typeface="Consolas" pitchFamily="34" charset="0"/>
                <a:ea typeface="Consolas" pitchFamily="34" charset="-122"/>
                <a:cs typeface="Consolas" pitchFamily="34" charset="-120"/>
                <a:hlinkClick r:id="rId1" invalidUrl="" action="" tgtFrame="" tooltip="" history="1" highlightClick="0" endSnd="0">
                  <a:extLst>
                    <a:ext uri="{A12FA001-AC4F-418D-AE19-62706E023703}">
                      <ahyp:hlinkClr xmlns:ahyp="http://schemas.microsoft.com/office/drawing/2018/hyperlinkcolor" val="tx"/>
                    </a:ext>
                  </a:extLst>
                </a:hlinkClick>
              </a:rPr>
              <a:t>larry-leon.github.io/forestsearch</a:t>
            </a:r>
            <a:endParaRPr lang="en-US" sz="1400" dirty="0"/>
          </a:p>
        </p:txBody>
      </p:sp>
      <p:sp>
        <p:nvSpPr>
          <p:cNvPr id="15" name="Text 13"/>
          <p:cNvSpPr/>
          <p:nvPr/>
        </p:nvSpPr>
        <p:spPr>
          <a:xfrm>
            <a:off x="6583680" y="2103120"/>
            <a:ext cx="5074920" cy="274320"/>
          </a:xfrm>
          <a:prstGeom prst="rect">
            <a:avLst/>
          </a:prstGeom>
          <a:noFill/>
          <a:ln/>
        </p:spPr>
        <p:txBody>
          <a:bodyPr wrap="square" lIns="0" tIns="0" rIns="0" bIns="0" rtlCol="0" anchor="ctr"/>
          <a:lstStyle/>
          <a:p>
            <a:pPr indent="0" marL="0">
              <a:buNone/>
            </a:pPr>
            <a:r>
              <a:rPr lang="en-US" sz="1100" i="1" dirty="0">
                <a:solidFill>
                  <a:srgbClr val="5C6F83"/>
                </a:solidFill>
                <a:latin typeface="Calibri" pitchFamily="34" charset="0"/>
                <a:ea typeface="Calibri" pitchFamily="34" charset="-122"/>
                <a:cs typeface="Calibri" pitchFamily="34" charset="-120"/>
              </a:rPr>
              <a:t>includes function reference and vignettes.</a:t>
            </a:r>
            <a:endParaRPr lang="en-US" sz="1100" dirty="0"/>
          </a:p>
        </p:txBody>
      </p:sp>
      <p:sp>
        <p:nvSpPr>
          <p:cNvPr id="16" name="Text 14"/>
          <p:cNvSpPr/>
          <p:nvPr/>
        </p:nvSpPr>
        <p:spPr>
          <a:xfrm>
            <a:off x="6583680" y="2468880"/>
            <a:ext cx="5074920" cy="365760"/>
          </a:xfrm>
          <a:prstGeom prst="rect">
            <a:avLst/>
          </a:prstGeom>
          <a:noFill/>
          <a:ln/>
        </p:spPr>
        <p:txBody>
          <a:bodyPr wrap="square" lIns="0" tIns="0" rIns="0" bIns="0" rtlCol="0" anchor="ctr"/>
          <a:lstStyle/>
          <a:p>
            <a:pPr indent="0" marL="0">
              <a:buNone/>
            </a:pPr>
            <a:r>
              <a:rPr lang="en-US" sz="1600" b="1" dirty="0">
                <a:solidFill>
                  <a:srgbClr val="1C7293"/>
                </a:solidFill>
                <a:latin typeface="Calibri" pitchFamily="34" charset="0"/>
                <a:ea typeface="Calibri" pitchFamily="34" charset="-122"/>
                <a:cs typeface="Calibri" pitchFamily="34" charset="-120"/>
              </a:rPr>
              <a:t>Extreme Subgroups vignette</a:t>
            </a:r>
            <a:endParaRPr lang="en-US" sz="1600" dirty="0"/>
          </a:p>
        </p:txBody>
      </p:sp>
      <p:sp>
        <p:nvSpPr>
          <p:cNvPr id="17" name="Text 15"/>
          <p:cNvSpPr/>
          <p:nvPr/>
        </p:nvSpPr>
        <p:spPr>
          <a:xfrm>
            <a:off x="6583680" y="2834640"/>
            <a:ext cx="5074920" cy="640080"/>
          </a:xfrm>
          <a:prstGeom prst="rect">
            <a:avLst/>
          </a:prstGeom>
          <a:noFill/>
          <a:ln/>
        </p:spPr>
        <p:txBody>
          <a:bodyPr wrap="square" lIns="0" tIns="0" rIns="0" bIns="0" rtlCol="0" anchor="ctr"/>
          <a:lstStyle/>
          <a:p>
            <a:pPr indent="0" marL="0">
              <a:buNone/>
            </a:pPr>
            <a:r>
              <a:rPr lang="en-US" sz="1200" b="1" dirty="0">
                <a:solidFill>
                  <a:srgbClr val="065A82"/>
                </a:solidFill>
                <a:latin typeface="Consolas" pitchFamily="34" charset="0"/>
                <a:ea typeface="Consolas" pitchFamily="34" charset="-122"/>
                <a:cs typeface="Consolas" pitchFamily="34" charset="-120"/>
              </a:rPr>
              <a:t>larry-leon.github.io/forestsearch/articles/</a:t>
            </a:r>
            <a:endParaRPr lang="en-US" sz="1200" dirty="0"/>
          </a:p>
          <a:p>
            <a:pPr indent="0" marL="0">
              <a:buNone/>
            </a:pPr>
            <a:r>
              <a:rPr lang="en-US" sz="1200" b="1" u="sng" dirty="0">
                <a:solidFill>
                  <a:srgbClr val="065A82"/>
                </a:solidFill>
                <a:latin typeface="Consolas" pitchFamily="34" charset="0"/>
                <a:ea typeface="Consolas" pitchFamily="34" charset="-122"/>
                <a:cs typeface="Consolas" pitchFamily="34" charset="-120"/>
                <a:hlinkClick r:id="rId2" invalidUrl="" action="" tgtFrame="" tooltip="" history="1" highlightClick="0" endSnd="0">
                  <a:extLst>
                    <a:ext uri="{A12FA001-AC4F-418D-AE19-62706E023703}">
                      <ahyp:hlinkClr xmlns:ahyp="http://schemas.microsoft.com/office/drawing/2018/hyperlinkcolor" val="tx"/>
                    </a:ext>
                  </a:extLst>
                </a:hlinkClick>
              </a:rPr>
              <a:t>extreme_subgroups.html</a:t>
            </a:r>
            <a:endParaRPr lang="en-US" sz="1200" dirty="0"/>
          </a:p>
        </p:txBody>
      </p:sp>
      <p:sp>
        <p:nvSpPr>
          <p:cNvPr id="18" name="Text 16"/>
          <p:cNvSpPr/>
          <p:nvPr/>
        </p:nvSpPr>
        <p:spPr>
          <a:xfrm>
            <a:off x="502920" y="4023360"/>
            <a:ext cx="11155680" cy="365760"/>
          </a:xfrm>
          <a:prstGeom prst="rect">
            <a:avLst/>
          </a:prstGeom>
          <a:noFill/>
          <a:ln/>
        </p:spPr>
        <p:txBody>
          <a:bodyPr wrap="square" lIns="0" tIns="0" rIns="0" bIns="0" rtlCol="0" anchor="ctr"/>
          <a:lstStyle/>
          <a:p>
            <a:pPr indent="0" marL="0">
              <a:buNone/>
            </a:pPr>
            <a:r>
              <a:rPr lang="en-US" sz="1600" b="1" dirty="0">
                <a:solidFill>
                  <a:srgbClr val="0C2344"/>
                </a:solidFill>
                <a:latin typeface="Calibri" pitchFamily="34" charset="0"/>
                <a:ea typeface="Calibri" pitchFamily="34" charset="-122"/>
                <a:cs typeface="Calibri" pitchFamily="34" charset="-120"/>
              </a:rPr>
              <a:t>Related vignettes on the pkgdown site</a:t>
            </a:r>
            <a:endParaRPr lang="en-US" sz="1600" dirty="0"/>
          </a:p>
        </p:txBody>
      </p:sp>
      <p:sp>
        <p:nvSpPr>
          <p:cNvPr id="19" name="Shape 17"/>
          <p:cNvSpPr/>
          <p:nvPr/>
        </p:nvSpPr>
        <p:spPr>
          <a:xfrm>
            <a:off x="502920" y="4526280"/>
            <a:ext cx="5440680" cy="685800"/>
          </a:xfrm>
          <a:prstGeom prst="rect">
            <a:avLst/>
          </a:prstGeom>
          <a:solidFill>
            <a:srgbClr val="F5F8FC"/>
          </a:solidFill>
          <a:ln w="6350">
            <a:solidFill>
              <a:srgbClr val="C9D3DD"/>
            </a:solidFill>
            <a:prstDash val="solid"/>
          </a:ln>
        </p:spPr>
      </p:sp>
      <p:sp>
        <p:nvSpPr>
          <p:cNvPr id="20" name="Shape 18"/>
          <p:cNvSpPr/>
          <p:nvPr/>
        </p:nvSpPr>
        <p:spPr>
          <a:xfrm>
            <a:off x="502920" y="4526280"/>
            <a:ext cx="54864" cy="685800"/>
          </a:xfrm>
          <a:prstGeom prst="rect">
            <a:avLst/>
          </a:prstGeom>
          <a:solidFill>
            <a:srgbClr val="1C7293"/>
          </a:solidFill>
          <a:ln w="12700">
            <a:solidFill>
              <a:srgbClr val="1C7293"/>
            </a:solidFill>
            <a:prstDash val="solid"/>
          </a:ln>
        </p:spPr>
      </p:sp>
      <p:sp>
        <p:nvSpPr>
          <p:cNvPr id="21" name="Text 19"/>
          <p:cNvSpPr/>
          <p:nvPr/>
        </p:nvSpPr>
        <p:spPr>
          <a:xfrm>
            <a:off x="667512" y="4599432"/>
            <a:ext cx="5212080" cy="292608"/>
          </a:xfrm>
          <a:prstGeom prst="rect">
            <a:avLst/>
          </a:prstGeom>
          <a:noFill/>
          <a:ln/>
        </p:spPr>
        <p:txBody>
          <a:bodyPr wrap="square" lIns="0" tIns="0" rIns="0" bIns="0" rtlCol="0" anchor="ctr"/>
          <a:lstStyle/>
          <a:p>
            <a:pPr indent="0" marL="0">
              <a:buNone/>
            </a:pPr>
            <a:r>
              <a:rPr lang="en-US" sz="1300" b="1" dirty="0">
                <a:solidFill>
                  <a:srgbClr val="0C2344"/>
                </a:solidFill>
                <a:latin typeface="Calibri" pitchFamily="34" charset="0"/>
                <a:ea typeface="Calibri" pitchFamily="34" charset="-122"/>
                <a:cs typeface="Calibri" pitchFamily="34" charset="-120"/>
              </a:rPr>
              <a:t>Getting Started</a:t>
            </a:r>
            <a:endParaRPr lang="en-US" sz="1300" dirty="0"/>
          </a:p>
        </p:txBody>
      </p:sp>
      <p:sp>
        <p:nvSpPr>
          <p:cNvPr id="22" name="Text 20"/>
          <p:cNvSpPr/>
          <p:nvPr/>
        </p:nvSpPr>
        <p:spPr>
          <a:xfrm>
            <a:off x="667512" y="4873752"/>
            <a:ext cx="5212080" cy="292608"/>
          </a:xfrm>
          <a:prstGeom prst="rect">
            <a:avLst/>
          </a:prstGeom>
          <a:noFill/>
          <a:ln/>
        </p:spPr>
        <p:txBody>
          <a:bodyPr wrap="square" lIns="0" tIns="0" rIns="0" bIns="0" rtlCol="0" anchor="ctr"/>
          <a:lstStyle/>
          <a:p>
            <a:pPr indent="0" marL="0">
              <a:buNone/>
            </a:pPr>
            <a:r>
              <a:rPr lang="en-US" sz="1100" dirty="0">
                <a:solidFill>
                  <a:srgbClr val="5C6F83"/>
                </a:solidFill>
                <a:latin typeface="Calibri" pitchFamily="34" charset="0"/>
                <a:ea typeface="Calibri" pitchFamily="34" charset="-122"/>
                <a:cs typeface="Calibri" pitchFamily="34" charset="-120"/>
              </a:rPr>
              <a:t>End-to-end walkthrough with the GBSG trial</a:t>
            </a:r>
            <a:endParaRPr lang="en-US" sz="1100" dirty="0"/>
          </a:p>
        </p:txBody>
      </p:sp>
      <p:sp>
        <p:nvSpPr>
          <p:cNvPr id="23" name="Shape 21"/>
          <p:cNvSpPr/>
          <p:nvPr/>
        </p:nvSpPr>
        <p:spPr>
          <a:xfrm>
            <a:off x="6172200" y="4526280"/>
            <a:ext cx="5440680" cy="685800"/>
          </a:xfrm>
          <a:prstGeom prst="rect">
            <a:avLst/>
          </a:prstGeom>
          <a:solidFill>
            <a:srgbClr val="F5F8FC"/>
          </a:solidFill>
          <a:ln w="6350">
            <a:solidFill>
              <a:srgbClr val="C9D3DD"/>
            </a:solidFill>
            <a:prstDash val="solid"/>
          </a:ln>
        </p:spPr>
      </p:sp>
      <p:sp>
        <p:nvSpPr>
          <p:cNvPr id="24" name="Shape 22"/>
          <p:cNvSpPr/>
          <p:nvPr/>
        </p:nvSpPr>
        <p:spPr>
          <a:xfrm>
            <a:off x="6172200" y="4526280"/>
            <a:ext cx="54864" cy="685800"/>
          </a:xfrm>
          <a:prstGeom prst="rect">
            <a:avLst/>
          </a:prstGeom>
          <a:solidFill>
            <a:srgbClr val="1C7293"/>
          </a:solidFill>
          <a:ln w="12700">
            <a:solidFill>
              <a:srgbClr val="1C7293"/>
            </a:solidFill>
            <a:prstDash val="solid"/>
          </a:ln>
        </p:spPr>
      </p:sp>
      <p:sp>
        <p:nvSpPr>
          <p:cNvPr id="25" name="Text 23"/>
          <p:cNvSpPr/>
          <p:nvPr/>
        </p:nvSpPr>
        <p:spPr>
          <a:xfrm>
            <a:off x="6336792" y="4599432"/>
            <a:ext cx="5212080" cy="292608"/>
          </a:xfrm>
          <a:prstGeom prst="rect">
            <a:avLst/>
          </a:prstGeom>
          <a:noFill/>
          <a:ln/>
        </p:spPr>
        <p:txBody>
          <a:bodyPr wrap="square" lIns="0" tIns="0" rIns="0" bIns="0" rtlCol="0" anchor="ctr"/>
          <a:lstStyle/>
          <a:p>
            <a:pPr indent="0" marL="0">
              <a:buNone/>
            </a:pPr>
            <a:r>
              <a:rPr lang="en-US" sz="1300" b="1" dirty="0">
                <a:solidFill>
                  <a:srgbClr val="0C2344"/>
                </a:solidFill>
                <a:latin typeface="Calibri" pitchFamily="34" charset="0"/>
                <a:ea typeface="Calibri" pitchFamily="34" charset="-122"/>
                <a:cs typeface="Calibri" pitchFamily="34" charset="-120"/>
              </a:rPr>
              <a:t>Methodology</a:t>
            </a:r>
            <a:endParaRPr lang="en-US" sz="1300" dirty="0"/>
          </a:p>
        </p:txBody>
      </p:sp>
      <p:sp>
        <p:nvSpPr>
          <p:cNvPr id="26" name="Text 24"/>
          <p:cNvSpPr/>
          <p:nvPr/>
        </p:nvSpPr>
        <p:spPr>
          <a:xfrm>
            <a:off x="6336792" y="4873752"/>
            <a:ext cx="5212080" cy="292608"/>
          </a:xfrm>
          <a:prstGeom prst="rect">
            <a:avLst/>
          </a:prstGeom>
          <a:noFill/>
          <a:ln/>
        </p:spPr>
        <p:txBody>
          <a:bodyPr wrap="square" lIns="0" tIns="0" rIns="0" bIns="0" rtlCol="0" anchor="ctr"/>
          <a:lstStyle/>
          <a:p>
            <a:pPr indent="0" marL="0">
              <a:buNone/>
            </a:pPr>
            <a:r>
              <a:rPr lang="en-US" sz="1100" dirty="0">
                <a:solidFill>
                  <a:srgbClr val="5C6F83"/>
                </a:solidFill>
                <a:latin typeface="Calibri" pitchFamily="34" charset="0"/>
                <a:ea typeface="Calibri" pitchFamily="34" charset="-122"/>
                <a:cs typeface="Calibri" pitchFamily="34" charset="-120"/>
              </a:rPr>
              <a:t>Statistical framework, algorithm details, simulation results</a:t>
            </a:r>
            <a:endParaRPr lang="en-US" sz="1100" dirty="0"/>
          </a:p>
        </p:txBody>
      </p:sp>
      <p:sp>
        <p:nvSpPr>
          <p:cNvPr id="27" name="Shape 25"/>
          <p:cNvSpPr/>
          <p:nvPr/>
        </p:nvSpPr>
        <p:spPr>
          <a:xfrm>
            <a:off x="502920" y="5303520"/>
            <a:ext cx="5440680" cy="685800"/>
          </a:xfrm>
          <a:prstGeom prst="rect">
            <a:avLst/>
          </a:prstGeom>
          <a:solidFill>
            <a:srgbClr val="F5F8FC"/>
          </a:solidFill>
          <a:ln w="6350">
            <a:solidFill>
              <a:srgbClr val="C9D3DD"/>
            </a:solidFill>
            <a:prstDash val="solid"/>
          </a:ln>
        </p:spPr>
      </p:sp>
      <p:sp>
        <p:nvSpPr>
          <p:cNvPr id="28" name="Shape 26"/>
          <p:cNvSpPr/>
          <p:nvPr/>
        </p:nvSpPr>
        <p:spPr>
          <a:xfrm>
            <a:off x="502920" y="5303520"/>
            <a:ext cx="54864" cy="685800"/>
          </a:xfrm>
          <a:prstGeom prst="rect">
            <a:avLst/>
          </a:prstGeom>
          <a:solidFill>
            <a:srgbClr val="1C7293"/>
          </a:solidFill>
          <a:ln w="12700">
            <a:solidFill>
              <a:srgbClr val="1C7293"/>
            </a:solidFill>
            <a:prstDash val="solid"/>
          </a:ln>
        </p:spPr>
      </p:sp>
      <p:sp>
        <p:nvSpPr>
          <p:cNvPr id="29" name="Text 27"/>
          <p:cNvSpPr/>
          <p:nvPr/>
        </p:nvSpPr>
        <p:spPr>
          <a:xfrm>
            <a:off x="667512" y="5376672"/>
            <a:ext cx="5212080" cy="292608"/>
          </a:xfrm>
          <a:prstGeom prst="rect">
            <a:avLst/>
          </a:prstGeom>
          <a:noFill/>
          <a:ln/>
        </p:spPr>
        <p:txBody>
          <a:bodyPr wrap="square" lIns="0" tIns="0" rIns="0" bIns="0" rtlCol="0" anchor="ctr"/>
          <a:lstStyle/>
          <a:p>
            <a:pPr indent="0" marL="0">
              <a:buNone/>
            </a:pPr>
            <a:r>
              <a:rPr lang="en-US" sz="1300" b="1" dirty="0">
                <a:solidFill>
                  <a:srgbClr val="0C2344"/>
                </a:solidFill>
                <a:latin typeface="Calibri" pitchFamily="34" charset="0"/>
                <a:ea typeface="Calibri" pitchFamily="34" charset="-122"/>
                <a:cs typeface="Calibri" pitchFamily="34" charset="-120"/>
              </a:rPr>
              <a:t>Treatment Effect Definitions</a:t>
            </a:r>
            <a:endParaRPr lang="en-US" sz="1300" dirty="0"/>
          </a:p>
        </p:txBody>
      </p:sp>
      <p:sp>
        <p:nvSpPr>
          <p:cNvPr id="30" name="Text 28"/>
          <p:cNvSpPr/>
          <p:nvPr/>
        </p:nvSpPr>
        <p:spPr>
          <a:xfrm>
            <a:off x="667512" y="5650992"/>
            <a:ext cx="5212080" cy="292608"/>
          </a:xfrm>
          <a:prstGeom prst="rect">
            <a:avLst/>
          </a:prstGeom>
          <a:noFill/>
          <a:ln/>
        </p:spPr>
        <p:txBody>
          <a:bodyPr wrap="square" lIns="0" tIns="0" rIns="0" bIns="0" rtlCol="0" anchor="ctr"/>
          <a:lstStyle/>
          <a:p>
            <a:pPr indent="0" marL="0">
              <a:buNone/>
            </a:pPr>
            <a:r>
              <a:rPr lang="en-US" sz="1100" dirty="0">
                <a:solidFill>
                  <a:srgbClr val="5C6F83"/>
                </a:solidFill>
                <a:latin typeface="Calibri" pitchFamily="34" charset="0"/>
                <a:ea typeface="Calibri" pitchFamily="34" charset="-122"/>
                <a:cs typeface="Calibri" pitchFamily="34" charset="-120"/>
              </a:rPr>
              <a:t>Marginal HR, AHR, and CDE estimands</a:t>
            </a:r>
            <a:endParaRPr lang="en-US" sz="1100" dirty="0"/>
          </a:p>
        </p:txBody>
      </p:sp>
      <p:sp>
        <p:nvSpPr>
          <p:cNvPr id="31" name="Shape 29"/>
          <p:cNvSpPr/>
          <p:nvPr/>
        </p:nvSpPr>
        <p:spPr>
          <a:xfrm>
            <a:off x="6172200" y="5303520"/>
            <a:ext cx="5440680" cy="685800"/>
          </a:xfrm>
          <a:prstGeom prst="rect">
            <a:avLst/>
          </a:prstGeom>
          <a:solidFill>
            <a:srgbClr val="F5F8FC"/>
          </a:solidFill>
          <a:ln w="6350">
            <a:solidFill>
              <a:srgbClr val="C9D3DD"/>
            </a:solidFill>
            <a:prstDash val="solid"/>
          </a:ln>
        </p:spPr>
      </p:sp>
      <p:sp>
        <p:nvSpPr>
          <p:cNvPr id="32" name="Shape 30"/>
          <p:cNvSpPr/>
          <p:nvPr/>
        </p:nvSpPr>
        <p:spPr>
          <a:xfrm>
            <a:off x="6172200" y="5303520"/>
            <a:ext cx="54864" cy="685800"/>
          </a:xfrm>
          <a:prstGeom prst="rect">
            <a:avLst/>
          </a:prstGeom>
          <a:solidFill>
            <a:srgbClr val="1C7293"/>
          </a:solidFill>
          <a:ln w="12700">
            <a:solidFill>
              <a:srgbClr val="1C7293"/>
            </a:solidFill>
            <a:prstDash val="solid"/>
          </a:ln>
        </p:spPr>
      </p:sp>
      <p:sp>
        <p:nvSpPr>
          <p:cNvPr id="33" name="Text 31"/>
          <p:cNvSpPr/>
          <p:nvPr/>
        </p:nvSpPr>
        <p:spPr>
          <a:xfrm>
            <a:off x="6336792" y="5376672"/>
            <a:ext cx="5212080" cy="292608"/>
          </a:xfrm>
          <a:prstGeom prst="rect">
            <a:avLst/>
          </a:prstGeom>
          <a:noFill/>
          <a:ln/>
        </p:spPr>
        <p:txBody>
          <a:bodyPr wrap="square" lIns="0" tIns="0" rIns="0" bIns="0" rtlCol="0" anchor="ctr"/>
          <a:lstStyle/>
          <a:p>
            <a:pPr indent="0" marL="0">
              <a:buNone/>
            </a:pPr>
            <a:r>
              <a:rPr lang="en-US" sz="1300" b="1" dirty="0">
                <a:solidFill>
                  <a:srgbClr val="0C2344"/>
                </a:solidFill>
                <a:latin typeface="Calibri" pitchFamily="34" charset="0"/>
                <a:ea typeface="Calibri" pitchFamily="34" charset="-122"/>
                <a:cs typeface="Calibri" pitchFamily="34" charset="-120"/>
              </a:rPr>
              <a:t>Simulation Studies</a:t>
            </a:r>
            <a:endParaRPr lang="en-US" sz="1300" dirty="0"/>
          </a:p>
        </p:txBody>
      </p:sp>
      <p:sp>
        <p:nvSpPr>
          <p:cNvPr id="34" name="Text 32"/>
          <p:cNvSpPr/>
          <p:nvPr/>
        </p:nvSpPr>
        <p:spPr>
          <a:xfrm>
            <a:off x="6336792" y="5650992"/>
            <a:ext cx="5212080" cy="292608"/>
          </a:xfrm>
          <a:prstGeom prst="rect">
            <a:avLst/>
          </a:prstGeom>
          <a:noFill/>
          <a:ln/>
        </p:spPr>
        <p:txBody>
          <a:bodyPr wrap="square" lIns="0" tIns="0" rIns="0" bIns="0" rtlCol="0" anchor="ctr"/>
          <a:lstStyle/>
          <a:p>
            <a:pPr indent="0" marL="0">
              <a:buNone/>
            </a:pPr>
            <a:r>
              <a:rPr lang="en-US" sz="1100" dirty="0">
                <a:solidFill>
                  <a:srgbClr val="5C6F83"/>
                </a:solidFill>
                <a:latin typeface="Calibri" pitchFamily="34" charset="0"/>
                <a:ea typeface="Calibri" pitchFamily="34" charset="-122"/>
                <a:cs typeface="Calibri" pitchFamily="34" charset="-120"/>
              </a:rPr>
              <a:t>Operating characteristics and benchmarks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65A82"/>
          </a:solidFill>
          <a:ln w="12700">
            <a:solidFill>
              <a:srgbClr val="065A82"/>
            </a:solidFill>
            <a:prstDash val="solid"/>
          </a:ln>
        </p:spPr>
      </p:sp>
      <p:sp>
        <p:nvSpPr>
          <p:cNvPr id="3" name="Text 1"/>
          <p:cNvSpPr/>
          <p:nvPr/>
        </p:nvSpPr>
        <p:spPr>
          <a:xfrm>
            <a:off x="502920" y="320040"/>
            <a:ext cx="11155680" cy="292608"/>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PIPELINE</a:t>
            </a:r>
            <a:endParaRPr lang="en-US" sz="1100" dirty="0"/>
          </a:p>
        </p:txBody>
      </p:sp>
      <p:sp>
        <p:nvSpPr>
          <p:cNvPr id="4" name="Text 2"/>
          <p:cNvSpPr/>
          <p:nvPr/>
        </p:nvSpPr>
        <p:spPr>
          <a:xfrm>
            <a:off x="502920" y="612648"/>
            <a:ext cx="11155680" cy="685800"/>
          </a:xfrm>
          <a:prstGeom prst="rect">
            <a:avLst/>
          </a:prstGeom>
          <a:noFill/>
          <a:ln/>
        </p:spPr>
        <p:txBody>
          <a:bodyPr wrap="square" lIns="0" tIns="0" rIns="0" bIns="0" rtlCol="0" anchor="ctr"/>
          <a:lstStyle/>
          <a:p>
            <a:pPr indent="0" marL="0">
              <a:buNone/>
            </a:pPr>
            <a:r>
              <a:rPr lang="en-US" sz="3000" b="1" dirty="0">
                <a:solidFill>
                  <a:srgbClr val="0C2344"/>
                </a:solidFill>
                <a:latin typeface="Calibri" pitchFamily="34" charset="0"/>
                <a:ea typeface="Calibri" pitchFamily="34" charset="-122"/>
                <a:cs typeface="Calibri" pitchFamily="34" charset="-120"/>
              </a:rPr>
              <a:t>Simulation Workflow</a:t>
            </a:r>
            <a:endParaRPr lang="en-US" sz="3000" dirty="0"/>
          </a:p>
        </p:txBody>
      </p:sp>
      <p:sp>
        <p:nvSpPr>
          <p:cNvPr id="5" name="Shape 3"/>
          <p:cNvSpPr/>
          <p:nvPr/>
        </p:nvSpPr>
        <p:spPr>
          <a:xfrm>
            <a:off x="548640" y="1609344"/>
            <a:ext cx="502920" cy="502920"/>
          </a:xfrm>
          <a:prstGeom prst="ellipse">
            <a:avLst/>
          </a:prstGeom>
          <a:solidFill>
            <a:srgbClr val="065A82"/>
          </a:solidFill>
          <a:ln w="12700">
            <a:solidFill>
              <a:srgbClr val="065A82"/>
            </a:solidFill>
            <a:prstDash val="solid"/>
          </a:ln>
        </p:spPr>
      </p:sp>
      <p:sp>
        <p:nvSpPr>
          <p:cNvPr id="6" name="Text 4"/>
          <p:cNvSpPr/>
          <p:nvPr/>
        </p:nvSpPr>
        <p:spPr>
          <a:xfrm>
            <a:off x="548640" y="1609344"/>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188720" y="1618488"/>
            <a:ext cx="2194560" cy="457200"/>
          </a:xfrm>
          <a:prstGeom prst="rect">
            <a:avLst/>
          </a:prstGeom>
          <a:noFill/>
          <a:ln/>
        </p:spPr>
        <p:txBody>
          <a:bodyPr wrap="square" lIns="0" tIns="0" rIns="0" bIns="0" rtlCol="0" anchor="ctr"/>
          <a:lstStyle/>
          <a:p>
            <a:pPr indent="0" marL="0">
              <a:buNone/>
            </a:pPr>
            <a:r>
              <a:rPr lang="en-US" sz="1400" b="1" dirty="0">
                <a:solidFill>
                  <a:srgbClr val="0C2344"/>
                </a:solidFill>
                <a:latin typeface="Calibri" pitchFamily="34" charset="0"/>
                <a:ea typeface="Calibri" pitchFamily="34" charset="-122"/>
                <a:cs typeface="Calibri" pitchFamily="34" charset="-120"/>
              </a:rPr>
              <a:t>Prepare data</a:t>
            </a:r>
            <a:endParaRPr lang="en-US" sz="1400" dirty="0"/>
          </a:p>
        </p:txBody>
      </p:sp>
      <p:sp>
        <p:nvSpPr>
          <p:cNvPr id="8" name="Text 6"/>
          <p:cNvSpPr/>
          <p:nvPr/>
        </p:nvSpPr>
        <p:spPr>
          <a:xfrm>
            <a:off x="3474720" y="1618488"/>
            <a:ext cx="3017520" cy="457200"/>
          </a:xfrm>
          <a:prstGeom prst="rect">
            <a:avLst/>
          </a:prstGeom>
          <a:noFill/>
          <a:ln/>
        </p:spPr>
        <p:txBody>
          <a:bodyPr wrap="square" lIns="0" tIns="0" rIns="0" bIns="0" rtlCol="0" anchor="ctr"/>
          <a:lstStyle/>
          <a:p>
            <a:pPr indent="0" marL="0">
              <a:buNone/>
            </a:pPr>
            <a:r>
              <a:rPr lang="en-US" sz="1200" dirty="0">
                <a:solidFill>
                  <a:srgbClr val="C0392B"/>
                </a:solidFill>
                <a:latin typeface="Consolas" pitchFamily="34" charset="0"/>
                <a:ea typeface="Consolas" pitchFamily="34" charset="-122"/>
                <a:cs typeface="Consolas" pitchFamily="34" charset="-120"/>
              </a:rPr>
              <a:t>—</a:t>
            </a:r>
            <a:endParaRPr lang="en-US" sz="1200" dirty="0"/>
          </a:p>
        </p:txBody>
      </p:sp>
      <p:sp>
        <p:nvSpPr>
          <p:cNvPr id="9" name="Text 7"/>
          <p:cNvSpPr/>
          <p:nvPr/>
        </p:nvSpPr>
        <p:spPr>
          <a:xfrm>
            <a:off x="6583680" y="1618488"/>
            <a:ext cx="5440680" cy="45720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Convert source data to a consistent time scale (e.g. days → months)</a:t>
            </a:r>
            <a:endParaRPr lang="en-US" sz="1200" dirty="0"/>
          </a:p>
        </p:txBody>
      </p:sp>
      <p:sp>
        <p:nvSpPr>
          <p:cNvPr id="10" name="Shape 8"/>
          <p:cNvSpPr/>
          <p:nvPr/>
        </p:nvSpPr>
        <p:spPr>
          <a:xfrm>
            <a:off x="1143000" y="2084832"/>
            <a:ext cx="10515600" cy="0"/>
          </a:xfrm>
          <a:prstGeom prst="line">
            <a:avLst/>
          </a:prstGeom>
          <a:noFill/>
          <a:ln w="6350">
            <a:solidFill>
              <a:srgbClr val="C9D3DD"/>
            </a:solidFill>
            <a:prstDash val="solid"/>
          </a:ln>
        </p:spPr>
      </p:sp>
      <p:sp>
        <p:nvSpPr>
          <p:cNvPr id="11" name="Shape 9"/>
          <p:cNvSpPr/>
          <p:nvPr/>
        </p:nvSpPr>
        <p:spPr>
          <a:xfrm>
            <a:off x="548640" y="2121408"/>
            <a:ext cx="502920" cy="502920"/>
          </a:xfrm>
          <a:prstGeom prst="ellipse">
            <a:avLst/>
          </a:prstGeom>
          <a:solidFill>
            <a:srgbClr val="065A82"/>
          </a:solidFill>
          <a:ln w="12700">
            <a:solidFill>
              <a:srgbClr val="065A82"/>
            </a:solidFill>
            <a:prstDash val="solid"/>
          </a:ln>
        </p:spPr>
      </p:sp>
      <p:sp>
        <p:nvSpPr>
          <p:cNvPr id="12" name="Text 10"/>
          <p:cNvSpPr/>
          <p:nvPr/>
        </p:nvSpPr>
        <p:spPr>
          <a:xfrm>
            <a:off x="548640" y="212140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p:nvPr/>
        </p:nvSpPr>
        <p:spPr>
          <a:xfrm>
            <a:off x="1188720" y="2130552"/>
            <a:ext cx="2194560" cy="457200"/>
          </a:xfrm>
          <a:prstGeom prst="rect">
            <a:avLst/>
          </a:prstGeom>
          <a:noFill/>
          <a:ln/>
        </p:spPr>
        <p:txBody>
          <a:bodyPr wrap="square" lIns="0" tIns="0" rIns="0" bIns="0" rtlCol="0" anchor="ctr"/>
          <a:lstStyle/>
          <a:p>
            <a:pPr indent="0" marL="0">
              <a:buNone/>
            </a:pPr>
            <a:r>
              <a:rPr lang="en-US" sz="1400" b="1" dirty="0">
                <a:solidFill>
                  <a:srgbClr val="0C2344"/>
                </a:solidFill>
                <a:latin typeface="Calibri" pitchFamily="34" charset="0"/>
                <a:ea typeface="Calibri" pitchFamily="34" charset="-122"/>
                <a:cs typeface="Calibri" pitchFamily="34" charset="-120"/>
              </a:rPr>
              <a:t>Build the DGM</a:t>
            </a:r>
            <a:endParaRPr lang="en-US" sz="1400" dirty="0"/>
          </a:p>
        </p:txBody>
      </p:sp>
      <p:sp>
        <p:nvSpPr>
          <p:cNvPr id="14" name="Text 12"/>
          <p:cNvSpPr/>
          <p:nvPr/>
        </p:nvSpPr>
        <p:spPr>
          <a:xfrm>
            <a:off x="3474720" y="2130552"/>
            <a:ext cx="3017520" cy="457200"/>
          </a:xfrm>
          <a:prstGeom prst="rect">
            <a:avLst/>
          </a:prstGeom>
          <a:noFill/>
          <a:ln/>
        </p:spPr>
        <p:txBody>
          <a:bodyPr wrap="square" lIns="0" tIns="0" rIns="0" bIns="0" rtlCol="0" anchor="ctr"/>
          <a:lstStyle/>
          <a:p>
            <a:pPr indent="0" marL="0">
              <a:buNone/>
            </a:pPr>
            <a:r>
              <a:rPr lang="en-US" sz="1200" dirty="0">
                <a:solidFill>
                  <a:srgbClr val="C0392B"/>
                </a:solidFill>
                <a:latin typeface="Consolas" pitchFamily="34" charset="0"/>
                <a:ea typeface="Consolas" pitchFamily="34" charset="-122"/>
                <a:cs typeface="Consolas" pitchFamily="34" charset="-120"/>
              </a:rPr>
              <a:t>generate_aft_dgm_flex()</a:t>
            </a:r>
            <a:endParaRPr lang="en-US" sz="1200" dirty="0"/>
          </a:p>
        </p:txBody>
      </p:sp>
      <p:sp>
        <p:nvSpPr>
          <p:cNvPr id="15" name="Text 13"/>
          <p:cNvSpPr/>
          <p:nvPr/>
        </p:nvSpPr>
        <p:spPr>
          <a:xfrm>
            <a:off x="6583680" y="2130552"/>
            <a:ext cx="5440680" cy="45720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Fit a Weibull AFT model; create a super-population (N = 5 000)</a:t>
            </a:r>
            <a:endParaRPr lang="en-US" sz="1200" dirty="0"/>
          </a:p>
        </p:txBody>
      </p:sp>
      <p:sp>
        <p:nvSpPr>
          <p:cNvPr id="16" name="Shape 14"/>
          <p:cNvSpPr/>
          <p:nvPr/>
        </p:nvSpPr>
        <p:spPr>
          <a:xfrm>
            <a:off x="1143000" y="2596896"/>
            <a:ext cx="10515600" cy="0"/>
          </a:xfrm>
          <a:prstGeom prst="line">
            <a:avLst/>
          </a:prstGeom>
          <a:noFill/>
          <a:ln w="6350">
            <a:solidFill>
              <a:srgbClr val="C9D3DD"/>
            </a:solidFill>
            <a:prstDash val="solid"/>
          </a:ln>
        </p:spPr>
      </p:sp>
      <p:sp>
        <p:nvSpPr>
          <p:cNvPr id="17" name="Shape 15"/>
          <p:cNvSpPr/>
          <p:nvPr/>
        </p:nvSpPr>
        <p:spPr>
          <a:xfrm>
            <a:off x="548640" y="2633472"/>
            <a:ext cx="502920" cy="502920"/>
          </a:xfrm>
          <a:prstGeom prst="ellipse">
            <a:avLst/>
          </a:prstGeom>
          <a:solidFill>
            <a:srgbClr val="065A82"/>
          </a:solidFill>
          <a:ln w="12700">
            <a:solidFill>
              <a:srgbClr val="065A82"/>
            </a:solidFill>
            <a:prstDash val="solid"/>
          </a:ln>
        </p:spPr>
      </p:sp>
      <p:sp>
        <p:nvSpPr>
          <p:cNvPr id="18" name="Text 16"/>
          <p:cNvSpPr/>
          <p:nvPr/>
        </p:nvSpPr>
        <p:spPr>
          <a:xfrm>
            <a:off x="548640" y="263347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9" name="Text 17"/>
          <p:cNvSpPr/>
          <p:nvPr/>
        </p:nvSpPr>
        <p:spPr>
          <a:xfrm>
            <a:off x="1188720" y="2642616"/>
            <a:ext cx="2194560" cy="457200"/>
          </a:xfrm>
          <a:prstGeom prst="rect">
            <a:avLst/>
          </a:prstGeom>
          <a:noFill/>
          <a:ln/>
        </p:spPr>
        <p:txBody>
          <a:bodyPr wrap="square" lIns="0" tIns="0" rIns="0" bIns="0" rtlCol="0" anchor="ctr"/>
          <a:lstStyle/>
          <a:p>
            <a:pPr indent="0" marL="0">
              <a:buNone/>
            </a:pPr>
            <a:r>
              <a:rPr lang="en-US" sz="1400" b="1" dirty="0">
                <a:solidFill>
                  <a:srgbClr val="0C2344"/>
                </a:solidFill>
                <a:latin typeface="Calibri" pitchFamily="34" charset="0"/>
                <a:ea typeface="Calibri" pitchFamily="34" charset="-122"/>
                <a:cs typeface="Calibri" pitchFamily="34" charset="-120"/>
              </a:rPr>
              <a:t>Diagnose censoring</a:t>
            </a:r>
            <a:endParaRPr lang="en-US" sz="1400" dirty="0"/>
          </a:p>
        </p:txBody>
      </p:sp>
      <p:sp>
        <p:nvSpPr>
          <p:cNvPr id="20" name="Text 18"/>
          <p:cNvSpPr/>
          <p:nvPr/>
        </p:nvSpPr>
        <p:spPr>
          <a:xfrm>
            <a:off x="3474720" y="2642616"/>
            <a:ext cx="3017520" cy="457200"/>
          </a:xfrm>
          <a:prstGeom prst="rect">
            <a:avLst/>
          </a:prstGeom>
          <a:noFill/>
          <a:ln/>
        </p:spPr>
        <p:txBody>
          <a:bodyPr wrap="square" lIns="0" tIns="0" rIns="0" bIns="0" rtlCol="0" anchor="ctr"/>
          <a:lstStyle/>
          <a:p>
            <a:pPr indent="0" marL="0">
              <a:buNone/>
            </a:pPr>
            <a:r>
              <a:rPr lang="en-US" sz="1200" dirty="0">
                <a:solidFill>
                  <a:srgbClr val="C0392B"/>
                </a:solidFill>
                <a:latin typeface="Consolas" pitchFamily="34" charset="0"/>
                <a:ea typeface="Consolas" pitchFamily="34" charset="-122"/>
                <a:cs typeface="Consolas" pitchFamily="34" charset="-120"/>
              </a:rPr>
              <a:t>check_censoring_dgm()</a:t>
            </a:r>
            <a:endParaRPr lang="en-US" sz="1200" dirty="0"/>
          </a:p>
        </p:txBody>
      </p:sp>
      <p:sp>
        <p:nvSpPr>
          <p:cNvPr id="21" name="Text 19"/>
          <p:cNvSpPr/>
          <p:nvPr/>
        </p:nvSpPr>
        <p:spPr>
          <a:xfrm>
            <a:off x="6583680" y="2642616"/>
            <a:ext cx="5440680" cy="45720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Compare simulated vs. observed censoring rate and KM median</a:t>
            </a:r>
            <a:endParaRPr lang="en-US" sz="1200" dirty="0"/>
          </a:p>
        </p:txBody>
      </p:sp>
      <p:sp>
        <p:nvSpPr>
          <p:cNvPr id="22" name="Shape 20"/>
          <p:cNvSpPr/>
          <p:nvPr/>
        </p:nvSpPr>
        <p:spPr>
          <a:xfrm>
            <a:off x="1143000" y="3108960"/>
            <a:ext cx="10515600" cy="0"/>
          </a:xfrm>
          <a:prstGeom prst="line">
            <a:avLst/>
          </a:prstGeom>
          <a:noFill/>
          <a:ln w="6350">
            <a:solidFill>
              <a:srgbClr val="C9D3DD"/>
            </a:solidFill>
            <a:prstDash val="solid"/>
          </a:ln>
        </p:spPr>
      </p:sp>
      <p:sp>
        <p:nvSpPr>
          <p:cNvPr id="23" name="Shape 21"/>
          <p:cNvSpPr/>
          <p:nvPr/>
        </p:nvSpPr>
        <p:spPr>
          <a:xfrm>
            <a:off x="548640" y="3145536"/>
            <a:ext cx="502920" cy="502920"/>
          </a:xfrm>
          <a:prstGeom prst="ellipse">
            <a:avLst/>
          </a:prstGeom>
          <a:solidFill>
            <a:srgbClr val="065A82"/>
          </a:solidFill>
          <a:ln w="12700">
            <a:solidFill>
              <a:srgbClr val="065A82"/>
            </a:solidFill>
            <a:prstDash val="solid"/>
          </a:ln>
        </p:spPr>
      </p:sp>
      <p:sp>
        <p:nvSpPr>
          <p:cNvPr id="24" name="Text 22"/>
          <p:cNvSpPr/>
          <p:nvPr/>
        </p:nvSpPr>
        <p:spPr>
          <a:xfrm>
            <a:off x="548640" y="3145536"/>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5" name="Text 23"/>
          <p:cNvSpPr/>
          <p:nvPr/>
        </p:nvSpPr>
        <p:spPr>
          <a:xfrm>
            <a:off x="1188720" y="3154680"/>
            <a:ext cx="2194560" cy="457200"/>
          </a:xfrm>
          <a:prstGeom prst="rect">
            <a:avLst/>
          </a:prstGeom>
          <a:noFill/>
          <a:ln/>
        </p:spPr>
        <p:txBody>
          <a:bodyPr wrap="square" lIns="0" tIns="0" rIns="0" bIns="0" rtlCol="0" anchor="ctr"/>
          <a:lstStyle/>
          <a:p>
            <a:pPr indent="0" marL="0">
              <a:buNone/>
            </a:pPr>
            <a:r>
              <a:rPr lang="en-US" sz="1400" b="1" dirty="0">
                <a:solidFill>
                  <a:srgbClr val="0C2344"/>
                </a:solidFill>
                <a:latin typeface="Calibri" pitchFamily="34" charset="0"/>
                <a:ea typeface="Calibri" pitchFamily="34" charset="-122"/>
                <a:cs typeface="Calibri" pitchFamily="34" charset="-120"/>
              </a:rPr>
              <a:t>Calibrate censoring</a:t>
            </a:r>
            <a:endParaRPr lang="en-US" sz="1400" dirty="0"/>
          </a:p>
        </p:txBody>
      </p:sp>
      <p:sp>
        <p:nvSpPr>
          <p:cNvPr id="26" name="Text 24"/>
          <p:cNvSpPr/>
          <p:nvPr/>
        </p:nvSpPr>
        <p:spPr>
          <a:xfrm>
            <a:off x="3474720" y="3154680"/>
            <a:ext cx="3017520" cy="457200"/>
          </a:xfrm>
          <a:prstGeom prst="rect">
            <a:avLst/>
          </a:prstGeom>
          <a:noFill/>
          <a:ln/>
        </p:spPr>
        <p:txBody>
          <a:bodyPr wrap="square" lIns="0" tIns="0" rIns="0" bIns="0" rtlCol="0" anchor="ctr"/>
          <a:lstStyle/>
          <a:p>
            <a:pPr indent="0" marL="0">
              <a:buNone/>
            </a:pPr>
            <a:r>
              <a:rPr lang="en-US" sz="1200" dirty="0">
                <a:solidFill>
                  <a:srgbClr val="C0392B"/>
                </a:solidFill>
                <a:latin typeface="Consolas" pitchFamily="34" charset="0"/>
                <a:ea typeface="Consolas" pitchFamily="34" charset="-122"/>
                <a:cs typeface="Consolas" pitchFamily="34" charset="-120"/>
              </a:rPr>
              <a:t>calibrate_cens_adjust()</a:t>
            </a:r>
            <a:endParaRPr lang="en-US" sz="1200" dirty="0"/>
          </a:p>
        </p:txBody>
      </p:sp>
      <p:sp>
        <p:nvSpPr>
          <p:cNvPr id="27" name="Text 25"/>
          <p:cNvSpPr/>
          <p:nvPr/>
        </p:nvSpPr>
        <p:spPr>
          <a:xfrm>
            <a:off x="6583680" y="3154680"/>
            <a:ext cx="5440680" cy="45720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Find a log-scale shift so simulated censoring matches the trial</a:t>
            </a:r>
            <a:endParaRPr lang="en-US" sz="1200" dirty="0"/>
          </a:p>
        </p:txBody>
      </p:sp>
      <p:sp>
        <p:nvSpPr>
          <p:cNvPr id="28" name="Shape 26"/>
          <p:cNvSpPr/>
          <p:nvPr/>
        </p:nvSpPr>
        <p:spPr>
          <a:xfrm>
            <a:off x="1143000" y="3621024"/>
            <a:ext cx="10515600" cy="0"/>
          </a:xfrm>
          <a:prstGeom prst="line">
            <a:avLst/>
          </a:prstGeom>
          <a:noFill/>
          <a:ln w="6350">
            <a:solidFill>
              <a:srgbClr val="C9D3DD"/>
            </a:solidFill>
            <a:prstDash val="solid"/>
          </a:ln>
        </p:spPr>
      </p:sp>
      <p:sp>
        <p:nvSpPr>
          <p:cNvPr id="29" name="Shape 27"/>
          <p:cNvSpPr/>
          <p:nvPr/>
        </p:nvSpPr>
        <p:spPr>
          <a:xfrm>
            <a:off x="548640" y="3657600"/>
            <a:ext cx="502920" cy="502920"/>
          </a:xfrm>
          <a:prstGeom prst="ellipse">
            <a:avLst/>
          </a:prstGeom>
          <a:solidFill>
            <a:srgbClr val="1C7293"/>
          </a:solidFill>
          <a:ln w="12700">
            <a:solidFill>
              <a:srgbClr val="1C7293"/>
            </a:solidFill>
            <a:prstDash val="solid"/>
          </a:ln>
        </p:spPr>
      </p:sp>
      <p:sp>
        <p:nvSpPr>
          <p:cNvPr id="30" name="Text 28"/>
          <p:cNvSpPr/>
          <p:nvPr/>
        </p:nvSpPr>
        <p:spPr>
          <a:xfrm>
            <a:off x="548640" y="36576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31" name="Text 29"/>
          <p:cNvSpPr/>
          <p:nvPr/>
        </p:nvSpPr>
        <p:spPr>
          <a:xfrm>
            <a:off x="1188720" y="3666744"/>
            <a:ext cx="2194560" cy="457200"/>
          </a:xfrm>
          <a:prstGeom prst="rect">
            <a:avLst/>
          </a:prstGeom>
          <a:noFill/>
          <a:ln/>
        </p:spPr>
        <p:txBody>
          <a:bodyPr wrap="square" lIns="0" tIns="0" rIns="0" bIns="0" rtlCol="0" anchor="ctr"/>
          <a:lstStyle/>
          <a:p>
            <a:pPr indent="0" marL="0">
              <a:buNone/>
            </a:pPr>
            <a:r>
              <a:rPr lang="en-US" sz="1400" b="1" dirty="0">
                <a:solidFill>
                  <a:srgbClr val="0C2344"/>
                </a:solidFill>
                <a:latin typeface="Calibri" pitchFamily="34" charset="0"/>
                <a:ea typeface="Calibri" pitchFamily="34" charset="-122"/>
                <a:cs typeface="Calibri" pitchFamily="34" charset="-120"/>
              </a:rPr>
              <a:t>Simulate trials</a:t>
            </a:r>
            <a:endParaRPr lang="en-US" sz="1400" dirty="0"/>
          </a:p>
        </p:txBody>
      </p:sp>
      <p:sp>
        <p:nvSpPr>
          <p:cNvPr id="32" name="Text 30"/>
          <p:cNvSpPr/>
          <p:nvPr/>
        </p:nvSpPr>
        <p:spPr>
          <a:xfrm>
            <a:off x="3474720" y="3666744"/>
            <a:ext cx="3017520" cy="457200"/>
          </a:xfrm>
          <a:prstGeom prst="rect">
            <a:avLst/>
          </a:prstGeom>
          <a:noFill/>
          <a:ln/>
        </p:spPr>
        <p:txBody>
          <a:bodyPr wrap="square" lIns="0" tIns="0" rIns="0" bIns="0" rtlCol="0" anchor="ctr"/>
          <a:lstStyle/>
          <a:p>
            <a:pPr indent="0" marL="0">
              <a:buNone/>
            </a:pPr>
            <a:r>
              <a:rPr lang="en-US" sz="1200" dirty="0">
                <a:solidFill>
                  <a:srgbClr val="C0392B"/>
                </a:solidFill>
                <a:latin typeface="Consolas" pitchFamily="34" charset="0"/>
                <a:ea typeface="Consolas" pitchFamily="34" charset="-122"/>
                <a:cs typeface="Consolas" pitchFamily="34" charset="-120"/>
              </a:rPr>
              <a:t>simulate_from_dgm()</a:t>
            </a:r>
            <a:endParaRPr lang="en-US" sz="1200" dirty="0"/>
          </a:p>
        </p:txBody>
      </p:sp>
      <p:sp>
        <p:nvSpPr>
          <p:cNvPr id="33" name="Text 31"/>
          <p:cNvSpPr/>
          <p:nvPr/>
        </p:nvSpPr>
        <p:spPr>
          <a:xfrm>
            <a:off x="6583680" y="3666744"/>
            <a:ext cx="5440680" cy="45720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Draw synthetic RCTs from the calibrated DGM (one call per trial)</a:t>
            </a:r>
            <a:endParaRPr lang="en-US" sz="1200" dirty="0"/>
          </a:p>
        </p:txBody>
      </p:sp>
      <p:sp>
        <p:nvSpPr>
          <p:cNvPr id="34" name="Shape 32"/>
          <p:cNvSpPr/>
          <p:nvPr/>
        </p:nvSpPr>
        <p:spPr>
          <a:xfrm>
            <a:off x="1143000" y="4133088"/>
            <a:ext cx="10515600" cy="0"/>
          </a:xfrm>
          <a:prstGeom prst="line">
            <a:avLst/>
          </a:prstGeom>
          <a:noFill/>
          <a:ln w="6350">
            <a:solidFill>
              <a:srgbClr val="C9D3DD"/>
            </a:solidFill>
            <a:prstDash val="solid"/>
          </a:ln>
        </p:spPr>
      </p:sp>
      <p:sp>
        <p:nvSpPr>
          <p:cNvPr id="35" name="Shape 33"/>
          <p:cNvSpPr/>
          <p:nvPr/>
        </p:nvSpPr>
        <p:spPr>
          <a:xfrm>
            <a:off x="548640" y="4169664"/>
            <a:ext cx="502920" cy="502920"/>
          </a:xfrm>
          <a:prstGeom prst="ellipse">
            <a:avLst/>
          </a:prstGeom>
          <a:solidFill>
            <a:srgbClr val="1C7293"/>
          </a:solidFill>
          <a:ln w="12700">
            <a:solidFill>
              <a:srgbClr val="1C7293"/>
            </a:solidFill>
            <a:prstDash val="solid"/>
          </a:ln>
        </p:spPr>
      </p:sp>
      <p:sp>
        <p:nvSpPr>
          <p:cNvPr id="36" name="Text 34"/>
          <p:cNvSpPr/>
          <p:nvPr/>
        </p:nvSpPr>
        <p:spPr>
          <a:xfrm>
            <a:off x="548640" y="4169664"/>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37" name="Text 35"/>
          <p:cNvSpPr/>
          <p:nvPr/>
        </p:nvSpPr>
        <p:spPr>
          <a:xfrm>
            <a:off x="1188720" y="4178808"/>
            <a:ext cx="2194560" cy="457200"/>
          </a:xfrm>
          <a:prstGeom prst="rect">
            <a:avLst/>
          </a:prstGeom>
          <a:noFill/>
          <a:ln/>
        </p:spPr>
        <p:txBody>
          <a:bodyPr wrap="square" lIns="0" tIns="0" rIns="0" bIns="0" rtlCol="0" anchor="ctr"/>
          <a:lstStyle/>
          <a:p>
            <a:pPr indent="0" marL="0">
              <a:buNone/>
            </a:pPr>
            <a:r>
              <a:rPr lang="en-US" sz="1400" b="1" dirty="0">
                <a:solidFill>
                  <a:srgbClr val="0C2344"/>
                </a:solidFill>
                <a:latin typeface="Calibri" pitchFamily="34" charset="0"/>
                <a:ea typeface="Calibri" pitchFamily="34" charset="-122"/>
                <a:cs typeface="Calibri" pitchFamily="34" charset="-120"/>
              </a:rPr>
              <a:t>Fit Cox in subgroups</a:t>
            </a:r>
            <a:endParaRPr lang="en-US" sz="1400" dirty="0"/>
          </a:p>
        </p:txBody>
      </p:sp>
      <p:sp>
        <p:nvSpPr>
          <p:cNvPr id="38" name="Text 36"/>
          <p:cNvSpPr/>
          <p:nvPr/>
        </p:nvSpPr>
        <p:spPr>
          <a:xfrm>
            <a:off x="3474720" y="4178808"/>
            <a:ext cx="3017520" cy="457200"/>
          </a:xfrm>
          <a:prstGeom prst="rect">
            <a:avLst/>
          </a:prstGeom>
          <a:noFill/>
          <a:ln/>
        </p:spPr>
        <p:txBody>
          <a:bodyPr wrap="square" lIns="0" tIns="0" rIns="0" bIns="0" rtlCol="0" anchor="ctr"/>
          <a:lstStyle/>
          <a:p>
            <a:pPr indent="0" marL="0">
              <a:buNone/>
            </a:pPr>
            <a:r>
              <a:rPr lang="en-US" sz="1200" dirty="0">
                <a:solidFill>
                  <a:srgbClr val="C0392B"/>
                </a:solidFill>
                <a:latin typeface="Consolas" pitchFamily="34" charset="0"/>
                <a:ea typeface="Consolas" pitchFamily="34" charset="-122"/>
                <a:cs typeface="Consolas" pitchFamily="34" charset="-120"/>
              </a:rPr>
              <a:t>coxph()  (stratified)</a:t>
            </a:r>
            <a:endParaRPr lang="en-US" sz="1200" dirty="0"/>
          </a:p>
        </p:txBody>
      </p:sp>
      <p:sp>
        <p:nvSpPr>
          <p:cNvPr id="39" name="Text 37"/>
          <p:cNvSpPr/>
          <p:nvPr/>
        </p:nvSpPr>
        <p:spPr>
          <a:xfrm>
            <a:off x="6583680" y="4178808"/>
            <a:ext cx="5440680" cy="45720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For each pre-defined subgroup, store HR point estimate and UB(HR)</a:t>
            </a:r>
            <a:endParaRPr lang="en-US" sz="1200" dirty="0"/>
          </a:p>
        </p:txBody>
      </p:sp>
      <p:sp>
        <p:nvSpPr>
          <p:cNvPr id="40" name="Shape 38"/>
          <p:cNvSpPr/>
          <p:nvPr/>
        </p:nvSpPr>
        <p:spPr>
          <a:xfrm>
            <a:off x="1143000" y="4645152"/>
            <a:ext cx="10515600" cy="0"/>
          </a:xfrm>
          <a:prstGeom prst="line">
            <a:avLst/>
          </a:prstGeom>
          <a:noFill/>
          <a:ln w="6350">
            <a:solidFill>
              <a:srgbClr val="C9D3DD"/>
            </a:solidFill>
            <a:prstDash val="solid"/>
          </a:ln>
        </p:spPr>
      </p:sp>
      <p:sp>
        <p:nvSpPr>
          <p:cNvPr id="41" name="Shape 39"/>
          <p:cNvSpPr/>
          <p:nvPr/>
        </p:nvSpPr>
        <p:spPr>
          <a:xfrm>
            <a:off x="548640" y="4681728"/>
            <a:ext cx="502920" cy="502920"/>
          </a:xfrm>
          <a:prstGeom prst="ellipse">
            <a:avLst/>
          </a:prstGeom>
          <a:solidFill>
            <a:srgbClr val="1C7293"/>
          </a:solidFill>
          <a:ln w="12700">
            <a:solidFill>
              <a:srgbClr val="1C7293"/>
            </a:solidFill>
            <a:prstDash val="solid"/>
          </a:ln>
        </p:spPr>
      </p:sp>
      <p:sp>
        <p:nvSpPr>
          <p:cNvPr id="42" name="Text 40"/>
          <p:cNvSpPr/>
          <p:nvPr/>
        </p:nvSpPr>
        <p:spPr>
          <a:xfrm>
            <a:off x="548640" y="468172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7</a:t>
            </a:r>
            <a:endParaRPr lang="en-US" sz="2000" dirty="0"/>
          </a:p>
        </p:txBody>
      </p:sp>
      <p:sp>
        <p:nvSpPr>
          <p:cNvPr id="43" name="Text 41"/>
          <p:cNvSpPr/>
          <p:nvPr/>
        </p:nvSpPr>
        <p:spPr>
          <a:xfrm>
            <a:off x="1188720" y="4690872"/>
            <a:ext cx="2194560" cy="457200"/>
          </a:xfrm>
          <a:prstGeom prst="rect">
            <a:avLst/>
          </a:prstGeom>
          <a:noFill/>
          <a:ln/>
        </p:spPr>
        <p:txBody>
          <a:bodyPr wrap="square" lIns="0" tIns="0" rIns="0" bIns="0" rtlCol="0" anchor="ctr"/>
          <a:lstStyle/>
          <a:p>
            <a:pPr indent="0" marL="0">
              <a:buNone/>
            </a:pPr>
            <a:r>
              <a:rPr lang="en-US" sz="1400" b="1" dirty="0">
                <a:solidFill>
                  <a:srgbClr val="0C2344"/>
                </a:solidFill>
                <a:latin typeface="Calibri" pitchFamily="34" charset="0"/>
                <a:ea typeface="Calibri" pitchFamily="34" charset="-122"/>
                <a:cs typeface="Calibri" pitchFamily="34" charset="-120"/>
              </a:rPr>
              <a:t>Summarise</a:t>
            </a:r>
            <a:endParaRPr lang="en-US" sz="1400" dirty="0"/>
          </a:p>
        </p:txBody>
      </p:sp>
      <p:sp>
        <p:nvSpPr>
          <p:cNvPr id="44" name="Text 42"/>
          <p:cNvSpPr/>
          <p:nvPr/>
        </p:nvSpPr>
        <p:spPr>
          <a:xfrm>
            <a:off x="3474720" y="4690872"/>
            <a:ext cx="3017520" cy="457200"/>
          </a:xfrm>
          <a:prstGeom prst="rect">
            <a:avLst/>
          </a:prstGeom>
          <a:noFill/>
          <a:ln/>
        </p:spPr>
        <p:txBody>
          <a:bodyPr wrap="square" lIns="0" tIns="0" rIns="0" bIns="0" rtlCol="0" anchor="ctr"/>
          <a:lstStyle/>
          <a:p>
            <a:pPr indent="0" marL="0">
              <a:buNone/>
            </a:pPr>
            <a:r>
              <a:rPr lang="en-US" sz="1200" dirty="0">
                <a:solidFill>
                  <a:srgbClr val="C0392B"/>
                </a:solidFill>
                <a:latin typeface="Consolas" pitchFamily="34" charset="0"/>
                <a:ea typeface="Consolas" pitchFamily="34" charset="-122"/>
                <a:cs typeface="Consolas" pitchFamily="34" charset="-120"/>
              </a:rPr>
              <a:t>summarize_extreme_sims()</a:t>
            </a:r>
            <a:endParaRPr lang="en-US" sz="1200" dirty="0"/>
          </a:p>
        </p:txBody>
      </p:sp>
      <p:sp>
        <p:nvSpPr>
          <p:cNvPr id="45" name="Text 43"/>
          <p:cNvSpPr/>
          <p:nvPr/>
        </p:nvSpPr>
        <p:spPr>
          <a:xfrm>
            <a:off x="6583680" y="4690872"/>
            <a:ext cx="5440680" cy="45720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Empirical 99 % CI (ECI), Pr(UB ≥ 1), conditional UB quantiles</a:t>
            </a:r>
            <a:endParaRPr lang="en-US" sz="1200" dirty="0"/>
          </a:p>
        </p:txBody>
      </p:sp>
      <p:sp>
        <p:nvSpPr>
          <p:cNvPr id="46" name="Shape 44"/>
          <p:cNvSpPr/>
          <p:nvPr/>
        </p:nvSpPr>
        <p:spPr>
          <a:xfrm>
            <a:off x="1143000" y="5157216"/>
            <a:ext cx="10515600" cy="0"/>
          </a:xfrm>
          <a:prstGeom prst="line">
            <a:avLst/>
          </a:prstGeom>
          <a:noFill/>
          <a:ln w="6350">
            <a:solidFill>
              <a:srgbClr val="C9D3DD"/>
            </a:solidFill>
            <a:prstDash val="solid"/>
          </a:ln>
        </p:spPr>
      </p:sp>
      <p:sp>
        <p:nvSpPr>
          <p:cNvPr id="47" name="Shape 45"/>
          <p:cNvSpPr/>
          <p:nvPr/>
        </p:nvSpPr>
        <p:spPr>
          <a:xfrm>
            <a:off x="548640" y="5193792"/>
            <a:ext cx="502920" cy="502920"/>
          </a:xfrm>
          <a:prstGeom prst="ellipse">
            <a:avLst/>
          </a:prstGeom>
          <a:solidFill>
            <a:srgbClr val="1C7293"/>
          </a:solidFill>
          <a:ln w="12700">
            <a:solidFill>
              <a:srgbClr val="1C7293"/>
            </a:solidFill>
            <a:prstDash val="solid"/>
          </a:ln>
        </p:spPr>
      </p:sp>
      <p:sp>
        <p:nvSpPr>
          <p:cNvPr id="48" name="Text 46"/>
          <p:cNvSpPr/>
          <p:nvPr/>
        </p:nvSpPr>
        <p:spPr>
          <a:xfrm>
            <a:off x="548640" y="519379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8</a:t>
            </a:r>
            <a:endParaRPr lang="en-US" sz="2000" dirty="0"/>
          </a:p>
        </p:txBody>
      </p:sp>
      <p:sp>
        <p:nvSpPr>
          <p:cNvPr id="49" name="Text 47"/>
          <p:cNvSpPr/>
          <p:nvPr/>
        </p:nvSpPr>
        <p:spPr>
          <a:xfrm>
            <a:off x="1188720" y="5202936"/>
            <a:ext cx="2194560" cy="457200"/>
          </a:xfrm>
          <a:prstGeom prst="rect">
            <a:avLst/>
          </a:prstGeom>
          <a:noFill/>
          <a:ln/>
        </p:spPr>
        <p:txBody>
          <a:bodyPr wrap="square" lIns="0" tIns="0" rIns="0" bIns="0" rtlCol="0" anchor="ctr"/>
          <a:lstStyle/>
          <a:p>
            <a:pPr indent="0" marL="0">
              <a:buNone/>
            </a:pPr>
            <a:r>
              <a:rPr lang="en-US" sz="1400" b="1" dirty="0">
                <a:solidFill>
                  <a:srgbClr val="0C2344"/>
                </a:solidFill>
                <a:latin typeface="Calibri" pitchFamily="34" charset="0"/>
                <a:ea typeface="Calibri" pitchFamily="34" charset="-122"/>
                <a:cs typeface="Calibri" pitchFamily="34" charset="-120"/>
              </a:rPr>
              <a:t>Visualise</a:t>
            </a:r>
            <a:endParaRPr lang="en-US" sz="1400" dirty="0"/>
          </a:p>
        </p:txBody>
      </p:sp>
      <p:sp>
        <p:nvSpPr>
          <p:cNvPr id="50" name="Text 48"/>
          <p:cNvSpPr/>
          <p:nvPr/>
        </p:nvSpPr>
        <p:spPr>
          <a:xfrm>
            <a:off x="3474720" y="5202936"/>
            <a:ext cx="3017520" cy="457200"/>
          </a:xfrm>
          <a:prstGeom prst="rect">
            <a:avLst/>
          </a:prstGeom>
          <a:noFill/>
          <a:ln/>
        </p:spPr>
        <p:txBody>
          <a:bodyPr wrap="square" lIns="0" tIns="0" rIns="0" bIns="0" rtlCol="0" anchor="ctr"/>
          <a:lstStyle/>
          <a:p>
            <a:pPr indent="0" marL="0">
              <a:buNone/>
            </a:pPr>
            <a:r>
              <a:rPr lang="en-US" sz="1200" dirty="0">
                <a:solidFill>
                  <a:srgbClr val="C0392B"/>
                </a:solidFill>
                <a:latin typeface="Consolas" pitchFamily="34" charset="0"/>
                <a:ea typeface="Consolas" pitchFamily="34" charset="-122"/>
                <a:cs typeface="Consolas" pitchFamily="34" charset="-120"/>
              </a:rPr>
              <a:t>plot_hr_forest() / plot_ub_forest()</a:t>
            </a:r>
            <a:endParaRPr lang="en-US" sz="1200" dirty="0"/>
          </a:p>
        </p:txBody>
      </p:sp>
      <p:sp>
        <p:nvSpPr>
          <p:cNvPr id="51" name="Text 49"/>
          <p:cNvSpPr/>
          <p:nvPr/>
        </p:nvSpPr>
        <p:spPr>
          <a:xfrm>
            <a:off x="6583680" y="5202936"/>
            <a:ext cx="5440680" cy="45720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Forest plots with random-benchmark anchors by subgroup size</a:t>
            </a:r>
            <a:endParaRPr lang="en-US" sz="1200" dirty="0"/>
          </a:p>
        </p:txBody>
      </p:sp>
      <p:sp>
        <p:nvSpPr>
          <p:cNvPr id="52" name="Text 50"/>
          <p:cNvSpPr/>
          <p:nvPr/>
        </p:nvSpPr>
        <p:spPr>
          <a:xfrm>
            <a:off x="1188720" y="1307592"/>
            <a:ext cx="2194560" cy="256032"/>
          </a:xfrm>
          <a:prstGeom prst="rect">
            <a:avLst/>
          </a:prstGeom>
          <a:noFill/>
          <a:ln/>
        </p:spPr>
        <p:txBody>
          <a:bodyPr wrap="square" lIns="0" tIns="0" rIns="0" bIns="0" rtlCol="0" anchor="ctr"/>
          <a:lstStyle/>
          <a:p>
            <a:pPr indent="0" marL="0">
              <a:buNone/>
            </a:pPr>
            <a:r>
              <a:rPr lang="en-US" sz="1000" b="1" spc="400" kern="0" dirty="0">
                <a:solidFill>
                  <a:srgbClr val="5C6F83"/>
                </a:solidFill>
                <a:latin typeface="Calibri" pitchFamily="34" charset="0"/>
                <a:ea typeface="Calibri" pitchFamily="34" charset="-122"/>
                <a:cs typeface="Calibri" pitchFamily="34" charset="-120"/>
              </a:rPr>
              <a:t>Step</a:t>
            </a:r>
            <a:endParaRPr lang="en-US" sz="1000" dirty="0"/>
          </a:p>
        </p:txBody>
      </p:sp>
      <p:sp>
        <p:nvSpPr>
          <p:cNvPr id="53" name="Text 51"/>
          <p:cNvSpPr/>
          <p:nvPr/>
        </p:nvSpPr>
        <p:spPr>
          <a:xfrm>
            <a:off x="3474720" y="1307592"/>
            <a:ext cx="3017520" cy="256032"/>
          </a:xfrm>
          <a:prstGeom prst="rect">
            <a:avLst/>
          </a:prstGeom>
          <a:noFill/>
          <a:ln/>
        </p:spPr>
        <p:txBody>
          <a:bodyPr wrap="square" lIns="0" tIns="0" rIns="0" bIns="0" rtlCol="0" anchor="ctr"/>
          <a:lstStyle/>
          <a:p>
            <a:pPr indent="0" marL="0">
              <a:buNone/>
            </a:pPr>
            <a:r>
              <a:rPr lang="en-US" sz="1000" b="1" spc="400" kern="0" dirty="0">
                <a:solidFill>
                  <a:srgbClr val="5C6F83"/>
                </a:solidFill>
                <a:latin typeface="Calibri" pitchFamily="34" charset="0"/>
                <a:ea typeface="Calibri" pitchFamily="34" charset="-122"/>
                <a:cs typeface="Calibri" pitchFamily="34" charset="-120"/>
              </a:rPr>
              <a:t>Function</a:t>
            </a:r>
            <a:endParaRPr lang="en-US" sz="1000" dirty="0"/>
          </a:p>
        </p:txBody>
      </p:sp>
      <p:sp>
        <p:nvSpPr>
          <p:cNvPr id="54" name="Text 52"/>
          <p:cNvSpPr/>
          <p:nvPr/>
        </p:nvSpPr>
        <p:spPr>
          <a:xfrm>
            <a:off x="6583680" y="1307592"/>
            <a:ext cx="5440680" cy="256032"/>
          </a:xfrm>
          <a:prstGeom prst="rect">
            <a:avLst/>
          </a:prstGeom>
          <a:noFill/>
          <a:ln/>
        </p:spPr>
        <p:txBody>
          <a:bodyPr wrap="square" lIns="0" tIns="0" rIns="0" bIns="0" rtlCol="0" anchor="ctr"/>
          <a:lstStyle/>
          <a:p>
            <a:pPr indent="0" marL="0">
              <a:buNone/>
            </a:pPr>
            <a:r>
              <a:rPr lang="en-US" sz="1000" b="1" spc="400" kern="0" dirty="0">
                <a:solidFill>
                  <a:srgbClr val="5C6F83"/>
                </a:solidFill>
                <a:latin typeface="Calibri" pitchFamily="34" charset="0"/>
                <a:ea typeface="Calibri" pitchFamily="34" charset="-122"/>
                <a:cs typeface="Calibri" pitchFamily="34" charset="-120"/>
              </a:rPr>
              <a:t>Purpose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65A82"/>
          </a:solidFill>
          <a:ln w="12700">
            <a:solidFill>
              <a:srgbClr val="065A82"/>
            </a:solidFill>
            <a:prstDash val="solid"/>
          </a:ln>
        </p:spPr>
      </p:sp>
      <p:sp>
        <p:nvSpPr>
          <p:cNvPr id="3" name="Text 1"/>
          <p:cNvSpPr/>
          <p:nvPr/>
        </p:nvSpPr>
        <p:spPr>
          <a:xfrm>
            <a:off x="502920" y="320040"/>
            <a:ext cx="11155680" cy="292608"/>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STUDY DESIGN</a:t>
            </a:r>
            <a:endParaRPr lang="en-US" sz="1100" dirty="0"/>
          </a:p>
        </p:txBody>
      </p:sp>
      <p:sp>
        <p:nvSpPr>
          <p:cNvPr id="4" name="Text 2"/>
          <p:cNvSpPr/>
          <p:nvPr/>
        </p:nvSpPr>
        <p:spPr>
          <a:xfrm>
            <a:off x="502920" y="612648"/>
            <a:ext cx="11155680" cy="685800"/>
          </a:xfrm>
          <a:prstGeom prst="rect">
            <a:avLst/>
          </a:prstGeom>
          <a:noFill/>
          <a:ln/>
        </p:spPr>
        <p:txBody>
          <a:bodyPr wrap="square" lIns="0" tIns="0" rIns="0" bIns="0" rtlCol="0" anchor="ctr"/>
          <a:lstStyle/>
          <a:p>
            <a:pPr indent="0" marL="0">
              <a:buNone/>
            </a:pPr>
            <a:r>
              <a:rPr lang="en-US" sz="3000" b="1" dirty="0">
                <a:solidFill>
                  <a:srgbClr val="0C2344"/>
                </a:solidFill>
                <a:latin typeface="Calibri" pitchFamily="34" charset="0"/>
                <a:ea typeface="Calibri" pitchFamily="34" charset="-122"/>
                <a:cs typeface="Calibri" pitchFamily="34" charset="-120"/>
              </a:rPr>
              <a:t>Subgroups Under Study — 56 in Total</a:t>
            </a:r>
            <a:endParaRPr lang="en-US" sz="3000" dirty="0"/>
          </a:p>
        </p:txBody>
      </p:sp>
      <p:sp>
        <p:nvSpPr>
          <p:cNvPr id="5" name="Shape 3"/>
          <p:cNvSpPr/>
          <p:nvPr/>
        </p:nvSpPr>
        <p:spPr>
          <a:xfrm>
            <a:off x="502920" y="1417320"/>
            <a:ext cx="3566160" cy="1737360"/>
          </a:xfrm>
          <a:prstGeom prst="rect">
            <a:avLst/>
          </a:prstGeom>
          <a:solidFill>
            <a:srgbClr val="FFFFFF"/>
          </a:solidFill>
          <a:ln w="19050">
            <a:solidFill>
              <a:srgbClr val="0C2344"/>
            </a:solidFill>
            <a:prstDash val="solid"/>
          </a:ln>
        </p:spPr>
      </p:sp>
      <p:sp>
        <p:nvSpPr>
          <p:cNvPr id="6" name="Shape 4"/>
          <p:cNvSpPr/>
          <p:nvPr/>
        </p:nvSpPr>
        <p:spPr>
          <a:xfrm>
            <a:off x="502920" y="1417320"/>
            <a:ext cx="3566160" cy="502920"/>
          </a:xfrm>
          <a:prstGeom prst="rect">
            <a:avLst/>
          </a:prstGeom>
          <a:solidFill>
            <a:srgbClr val="0C2344"/>
          </a:solidFill>
          <a:ln w="12700">
            <a:solidFill>
              <a:srgbClr val="0C2344"/>
            </a:solidFill>
            <a:prstDash val="solid"/>
          </a:ln>
        </p:spPr>
      </p:sp>
      <p:sp>
        <p:nvSpPr>
          <p:cNvPr id="7" name="Text 5"/>
          <p:cNvSpPr/>
          <p:nvPr/>
        </p:nvSpPr>
        <p:spPr>
          <a:xfrm>
            <a:off x="685800" y="1463040"/>
            <a:ext cx="274320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ITT</a:t>
            </a:r>
            <a:endParaRPr lang="en-US" sz="1400" dirty="0"/>
          </a:p>
        </p:txBody>
      </p:sp>
      <p:sp>
        <p:nvSpPr>
          <p:cNvPr id="8" name="Text 6"/>
          <p:cNvSpPr/>
          <p:nvPr/>
        </p:nvSpPr>
        <p:spPr>
          <a:xfrm>
            <a:off x="3291840" y="1463040"/>
            <a:ext cx="640080" cy="411480"/>
          </a:xfrm>
          <a:prstGeom prst="rect">
            <a:avLst/>
          </a:prstGeom>
          <a:noFill/>
          <a:ln/>
        </p:spPr>
        <p:txBody>
          <a:bodyPr wrap="square" lIns="0" tIns="0" rIns="0" bIns="0" rtlCol="0" anchor="ctr"/>
          <a:lstStyle/>
          <a:p>
            <a:pPr algn="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685800" y="2057400"/>
            <a:ext cx="3200400" cy="100584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All Patients  (N ≈ 686)</a:t>
            </a:r>
            <a:endParaRPr lang="en-US" sz="1200" dirty="0"/>
          </a:p>
        </p:txBody>
      </p:sp>
      <p:sp>
        <p:nvSpPr>
          <p:cNvPr id="10" name="Shape 8"/>
          <p:cNvSpPr/>
          <p:nvPr/>
        </p:nvSpPr>
        <p:spPr>
          <a:xfrm>
            <a:off x="4297680" y="1417320"/>
            <a:ext cx="3566160" cy="1737360"/>
          </a:xfrm>
          <a:prstGeom prst="rect">
            <a:avLst/>
          </a:prstGeom>
          <a:solidFill>
            <a:srgbClr val="FFFFFF"/>
          </a:solidFill>
          <a:ln w="19050">
            <a:solidFill>
              <a:srgbClr val="065A82"/>
            </a:solidFill>
            <a:prstDash val="solid"/>
          </a:ln>
        </p:spPr>
      </p:sp>
      <p:sp>
        <p:nvSpPr>
          <p:cNvPr id="11" name="Shape 9"/>
          <p:cNvSpPr/>
          <p:nvPr/>
        </p:nvSpPr>
        <p:spPr>
          <a:xfrm>
            <a:off x="4297680" y="1417320"/>
            <a:ext cx="3566160" cy="502920"/>
          </a:xfrm>
          <a:prstGeom prst="rect">
            <a:avLst/>
          </a:prstGeom>
          <a:solidFill>
            <a:srgbClr val="065A82"/>
          </a:solidFill>
          <a:ln w="12700">
            <a:solidFill>
              <a:srgbClr val="065A82"/>
            </a:solidFill>
            <a:prstDash val="solid"/>
          </a:ln>
        </p:spPr>
      </p:sp>
      <p:sp>
        <p:nvSpPr>
          <p:cNvPr id="12" name="Text 10"/>
          <p:cNvSpPr/>
          <p:nvPr/>
        </p:nvSpPr>
        <p:spPr>
          <a:xfrm>
            <a:off x="4480560" y="1463040"/>
            <a:ext cx="274320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Clinical</a:t>
            </a:r>
            <a:endParaRPr lang="en-US" sz="1400" dirty="0"/>
          </a:p>
        </p:txBody>
      </p:sp>
      <p:sp>
        <p:nvSpPr>
          <p:cNvPr id="13" name="Text 11"/>
          <p:cNvSpPr/>
          <p:nvPr/>
        </p:nvSpPr>
        <p:spPr>
          <a:xfrm>
            <a:off x="7086600" y="1463040"/>
            <a:ext cx="640080" cy="411480"/>
          </a:xfrm>
          <a:prstGeom prst="rect">
            <a:avLst/>
          </a:prstGeom>
          <a:noFill/>
          <a:ln/>
        </p:spPr>
        <p:txBody>
          <a:bodyPr wrap="square" lIns="0" tIns="0" rIns="0" bIns="0" rtlCol="0" anchor="ctr"/>
          <a:lstStyle/>
          <a:p>
            <a:pPr algn="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4" name="Text 12"/>
          <p:cNvSpPr/>
          <p:nvPr/>
        </p:nvSpPr>
        <p:spPr>
          <a:xfrm>
            <a:off x="4480560" y="2057400"/>
            <a:ext cx="3200400" cy="100584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Pre-/Post-meno  ·  Grade 3  ·  Grade 1/2</a:t>
            </a:r>
            <a:endParaRPr lang="en-US" sz="1200" dirty="0"/>
          </a:p>
        </p:txBody>
      </p:sp>
      <p:sp>
        <p:nvSpPr>
          <p:cNvPr id="15" name="Shape 13"/>
          <p:cNvSpPr/>
          <p:nvPr/>
        </p:nvSpPr>
        <p:spPr>
          <a:xfrm>
            <a:off x="8092440" y="1417320"/>
            <a:ext cx="3566160" cy="1737360"/>
          </a:xfrm>
          <a:prstGeom prst="rect">
            <a:avLst/>
          </a:prstGeom>
          <a:solidFill>
            <a:srgbClr val="FFFFFF"/>
          </a:solidFill>
          <a:ln w="19050">
            <a:solidFill>
              <a:srgbClr val="1C7293"/>
            </a:solidFill>
            <a:prstDash val="solid"/>
          </a:ln>
        </p:spPr>
      </p:sp>
      <p:sp>
        <p:nvSpPr>
          <p:cNvPr id="16" name="Shape 14"/>
          <p:cNvSpPr/>
          <p:nvPr/>
        </p:nvSpPr>
        <p:spPr>
          <a:xfrm>
            <a:off x="8092440" y="1417320"/>
            <a:ext cx="3566160" cy="502920"/>
          </a:xfrm>
          <a:prstGeom prst="rect">
            <a:avLst/>
          </a:prstGeom>
          <a:solidFill>
            <a:srgbClr val="1C7293"/>
          </a:solidFill>
          <a:ln w="12700">
            <a:solidFill>
              <a:srgbClr val="1C7293"/>
            </a:solidFill>
            <a:prstDash val="solid"/>
          </a:ln>
        </p:spPr>
      </p:sp>
      <p:sp>
        <p:nvSpPr>
          <p:cNvPr id="17" name="Text 15"/>
          <p:cNvSpPr/>
          <p:nvPr/>
        </p:nvSpPr>
        <p:spPr>
          <a:xfrm>
            <a:off x="8275320" y="1463040"/>
            <a:ext cx="274320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Continuous</a:t>
            </a:r>
            <a:endParaRPr lang="en-US" sz="1400" dirty="0"/>
          </a:p>
        </p:txBody>
      </p:sp>
      <p:sp>
        <p:nvSpPr>
          <p:cNvPr id="18" name="Text 16"/>
          <p:cNvSpPr/>
          <p:nvPr/>
        </p:nvSpPr>
        <p:spPr>
          <a:xfrm>
            <a:off x="10881360" y="1463040"/>
            <a:ext cx="640080" cy="411480"/>
          </a:xfrm>
          <a:prstGeom prst="rect">
            <a:avLst/>
          </a:prstGeom>
          <a:noFill/>
          <a:ln/>
        </p:spPr>
        <p:txBody>
          <a:bodyPr wrap="square" lIns="0" tIns="0" rIns="0" bIns="0" rtlCol="0" anchor="ctr"/>
          <a:lstStyle/>
          <a:p>
            <a:pPr algn="r" indent="0" marL="0">
              <a:buNone/>
            </a:pPr>
            <a:r>
              <a:rPr lang="en-US" sz="1800" b="1" dirty="0">
                <a:solidFill>
                  <a:srgbClr val="FFFFFF"/>
                </a:solidFill>
                <a:latin typeface="Calibri" pitchFamily="34" charset="0"/>
                <a:ea typeface="Calibri" pitchFamily="34" charset="-122"/>
                <a:cs typeface="Calibri" pitchFamily="34" charset="-120"/>
              </a:rPr>
              <a:t>13</a:t>
            </a:r>
            <a:endParaRPr lang="en-US" sz="1800" dirty="0"/>
          </a:p>
        </p:txBody>
      </p:sp>
      <p:sp>
        <p:nvSpPr>
          <p:cNvPr id="19" name="Text 17"/>
          <p:cNvSpPr/>
          <p:nvPr/>
        </p:nvSpPr>
        <p:spPr>
          <a:xfrm>
            <a:off x="8275320" y="2057400"/>
            <a:ext cx="3200400" cy="100584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Age  ·  Size  ·  Nodes  ·  PGR  ·  ER (various cuts)</a:t>
            </a:r>
            <a:endParaRPr lang="en-US" sz="1200" dirty="0"/>
          </a:p>
        </p:txBody>
      </p:sp>
      <p:sp>
        <p:nvSpPr>
          <p:cNvPr id="20" name="Shape 18"/>
          <p:cNvSpPr/>
          <p:nvPr/>
        </p:nvSpPr>
        <p:spPr>
          <a:xfrm>
            <a:off x="502920" y="3383280"/>
            <a:ext cx="3566160" cy="1737360"/>
          </a:xfrm>
          <a:prstGeom prst="rect">
            <a:avLst/>
          </a:prstGeom>
          <a:solidFill>
            <a:srgbClr val="FFFFFF"/>
          </a:solidFill>
          <a:ln w="19050">
            <a:solidFill>
              <a:srgbClr val="9B5094"/>
            </a:solidFill>
            <a:prstDash val="solid"/>
          </a:ln>
        </p:spPr>
      </p:sp>
      <p:sp>
        <p:nvSpPr>
          <p:cNvPr id="21" name="Shape 19"/>
          <p:cNvSpPr/>
          <p:nvPr/>
        </p:nvSpPr>
        <p:spPr>
          <a:xfrm>
            <a:off x="502920" y="3383280"/>
            <a:ext cx="3566160" cy="502920"/>
          </a:xfrm>
          <a:prstGeom prst="rect">
            <a:avLst/>
          </a:prstGeom>
          <a:solidFill>
            <a:srgbClr val="9B5094"/>
          </a:solidFill>
          <a:ln w="12700">
            <a:solidFill>
              <a:srgbClr val="9B5094"/>
            </a:solidFill>
            <a:prstDash val="solid"/>
          </a:ln>
        </p:spPr>
      </p:sp>
      <p:sp>
        <p:nvSpPr>
          <p:cNvPr id="22" name="Text 20"/>
          <p:cNvSpPr/>
          <p:nvPr/>
        </p:nvSpPr>
        <p:spPr>
          <a:xfrm>
            <a:off x="685800" y="3429000"/>
            <a:ext cx="274320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2-way interactions</a:t>
            </a:r>
            <a:endParaRPr lang="en-US" sz="1400" dirty="0"/>
          </a:p>
        </p:txBody>
      </p:sp>
      <p:sp>
        <p:nvSpPr>
          <p:cNvPr id="23" name="Text 21"/>
          <p:cNvSpPr/>
          <p:nvPr/>
        </p:nvSpPr>
        <p:spPr>
          <a:xfrm>
            <a:off x="3291840" y="3429000"/>
            <a:ext cx="640080" cy="411480"/>
          </a:xfrm>
          <a:prstGeom prst="rect">
            <a:avLst/>
          </a:prstGeom>
          <a:noFill/>
          <a:ln/>
        </p:spPr>
        <p:txBody>
          <a:bodyPr wrap="square" lIns="0" tIns="0" rIns="0" bIns="0" rtlCol="0" anchor="ctr"/>
          <a:lstStyle/>
          <a:p>
            <a:pPr algn="r" indent="0" marL="0">
              <a:buNone/>
            </a:pPr>
            <a:r>
              <a:rPr lang="en-US" sz="1800" b="1" dirty="0">
                <a:solidFill>
                  <a:srgbClr val="FFFFFF"/>
                </a:solidFill>
                <a:latin typeface="Calibri" pitchFamily="34" charset="0"/>
                <a:ea typeface="Calibri" pitchFamily="34" charset="-122"/>
                <a:cs typeface="Calibri" pitchFamily="34" charset="-120"/>
              </a:rPr>
              <a:t>29</a:t>
            </a:r>
            <a:endParaRPr lang="en-US" sz="1800" dirty="0"/>
          </a:p>
        </p:txBody>
      </p:sp>
      <p:sp>
        <p:nvSpPr>
          <p:cNvPr id="24" name="Text 22"/>
          <p:cNvSpPr/>
          <p:nvPr/>
        </p:nvSpPr>
        <p:spPr>
          <a:xfrm>
            <a:off x="685800" y="4023360"/>
            <a:ext cx="3200400" cy="100584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Meno × Grade / Age / ER  ·  Grade × Nodes / ER / PGR  ·  Size × Nodes</a:t>
            </a:r>
            <a:endParaRPr lang="en-US" sz="1200" dirty="0"/>
          </a:p>
        </p:txBody>
      </p:sp>
      <p:sp>
        <p:nvSpPr>
          <p:cNvPr id="25" name="Shape 23"/>
          <p:cNvSpPr/>
          <p:nvPr/>
        </p:nvSpPr>
        <p:spPr>
          <a:xfrm>
            <a:off x="4297680" y="3383280"/>
            <a:ext cx="3566160" cy="1737360"/>
          </a:xfrm>
          <a:prstGeom prst="rect">
            <a:avLst/>
          </a:prstGeom>
          <a:solidFill>
            <a:srgbClr val="FFFFFF"/>
          </a:solidFill>
          <a:ln w="19050">
            <a:solidFill>
              <a:srgbClr val="B03A7A"/>
            </a:solidFill>
            <a:prstDash val="solid"/>
          </a:ln>
        </p:spPr>
      </p:sp>
      <p:sp>
        <p:nvSpPr>
          <p:cNvPr id="26" name="Shape 24"/>
          <p:cNvSpPr/>
          <p:nvPr/>
        </p:nvSpPr>
        <p:spPr>
          <a:xfrm>
            <a:off x="4297680" y="3383280"/>
            <a:ext cx="3566160" cy="502920"/>
          </a:xfrm>
          <a:prstGeom prst="rect">
            <a:avLst/>
          </a:prstGeom>
          <a:solidFill>
            <a:srgbClr val="B03A7A"/>
          </a:solidFill>
          <a:ln w="12700">
            <a:solidFill>
              <a:srgbClr val="B03A7A"/>
            </a:solidFill>
            <a:prstDash val="solid"/>
          </a:ln>
        </p:spPr>
      </p:sp>
      <p:sp>
        <p:nvSpPr>
          <p:cNvPr id="27" name="Text 25"/>
          <p:cNvSpPr/>
          <p:nvPr/>
        </p:nvSpPr>
        <p:spPr>
          <a:xfrm>
            <a:off x="4480560" y="3429000"/>
            <a:ext cx="274320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3-way interactions</a:t>
            </a:r>
            <a:endParaRPr lang="en-US" sz="1400" dirty="0"/>
          </a:p>
        </p:txBody>
      </p:sp>
      <p:sp>
        <p:nvSpPr>
          <p:cNvPr id="28" name="Text 26"/>
          <p:cNvSpPr/>
          <p:nvPr/>
        </p:nvSpPr>
        <p:spPr>
          <a:xfrm>
            <a:off x="7086600" y="3429000"/>
            <a:ext cx="640080" cy="411480"/>
          </a:xfrm>
          <a:prstGeom prst="rect">
            <a:avLst/>
          </a:prstGeom>
          <a:noFill/>
          <a:ln/>
        </p:spPr>
        <p:txBody>
          <a:bodyPr wrap="square" lIns="0" tIns="0" rIns="0" bIns="0" rtlCol="0" anchor="ctr"/>
          <a:lstStyle/>
          <a:p>
            <a:pPr algn="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9" name="Text 27"/>
          <p:cNvSpPr/>
          <p:nvPr/>
        </p:nvSpPr>
        <p:spPr>
          <a:xfrm>
            <a:off x="4480560" y="4023360"/>
            <a:ext cx="3200400" cy="100584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Pre-meno/Young/ER-low  ·  Post-meno/G3/Node+  ·  …</a:t>
            </a:r>
            <a:endParaRPr lang="en-US" sz="1200" dirty="0"/>
          </a:p>
        </p:txBody>
      </p:sp>
      <p:sp>
        <p:nvSpPr>
          <p:cNvPr id="30" name="Shape 28"/>
          <p:cNvSpPr/>
          <p:nvPr/>
        </p:nvSpPr>
        <p:spPr>
          <a:xfrm>
            <a:off x="8092440" y="3383280"/>
            <a:ext cx="3566160" cy="1737360"/>
          </a:xfrm>
          <a:prstGeom prst="rect">
            <a:avLst/>
          </a:prstGeom>
          <a:solidFill>
            <a:srgbClr val="FFFFFF"/>
          </a:solidFill>
          <a:ln w="19050">
            <a:solidFill>
              <a:srgbClr val="E67E22"/>
            </a:solidFill>
            <a:prstDash val="solid"/>
          </a:ln>
        </p:spPr>
      </p:sp>
      <p:sp>
        <p:nvSpPr>
          <p:cNvPr id="31" name="Shape 29"/>
          <p:cNvSpPr/>
          <p:nvPr/>
        </p:nvSpPr>
        <p:spPr>
          <a:xfrm>
            <a:off x="8092440" y="3383280"/>
            <a:ext cx="3566160" cy="502920"/>
          </a:xfrm>
          <a:prstGeom prst="rect">
            <a:avLst/>
          </a:prstGeom>
          <a:solidFill>
            <a:srgbClr val="E67E22"/>
          </a:solidFill>
          <a:ln w="12700">
            <a:solidFill>
              <a:srgbClr val="E67E22"/>
            </a:solidFill>
            <a:prstDash val="solid"/>
          </a:ln>
        </p:spPr>
      </p:sp>
      <p:sp>
        <p:nvSpPr>
          <p:cNvPr id="32" name="Text 30"/>
          <p:cNvSpPr/>
          <p:nvPr/>
        </p:nvSpPr>
        <p:spPr>
          <a:xfrm>
            <a:off x="8275320" y="3429000"/>
            <a:ext cx="274320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Random benchmarks</a:t>
            </a:r>
            <a:endParaRPr lang="en-US" sz="1400" dirty="0"/>
          </a:p>
        </p:txBody>
      </p:sp>
      <p:sp>
        <p:nvSpPr>
          <p:cNvPr id="33" name="Text 31"/>
          <p:cNvSpPr/>
          <p:nvPr/>
        </p:nvSpPr>
        <p:spPr>
          <a:xfrm>
            <a:off x="10881360" y="3429000"/>
            <a:ext cx="640080" cy="411480"/>
          </a:xfrm>
          <a:prstGeom prst="rect">
            <a:avLst/>
          </a:prstGeom>
          <a:noFill/>
          <a:ln/>
        </p:spPr>
        <p:txBody>
          <a:bodyPr wrap="square" lIns="0" tIns="0" rIns="0" bIns="0" rtlCol="0" anchor="ctr"/>
          <a:lstStyle/>
          <a:p>
            <a:pPr algn="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4" name="Text 32"/>
          <p:cNvSpPr/>
          <p:nvPr/>
        </p:nvSpPr>
        <p:spPr>
          <a:xfrm>
            <a:off x="8275320" y="4023360"/>
            <a:ext cx="3200400" cy="100584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random60  ·  random40  ·  random20  ·  random15   (re-sampled each sim)</a:t>
            </a:r>
            <a:endParaRPr lang="en-US" sz="1200" dirty="0"/>
          </a:p>
        </p:txBody>
      </p:sp>
      <p:sp>
        <p:nvSpPr>
          <p:cNvPr id="35" name="Shape 33"/>
          <p:cNvSpPr/>
          <p:nvPr/>
        </p:nvSpPr>
        <p:spPr>
          <a:xfrm>
            <a:off x="502920" y="5440680"/>
            <a:ext cx="11155680" cy="777240"/>
          </a:xfrm>
          <a:prstGeom prst="rect">
            <a:avLst/>
          </a:prstGeom>
          <a:solidFill>
            <a:srgbClr val="F5F8FC"/>
          </a:solidFill>
          <a:ln w="6350">
            <a:solidFill>
              <a:srgbClr val="C9D3DD"/>
            </a:solidFill>
            <a:prstDash val="solid"/>
          </a:ln>
        </p:spPr>
      </p:sp>
      <p:sp>
        <p:nvSpPr>
          <p:cNvPr id="36" name="Shape 34"/>
          <p:cNvSpPr/>
          <p:nvPr/>
        </p:nvSpPr>
        <p:spPr>
          <a:xfrm>
            <a:off x="502920" y="5440680"/>
            <a:ext cx="73152" cy="777240"/>
          </a:xfrm>
          <a:prstGeom prst="rect">
            <a:avLst/>
          </a:prstGeom>
          <a:solidFill>
            <a:srgbClr val="E67E22"/>
          </a:solidFill>
          <a:ln w="12700">
            <a:solidFill>
              <a:srgbClr val="E67E22"/>
            </a:solidFill>
            <a:prstDash val="solid"/>
          </a:ln>
        </p:spPr>
      </p:sp>
      <p:sp>
        <p:nvSpPr>
          <p:cNvPr id="37" name="Text 35"/>
          <p:cNvSpPr/>
          <p:nvPr/>
        </p:nvSpPr>
        <p:spPr>
          <a:xfrm>
            <a:off x="777240" y="5623560"/>
            <a:ext cx="10698480" cy="365760"/>
          </a:xfrm>
          <a:prstGeom prst="rect">
            <a:avLst/>
          </a:prstGeom>
          <a:noFill/>
          <a:ln/>
        </p:spPr>
        <p:txBody>
          <a:bodyPr wrap="square" lIns="0" tIns="0" rIns="0" bIns="0" rtlCol="0" anchor="t"/>
          <a:lstStyle/>
          <a:p>
            <a:pPr indent="0" marL="0">
              <a:buNone/>
            </a:pPr>
            <a:r>
              <a:rPr lang="en-US" sz="1400" b="1" dirty="0">
                <a:solidFill>
                  <a:srgbClr val="E67E22"/>
                </a:solidFill>
                <a:latin typeface="Calibri" pitchFamily="34" charset="0"/>
                <a:ea typeface="Calibri" pitchFamily="34" charset="-122"/>
                <a:cs typeface="Calibri" pitchFamily="34" charset="-120"/>
              </a:rPr>
              <a:t>The random* subgroups are the calibration anchor</a:t>
            </a:r>
            <a:endParaRPr lang="en-US" sz="1400" dirty="0"/>
          </a:p>
        </p:txBody>
      </p:sp>
      <p:sp>
        <p:nvSpPr>
          <p:cNvPr id="38" name="Text 36"/>
          <p:cNvSpPr/>
          <p:nvPr/>
        </p:nvSpPr>
        <p:spPr>
          <a:xfrm>
            <a:off x="777240" y="6080760"/>
            <a:ext cx="10698480" cy="-45720"/>
          </a:xfrm>
          <a:prstGeom prst="rect">
            <a:avLst/>
          </a:prstGeom>
          <a:noFill/>
          <a:ln/>
        </p:spPr>
        <p:txBody>
          <a:bodyPr wrap="square" lIns="0" tIns="0" rIns="0" bIns="0" rtlCol="0" anchor="t"/>
          <a:lstStyle/>
          <a:p>
            <a:pPr indent="0" marL="0">
              <a:buNone/>
            </a:pPr>
            <a:r>
              <a:rPr lang="en-US" sz="1200" dirty="0">
                <a:solidFill>
                  <a:srgbClr val="1A2A3A"/>
                </a:solidFill>
                <a:latin typeface="Calibri" pitchFamily="34" charset="0"/>
                <a:ea typeface="Calibri" pitchFamily="34" charset="-122"/>
                <a:cs typeface="Calibri" pitchFamily="34" charset="-120"/>
              </a:rPr>
              <a:t>They have no clinical meaning whatsoever — their true HR equals the ITT HR of 0.70. Any extreme finding is pure sampling variability. Placing them alongside clinical subgroups of similar size makes the noise floor explicit for each size class.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65A82"/>
          </a:solidFill>
          <a:ln w="12700">
            <a:solidFill>
              <a:srgbClr val="065A82"/>
            </a:solidFill>
            <a:prstDash val="solid"/>
          </a:ln>
        </p:spPr>
      </p:sp>
      <p:sp>
        <p:nvSpPr>
          <p:cNvPr id="3" name="Text 1"/>
          <p:cNvSpPr/>
          <p:nvPr/>
        </p:nvSpPr>
        <p:spPr>
          <a:xfrm>
            <a:off x="502920" y="320040"/>
            <a:ext cx="11155680" cy="292608"/>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METRICS</a:t>
            </a:r>
            <a:endParaRPr lang="en-US" sz="1100" dirty="0"/>
          </a:p>
        </p:txBody>
      </p:sp>
      <p:sp>
        <p:nvSpPr>
          <p:cNvPr id="4" name="Text 2"/>
          <p:cNvSpPr/>
          <p:nvPr/>
        </p:nvSpPr>
        <p:spPr>
          <a:xfrm>
            <a:off x="502920" y="612648"/>
            <a:ext cx="11155680" cy="685800"/>
          </a:xfrm>
          <a:prstGeom prst="rect">
            <a:avLst/>
          </a:prstGeom>
          <a:noFill/>
          <a:ln/>
        </p:spPr>
        <p:txBody>
          <a:bodyPr wrap="square" lIns="0" tIns="0" rIns="0" bIns="0" rtlCol="0" anchor="ctr"/>
          <a:lstStyle/>
          <a:p>
            <a:pPr indent="0" marL="0">
              <a:buNone/>
            </a:pPr>
            <a:r>
              <a:rPr lang="en-US" sz="3000" b="1" dirty="0">
                <a:solidFill>
                  <a:srgbClr val="0C2344"/>
                </a:solidFill>
                <a:latin typeface="Calibri" pitchFamily="34" charset="0"/>
                <a:ea typeface="Calibri" pitchFamily="34" charset="-122"/>
                <a:cs typeface="Calibri" pitchFamily="34" charset="-120"/>
              </a:rPr>
              <a:t>What Is Measured Per Subgroup, Per Simulation</a:t>
            </a:r>
            <a:endParaRPr lang="en-US" sz="3000" dirty="0"/>
          </a:p>
        </p:txBody>
      </p:sp>
      <p:sp>
        <p:nvSpPr>
          <p:cNvPr id="5" name="Shape 3"/>
          <p:cNvSpPr/>
          <p:nvPr/>
        </p:nvSpPr>
        <p:spPr>
          <a:xfrm>
            <a:off x="502920" y="1417320"/>
            <a:ext cx="11155680" cy="822960"/>
          </a:xfrm>
          <a:prstGeom prst="rect">
            <a:avLst/>
          </a:prstGeom>
          <a:solidFill>
            <a:srgbClr val="0C2344"/>
          </a:solidFill>
          <a:ln w="12700">
            <a:solidFill>
              <a:srgbClr val="0C2344"/>
            </a:solidFill>
            <a:prstDash val="solid"/>
          </a:ln>
        </p:spPr>
      </p:sp>
      <p:sp>
        <p:nvSpPr>
          <p:cNvPr id="6" name="Text 4"/>
          <p:cNvSpPr/>
          <p:nvPr/>
        </p:nvSpPr>
        <p:spPr>
          <a:xfrm>
            <a:off x="777240" y="1463040"/>
            <a:ext cx="10607040" cy="274320"/>
          </a:xfrm>
          <a:prstGeom prst="rect">
            <a:avLst/>
          </a:prstGeom>
          <a:noFill/>
          <a:ln/>
        </p:spPr>
        <p:txBody>
          <a:bodyPr wrap="square" lIns="0" tIns="0" rIns="0" bIns="0" rtlCol="0" anchor="ctr"/>
          <a:lstStyle/>
          <a:p>
            <a:pPr indent="0" marL="0">
              <a:buNone/>
            </a:pPr>
            <a:r>
              <a:rPr lang="en-US" sz="1100" b="1" spc="400" kern="0" dirty="0">
                <a:solidFill>
                  <a:srgbClr val="D4A017"/>
                </a:solidFill>
                <a:latin typeface="Calibri" pitchFamily="34" charset="0"/>
                <a:ea typeface="Calibri" pitchFamily="34" charset="-122"/>
                <a:cs typeface="Calibri" pitchFamily="34" charset="-120"/>
              </a:rPr>
              <a:t>Primary analysis</a:t>
            </a:r>
            <a:endParaRPr lang="en-US" sz="1100" dirty="0"/>
          </a:p>
        </p:txBody>
      </p:sp>
      <p:sp>
        <p:nvSpPr>
          <p:cNvPr id="7" name="Text 5"/>
          <p:cNvSpPr/>
          <p:nvPr/>
        </p:nvSpPr>
        <p:spPr>
          <a:xfrm>
            <a:off x="777240" y="1737360"/>
            <a:ext cx="10607040" cy="411480"/>
          </a:xfrm>
          <a:prstGeom prst="rect">
            <a:avLst/>
          </a:prstGeom>
          <a:noFill/>
          <a:ln/>
        </p:spPr>
        <p:txBody>
          <a:bodyPr wrap="square" lIns="0" tIns="0" rIns="0" bIns="0" rtlCol="0" anchor="ctr"/>
          <a:lstStyle/>
          <a:p>
            <a:pPr indent="0" marL="0">
              <a:buNone/>
            </a:pPr>
            <a:r>
              <a:rPr lang="en-US" sz="1400" dirty="0">
                <a:solidFill>
                  <a:srgbClr val="FFFFFF"/>
                </a:solidFill>
                <a:latin typeface="Consolas" pitchFamily="34" charset="0"/>
                <a:ea typeface="Consolas" pitchFamily="34" charset="-122"/>
                <a:cs typeface="Consolas" pitchFamily="34" charset="-120"/>
              </a:rPr>
              <a:t>coxph(Surv(y_sim, event_sim) ~ treat_sim + strata(grade), data = subgroup_data)</a:t>
            </a:r>
            <a:endParaRPr lang="en-US" sz="1400" dirty="0"/>
          </a:p>
        </p:txBody>
      </p:sp>
      <p:sp>
        <p:nvSpPr>
          <p:cNvPr id="8" name="Shape 6"/>
          <p:cNvSpPr/>
          <p:nvPr/>
        </p:nvSpPr>
        <p:spPr>
          <a:xfrm>
            <a:off x="502920" y="2468880"/>
            <a:ext cx="5394960" cy="3657600"/>
          </a:xfrm>
          <a:prstGeom prst="rect">
            <a:avLst/>
          </a:prstGeom>
          <a:solidFill>
            <a:srgbClr val="F5F8FC"/>
          </a:solidFill>
          <a:ln w="6350">
            <a:solidFill>
              <a:srgbClr val="C9D3DD"/>
            </a:solidFill>
            <a:prstDash val="solid"/>
          </a:ln>
        </p:spPr>
      </p:sp>
      <p:sp>
        <p:nvSpPr>
          <p:cNvPr id="9" name="Shape 7"/>
          <p:cNvSpPr/>
          <p:nvPr/>
        </p:nvSpPr>
        <p:spPr>
          <a:xfrm>
            <a:off x="502920" y="2468880"/>
            <a:ext cx="73152" cy="3657600"/>
          </a:xfrm>
          <a:prstGeom prst="rect">
            <a:avLst/>
          </a:prstGeom>
          <a:solidFill>
            <a:srgbClr val="065A82"/>
          </a:solidFill>
          <a:ln w="12700">
            <a:solidFill>
              <a:srgbClr val="065A82"/>
            </a:solidFill>
            <a:prstDash val="solid"/>
          </a:ln>
        </p:spPr>
      </p:sp>
      <p:sp>
        <p:nvSpPr>
          <p:cNvPr id="10" name="Text 8"/>
          <p:cNvSpPr/>
          <p:nvPr/>
        </p:nvSpPr>
        <p:spPr>
          <a:xfrm>
            <a:off x="777240" y="2651760"/>
            <a:ext cx="4937760" cy="411480"/>
          </a:xfrm>
          <a:prstGeom prst="rect">
            <a:avLst/>
          </a:prstGeom>
          <a:noFill/>
          <a:ln/>
        </p:spPr>
        <p:txBody>
          <a:bodyPr wrap="square" lIns="0" tIns="0" rIns="0" bIns="0" rtlCol="0" anchor="ctr"/>
          <a:lstStyle/>
          <a:p>
            <a:pPr indent="0" marL="0">
              <a:buNone/>
            </a:pPr>
            <a:r>
              <a:rPr lang="en-US" sz="1600" b="1" dirty="0">
                <a:solidFill>
                  <a:srgbClr val="065A82"/>
                </a:solidFill>
                <a:latin typeface="Calibri" pitchFamily="34" charset="0"/>
                <a:ea typeface="Calibri" pitchFamily="34" charset="-122"/>
                <a:cs typeface="Calibri" pitchFamily="34" charset="-120"/>
              </a:rPr>
              <a:t>HR point estimate distribution</a:t>
            </a:r>
            <a:endParaRPr lang="en-US" sz="1600" dirty="0"/>
          </a:p>
        </p:txBody>
      </p:sp>
      <p:sp>
        <p:nvSpPr>
          <p:cNvPr id="11" name="Text 9"/>
          <p:cNvSpPr/>
          <p:nvPr/>
        </p:nvSpPr>
        <p:spPr>
          <a:xfrm>
            <a:off x="777240" y="3154680"/>
            <a:ext cx="4937760" cy="2743200"/>
          </a:xfrm>
          <a:prstGeom prst="rect">
            <a:avLst/>
          </a:prstGeom>
          <a:noFill/>
          <a:ln/>
        </p:spPr>
        <p:txBody>
          <a:bodyPr wrap="square" lIns="0" tIns="0" rIns="0" bIns="0" rtlCol="0" anchor="ctr"/>
          <a:lstStyle/>
          <a:p>
            <a:pPr indent="0" marL="0">
              <a:buNone/>
            </a:pPr>
            <a:r>
              <a:rPr lang="en-US" sz="1300" dirty="0">
                <a:solidFill>
                  <a:srgbClr val="1A2A3A"/>
                </a:solidFill>
                <a:latin typeface="Calibri" pitchFamily="34" charset="0"/>
                <a:ea typeface="Calibri" pitchFamily="34" charset="-122"/>
                <a:cs typeface="Calibri" pitchFamily="34" charset="-120"/>
              </a:rPr>
              <a:t>Across all simulated trials, record the HR estimate for each subgroup.</a:t>
            </a:r>
            <a:endParaRPr lang="en-US" sz="1300" dirty="0"/>
          </a:p>
          <a:p>
            <a:pPr indent="0" marL="0">
              <a:buNone/>
            </a:pPr>
            <a:endParaRPr lang="en-US" sz="1300" dirty="0"/>
          </a:p>
          <a:p>
            <a:pPr indent="0" marL="0">
              <a:buNone/>
            </a:pPr>
            <a:r>
              <a:rPr lang="en-US" sz="1300" b="1" dirty="0">
                <a:solidFill>
                  <a:srgbClr val="0C2344"/>
                </a:solidFill>
                <a:latin typeface="Calibri" pitchFamily="34" charset="0"/>
                <a:ea typeface="Calibri" pitchFamily="34" charset="-122"/>
                <a:cs typeface="Calibri" pitchFamily="34" charset="-120"/>
              </a:rPr>
              <a:t>Empirical 99 % CI (ECI)</a:t>
            </a:r>
            <a:endParaRPr lang="en-US" sz="1300" dirty="0"/>
          </a:p>
          <a:p>
            <a:pPr indent="0" marL="0">
              <a:buNone/>
            </a:pPr>
            <a:r>
              <a:rPr lang="en-US" sz="1300" dirty="0">
                <a:solidFill>
                  <a:srgbClr val="1A2A3A"/>
                </a:solidFill>
                <a:latin typeface="Calibri" pitchFamily="34" charset="0"/>
                <a:ea typeface="Calibri" pitchFamily="34" charset="-122"/>
                <a:cs typeface="Calibri" pitchFamily="34" charset="-120"/>
              </a:rPr>
              <a:t>    median + 1st and 99th percentiles</a:t>
            </a:r>
            <a:endParaRPr lang="en-US" sz="1300" dirty="0"/>
          </a:p>
          <a:p>
            <a:pPr indent="0" marL="0">
              <a:buNone/>
            </a:pPr>
            <a:endParaRPr lang="en-US" sz="1300" dirty="0"/>
          </a:p>
          <a:p>
            <a:pPr indent="0" marL="0">
              <a:buNone/>
            </a:pPr>
            <a:r>
              <a:rPr lang="en-US" sz="1300" b="1" dirty="0">
                <a:solidFill>
                  <a:srgbClr val="0C2344"/>
                </a:solidFill>
                <a:latin typeface="Consolas" pitchFamily="34" charset="0"/>
                <a:ea typeface="Consolas" pitchFamily="34" charset="-122"/>
                <a:cs typeface="Consolas" pitchFamily="34" charset="-120"/>
              </a:rPr>
              <a:t>Pr(HR &lt; 0.80)</a:t>
            </a:r>
            <a:endParaRPr lang="en-US" sz="1300" dirty="0"/>
          </a:p>
          <a:p>
            <a:pPr indent="0" marL="0">
              <a:buNone/>
            </a:pPr>
            <a:r>
              <a:rPr lang="en-US" sz="1300" dirty="0">
                <a:solidFill>
                  <a:srgbClr val="1A2A3A"/>
                </a:solidFill>
                <a:latin typeface="Calibri" pitchFamily="34" charset="0"/>
                <a:ea typeface="Calibri" pitchFamily="34" charset="-122"/>
                <a:cs typeface="Calibri" pitchFamily="34" charset="-120"/>
              </a:rPr>
              <a:t>    frequency of “alarming” point estimate</a:t>
            </a:r>
            <a:endParaRPr lang="en-US" sz="1300" dirty="0"/>
          </a:p>
          <a:p>
            <a:pPr indent="0" marL="0">
              <a:buNone/>
            </a:pPr>
            <a:endParaRPr lang="en-US" sz="1300" dirty="0"/>
          </a:p>
          <a:p>
            <a:pPr indent="0" marL="0">
              <a:buNone/>
            </a:pPr>
            <a:r>
              <a:rPr lang="en-US" sz="1300" i="1" dirty="0">
                <a:solidFill>
                  <a:srgbClr val="5C6F83"/>
                </a:solidFill>
                <a:latin typeface="Calibri" pitchFamily="34" charset="0"/>
                <a:ea typeface="Calibri" pitchFamily="34" charset="-122"/>
                <a:cs typeface="Calibri" pitchFamily="34" charset="-120"/>
              </a:rPr>
              <a:t>Under truth the median should sit at 0.70 for every subgroup. The spread is what changes.</a:t>
            </a:r>
            <a:endParaRPr lang="en-US" sz="1300" dirty="0"/>
          </a:p>
        </p:txBody>
      </p:sp>
      <p:sp>
        <p:nvSpPr>
          <p:cNvPr id="12" name="Shape 10"/>
          <p:cNvSpPr/>
          <p:nvPr/>
        </p:nvSpPr>
        <p:spPr>
          <a:xfrm>
            <a:off x="6263640" y="2468880"/>
            <a:ext cx="5394960" cy="3657600"/>
          </a:xfrm>
          <a:prstGeom prst="rect">
            <a:avLst/>
          </a:prstGeom>
          <a:solidFill>
            <a:srgbClr val="F5F8FC"/>
          </a:solidFill>
          <a:ln w="6350">
            <a:solidFill>
              <a:srgbClr val="C9D3DD"/>
            </a:solidFill>
            <a:prstDash val="solid"/>
          </a:ln>
        </p:spPr>
      </p:sp>
      <p:sp>
        <p:nvSpPr>
          <p:cNvPr id="13" name="Shape 11"/>
          <p:cNvSpPr/>
          <p:nvPr/>
        </p:nvSpPr>
        <p:spPr>
          <a:xfrm>
            <a:off x="6263640" y="2468880"/>
            <a:ext cx="73152" cy="3657600"/>
          </a:xfrm>
          <a:prstGeom prst="rect">
            <a:avLst/>
          </a:prstGeom>
          <a:solidFill>
            <a:srgbClr val="C0392B"/>
          </a:solidFill>
          <a:ln w="12700">
            <a:solidFill>
              <a:srgbClr val="C0392B"/>
            </a:solidFill>
            <a:prstDash val="solid"/>
          </a:ln>
        </p:spPr>
      </p:sp>
      <p:sp>
        <p:nvSpPr>
          <p:cNvPr id="14" name="Text 12"/>
          <p:cNvSpPr/>
          <p:nvPr/>
        </p:nvSpPr>
        <p:spPr>
          <a:xfrm>
            <a:off x="6537960" y="2651760"/>
            <a:ext cx="4937760" cy="411480"/>
          </a:xfrm>
          <a:prstGeom prst="rect">
            <a:avLst/>
          </a:prstGeom>
          <a:noFill/>
          <a:ln/>
        </p:spPr>
        <p:txBody>
          <a:bodyPr wrap="square" lIns="0" tIns="0" rIns="0" bIns="0" rtlCol="0" anchor="ctr"/>
          <a:lstStyle/>
          <a:p>
            <a:pPr indent="0" marL="0">
              <a:buNone/>
            </a:pPr>
            <a:r>
              <a:rPr lang="en-US" sz="1600" b="1" dirty="0">
                <a:solidFill>
                  <a:srgbClr val="C0392B"/>
                </a:solidFill>
                <a:latin typeface="Calibri" pitchFamily="34" charset="0"/>
                <a:ea typeface="Calibri" pitchFamily="34" charset="-122"/>
                <a:cs typeface="Calibri" pitchFamily="34" charset="-120"/>
              </a:rPr>
              <a:t>Upper 95 % CI bound  UB(HR)</a:t>
            </a:r>
            <a:endParaRPr lang="en-US" sz="1600" dirty="0"/>
          </a:p>
        </p:txBody>
      </p:sp>
      <p:sp>
        <p:nvSpPr>
          <p:cNvPr id="15" name="Text 13"/>
          <p:cNvSpPr/>
          <p:nvPr/>
        </p:nvSpPr>
        <p:spPr>
          <a:xfrm>
            <a:off x="6537960" y="3154680"/>
            <a:ext cx="4937760" cy="2743200"/>
          </a:xfrm>
          <a:prstGeom prst="rect">
            <a:avLst/>
          </a:prstGeom>
          <a:noFill/>
          <a:ln/>
        </p:spPr>
        <p:txBody>
          <a:bodyPr wrap="square" lIns="0" tIns="0" rIns="0" bIns="0" rtlCol="0" anchor="ctr"/>
          <a:lstStyle/>
          <a:p>
            <a:pPr indent="0" marL="0">
              <a:buNone/>
            </a:pPr>
            <a:r>
              <a:rPr lang="en-US" sz="1300" dirty="0">
                <a:solidFill>
                  <a:srgbClr val="1A2A3A"/>
                </a:solidFill>
                <a:latin typeface="Calibri" pitchFamily="34" charset="0"/>
                <a:ea typeface="Calibri" pitchFamily="34" charset="-122"/>
                <a:cs typeface="Calibri" pitchFamily="34" charset="-120"/>
              </a:rPr>
              <a:t>What a safety reviewer looks at when asking whether harm can be ruled out.</a:t>
            </a:r>
            <a:endParaRPr lang="en-US" sz="1300" dirty="0"/>
          </a:p>
          <a:p>
            <a:pPr indent="0" marL="0">
              <a:buNone/>
            </a:pPr>
            <a:endParaRPr lang="en-US" sz="1300" dirty="0"/>
          </a:p>
          <a:p>
            <a:pPr indent="0" marL="0">
              <a:buNone/>
            </a:pPr>
            <a:r>
              <a:rPr lang="en-US" sz="1300" b="1" dirty="0">
                <a:solidFill>
                  <a:srgbClr val="0C2344"/>
                </a:solidFill>
                <a:latin typeface="Consolas" pitchFamily="34" charset="0"/>
                <a:ea typeface="Consolas" pitchFamily="34" charset="-122"/>
                <a:cs typeface="Consolas" pitchFamily="34" charset="-120"/>
              </a:rPr>
              <a:t>Pr(UB &lt; 1.0)</a:t>
            </a:r>
            <a:endParaRPr lang="en-US" sz="1300" dirty="0"/>
          </a:p>
          <a:p>
            <a:pPr indent="0" marL="0">
              <a:buNone/>
            </a:pPr>
            <a:r>
              <a:rPr lang="en-US" sz="1300" dirty="0">
                <a:solidFill>
                  <a:srgbClr val="1A2A3A"/>
                </a:solidFill>
                <a:latin typeface="Calibri" pitchFamily="34" charset="0"/>
                <a:ea typeface="Calibri" pitchFamily="34" charset="-122"/>
                <a:cs typeface="Calibri" pitchFamily="34" charset="-120"/>
              </a:rPr>
              <a:t>    power to demonstrate benefit; drops sharply with N</a:t>
            </a:r>
            <a:endParaRPr lang="en-US" sz="1300" dirty="0"/>
          </a:p>
          <a:p>
            <a:pPr indent="0" marL="0">
              <a:buNone/>
            </a:pPr>
            <a:endParaRPr lang="en-US" sz="1300" dirty="0"/>
          </a:p>
          <a:p>
            <a:pPr indent="0" marL="0">
              <a:buNone/>
            </a:pPr>
            <a:r>
              <a:rPr lang="en-US" sz="1300" b="1" dirty="0">
                <a:solidFill>
                  <a:srgbClr val="0C2344"/>
                </a:solidFill>
                <a:latin typeface="Calibri" pitchFamily="34" charset="0"/>
                <a:ea typeface="Calibri" pitchFamily="34" charset="-122"/>
                <a:cs typeface="Calibri" pitchFamily="34" charset="-120"/>
              </a:rPr>
              <a:t>Median UB | UB ≥ 1.0</a:t>
            </a:r>
            <a:endParaRPr lang="en-US" sz="1300" dirty="0"/>
          </a:p>
          <a:p>
            <a:pPr indent="0" marL="0">
              <a:buNone/>
            </a:pPr>
            <a:r>
              <a:rPr lang="en-US" sz="1300" dirty="0">
                <a:solidFill>
                  <a:srgbClr val="1A2A3A"/>
                </a:solidFill>
                <a:latin typeface="Calibri" pitchFamily="34" charset="0"/>
                <a:ea typeface="Calibri" pitchFamily="34" charset="-122"/>
                <a:cs typeface="Calibri" pitchFamily="34" charset="-120"/>
              </a:rPr>
              <a:t>    worst-case bound when the CI fails to exclude 1.0</a:t>
            </a:r>
            <a:endParaRPr lang="en-US" sz="1300" dirty="0"/>
          </a:p>
          <a:p>
            <a:pPr indent="0" marL="0">
              <a:buNone/>
            </a:pPr>
            <a:endParaRPr lang="en-US" sz="1300" dirty="0"/>
          </a:p>
          <a:p>
            <a:pPr indent="0" marL="0">
              <a:buNone/>
            </a:pPr>
            <a:r>
              <a:rPr lang="en-US" sz="1300" i="1" dirty="0">
                <a:solidFill>
                  <a:srgbClr val="5C6F83"/>
                </a:solidFill>
                <a:latin typeface="Calibri" pitchFamily="34" charset="0"/>
                <a:ea typeface="Calibri" pitchFamily="34" charset="-122"/>
                <a:cs typeface="Calibri" pitchFamily="34" charset="-120"/>
              </a:rPr>
              <a:t>The key safety quantity — how large the upper bound can grow by chance alone.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65A82"/>
          </a:solidFill>
          <a:ln w="12700">
            <a:solidFill>
              <a:srgbClr val="065A82"/>
            </a:solidFill>
            <a:prstDash val="solid"/>
          </a:ln>
        </p:spPr>
      </p:sp>
      <p:sp>
        <p:nvSpPr>
          <p:cNvPr id="3" name="Text 1"/>
          <p:cNvSpPr/>
          <p:nvPr/>
        </p:nvSpPr>
        <p:spPr>
          <a:xfrm>
            <a:off x="502920" y="320040"/>
            <a:ext cx="11155680" cy="292608"/>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HEADLINE RESULT</a:t>
            </a:r>
            <a:endParaRPr lang="en-US" sz="1100" dirty="0"/>
          </a:p>
        </p:txBody>
      </p:sp>
      <p:sp>
        <p:nvSpPr>
          <p:cNvPr id="4" name="Text 2"/>
          <p:cNvSpPr/>
          <p:nvPr/>
        </p:nvSpPr>
        <p:spPr>
          <a:xfrm>
            <a:off x="502920" y="612648"/>
            <a:ext cx="11155680" cy="685800"/>
          </a:xfrm>
          <a:prstGeom prst="rect">
            <a:avLst/>
          </a:prstGeom>
          <a:noFill/>
          <a:ln/>
        </p:spPr>
        <p:txBody>
          <a:bodyPr wrap="square" lIns="0" tIns="0" rIns="0" bIns="0" rtlCol="0" anchor="ctr"/>
          <a:lstStyle/>
          <a:p>
            <a:pPr indent="0" marL="0">
              <a:buNone/>
            </a:pPr>
            <a:r>
              <a:rPr lang="en-US" sz="3000" b="1" dirty="0">
                <a:solidFill>
                  <a:srgbClr val="0C2344"/>
                </a:solidFill>
                <a:latin typeface="Calibri" pitchFamily="34" charset="0"/>
                <a:ea typeface="Calibri" pitchFamily="34" charset="-122"/>
                <a:cs typeface="Calibri" pitchFamily="34" charset="-120"/>
              </a:rPr>
              <a:t>What Chance Alone Produces: 99th Percentile of UB(HR)</a:t>
            </a:r>
            <a:endParaRPr lang="en-US" sz="3000" dirty="0"/>
          </a:p>
        </p:txBody>
      </p:sp>
      <p:graphicFrame>
        <p:nvGraphicFramePr>
          <p:cNvPr id="5" name="Chart 0" descr=""/>
          <p:cNvGraphicFramePr/>
          <p:nvPr/>
        </p:nvGraphicFramePr>
        <p:xfrm>
          <a:off x="502920" y="1417320"/>
          <a:ext cx="7589520" cy="48463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8412480" y="1463040"/>
            <a:ext cx="3246120" cy="365760"/>
          </a:xfrm>
          <a:prstGeom prst="rect">
            <a:avLst/>
          </a:prstGeom>
          <a:noFill/>
          <a:ln/>
        </p:spPr>
        <p:txBody>
          <a:bodyPr wrap="square" lIns="0" tIns="0" rIns="0" bIns="0" rtlCol="0" anchor="ctr"/>
          <a:lstStyle/>
          <a:p>
            <a:pPr indent="0" marL="0">
              <a:buNone/>
            </a:pPr>
            <a:r>
              <a:rPr lang="en-US" sz="1600" b="1" dirty="0">
                <a:solidFill>
                  <a:srgbClr val="1C7293"/>
                </a:solidFill>
                <a:latin typeface="Calibri" pitchFamily="34" charset="0"/>
                <a:ea typeface="Calibri" pitchFamily="34" charset="-122"/>
                <a:cs typeface="Calibri" pitchFamily="34" charset="-120"/>
              </a:rPr>
              <a:t>Reading the chart</a:t>
            </a:r>
            <a:endParaRPr lang="en-US" sz="1600" dirty="0"/>
          </a:p>
        </p:txBody>
      </p:sp>
      <p:sp>
        <p:nvSpPr>
          <p:cNvPr id="7" name="Text 4"/>
          <p:cNvSpPr/>
          <p:nvPr/>
        </p:nvSpPr>
        <p:spPr>
          <a:xfrm>
            <a:off x="8412480" y="1874520"/>
            <a:ext cx="3246120" cy="118872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Each bar is the 99th percentile of the Cox 95 % upper confidence bound across thousands of simulated trials where the true HR is 0.70 everywhere.</a:t>
            </a:r>
            <a:endParaRPr lang="en-US" sz="1200" dirty="0"/>
          </a:p>
        </p:txBody>
      </p:sp>
      <p:sp>
        <p:nvSpPr>
          <p:cNvPr id="8" name="Shape 5"/>
          <p:cNvSpPr/>
          <p:nvPr/>
        </p:nvSpPr>
        <p:spPr>
          <a:xfrm>
            <a:off x="8412480" y="3246120"/>
            <a:ext cx="3246120" cy="2011680"/>
          </a:xfrm>
          <a:prstGeom prst="rect">
            <a:avLst/>
          </a:prstGeom>
          <a:solidFill>
            <a:srgbClr val="F5F8FC"/>
          </a:solidFill>
          <a:ln w="6350">
            <a:solidFill>
              <a:srgbClr val="C9D3DD"/>
            </a:solidFill>
            <a:prstDash val="solid"/>
          </a:ln>
        </p:spPr>
      </p:sp>
      <p:sp>
        <p:nvSpPr>
          <p:cNvPr id="9" name="Shape 6"/>
          <p:cNvSpPr/>
          <p:nvPr/>
        </p:nvSpPr>
        <p:spPr>
          <a:xfrm>
            <a:off x="8412480" y="3246120"/>
            <a:ext cx="73152" cy="2011680"/>
          </a:xfrm>
          <a:prstGeom prst="rect">
            <a:avLst/>
          </a:prstGeom>
          <a:solidFill>
            <a:srgbClr val="C0392B"/>
          </a:solidFill>
          <a:ln w="12700">
            <a:solidFill>
              <a:srgbClr val="C0392B"/>
            </a:solidFill>
            <a:prstDash val="solid"/>
          </a:ln>
        </p:spPr>
      </p:sp>
      <p:sp>
        <p:nvSpPr>
          <p:cNvPr id="10" name="Text 7"/>
          <p:cNvSpPr/>
          <p:nvPr/>
        </p:nvSpPr>
        <p:spPr>
          <a:xfrm>
            <a:off x="8686800" y="3429000"/>
            <a:ext cx="2788920" cy="320040"/>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In 1 % of trials</a:t>
            </a:r>
            <a:endParaRPr lang="en-US" sz="1200" dirty="0"/>
          </a:p>
        </p:txBody>
      </p:sp>
      <p:sp>
        <p:nvSpPr>
          <p:cNvPr id="11" name="Text 8"/>
          <p:cNvSpPr/>
          <p:nvPr/>
        </p:nvSpPr>
        <p:spPr>
          <a:xfrm>
            <a:off x="8686800" y="3749040"/>
            <a:ext cx="2788920" cy="1325880"/>
          </a:xfrm>
          <a:prstGeom prst="rect">
            <a:avLst/>
          </a:prstGeom>
          <a:noFill/>
          <a:ln/>
        </p:spPr>
        <p:txBody>
          <a:bodyPr wrap="square" lIns="0" tIns="0" rIns="0" bIns="0" rtlCol="0" anchor="ctr"/>
          <a:lstStyle/>
          <a:p>
            <a:pPr indent="0" marL="0">
              <a:buNone/>
            </a:pPr>
            <a:r>
              <a:rPr lang="en-US" sz="1300" b="1" dirty="0">
                <a:solidFill>
                  <a:srgbClr val="0C2344"/>
                </a:solidFill>
                <a:latin typeface="Calibri" pitchFamily="34" charset="0"/>
                <a:ea typeface="Calibri" pitchFamily="34" charset="-122"/>
                <a:cs typeface="Calibri" pitchFamily="34" charset="-120"/>
              </a:rPr>
              <a:t>UB(HR) &gt; 3.5</a:t>
            </a:r>
            <a:pPr indent="0" marL="0">
              <a:buNone/>
            </a:pPr>
            <a:r>
              <a:rPr lang="en-US" sz="1300" dirty="0">
                <a:solidFill>
                  <a:srgbClr val="1A2A3A"/>
                </a:solidFill>
                <a:latin typeface="Calibri" pitchFamily="34" charset="0"/>
                <a:ea typeface="Calibri" pitchFamily="34" charset="-122"/>
                <a:cs typeface="Calibri" pitchFamily="34" charset="-120"/>
              </a:rPr>
              <a:t>  in a 40-patient subgroup.</a:t>
            </a:r>
            <a:endParaRPr lang="en-US" sz="1300" dirty="0"/>
          </a:p>
          <a:p>
            <a:pPr indent="0" marL="0">
              <a:buNone/>
            </a:pPr>
            <a:r>
              <a:rPr lang="en-US" sz="1300" b="1" dirty="0">
                <a:solidFill>
                  <a:srgbClr val="0C2344"/>
                </a:solidFill>
                <a:latin typeface="Calibri" pitchFamily="34" charset="0"/>
                <a:ea typeface="Calibri" pitchFamily="34" charset="-122"/>
                <a:cs typeface="Calibri" pitchFamily="34" charset="-120"/>
              </a:rPr>
              <a:t>UB(HR) &gt; 5.0</a:t>
            </a:r>
            <a:pPr indent="0" marL="0">
              <a:buNone/>
            </a:pPr>
            <a:r>
              <a:rPr lang="en-US" sz="1300" dirty="0">
                <a:solidFill>
                  <a:srgbClr val="1A2A3A"/>
                </a:solidFill>
                <a:latin typeface="Calibri" pitchFamily="34" charset="0"/>
                <a:ea typeface="Calibri" pitchFamily="34" charset="-122"/>
                <a:cs typeface="Calibri" pitchFamily="34" charset="-120"/>
              </a:rPr>
              <a:t>  in a 15-patient subgroup.</a:t>
            </a:r>
            <a:endParaRPr lang="en-US" sz="1300" dirty="0"/>
          </a:p>
          <a:p>
            <a:pPr indent="0" marL="0">
              <a:buNone/>
            </a:pPr>
            <a:endParaRPr lang="en-US" sz="1300" dirty="0"/>
          </a:p>
          <a:p>
            <a:pPr indent="0" marL="0">
              <a:buNone/>
            </a:pPr>
            <a:r>
              <a:rPr lang="en-US" sz="1300" i="1" dirty="0">
                <a:solidFill>
                  <a:srgbClr val="5C6F83"/>
                </a:solidFill>
                <a:latin typeface="Calibri" pitchFamily="34" charset="0"/>
                <a:ea typeface="Calibri" pitchFamily="34" charset="-122"/>
                <a:cs typeface="Calibri" pitchFamily="34" charset="-120"/>
              </a:rPr>
              <a:t>…even though the treatment benefits every patient equally.</a:t>
            </a:r>
            <a:endParaRPr lang="en-US" sz="1300" dirty="0"/>
          </a:p>
        </p:txBody>
      </p:sp>
      <p:sp>
        <p:nvSpPr>
          <p:cNvPr id="12" name="Text 9"/>
          <p:cNvSpPr/>
          <p:nvPr/>
        </p:nvSpPr>
        <p:spPr>
          <a:xfrm>
            <a:off x="502920" y="6172200"/>
            <a:ext cx="11155680" cy="274320"/>
          </a:xfrm>
          <a:prstGeom prst="rect">
            <a:avLst/>
          </a:prstGeom>
          <a:noFill/>
          <a:ln/>
        </p:spPr>
        <p:txBody>
          <a:bodyPr wrap="square" lIns="0" tIns="0" rIns="0" bIns="0" rtlCol="0" anchor="ctr"/>
          <a:lstStyle/>
          <a:p>
            <a:pPr indent="0" marL="0">
              <a:buNone/>
            </a:pPr>
            <a:r>
              <a:rPr lang="en-US" sz="900" i="1" dirty="0">
                <a:solidFill>
                  <a:srgbClr val="5C6F83"/>
                </a:solidFill>
                <a:latin typeface="Calibri" pitchFamily="34" charset="0"/>
                <a:ea typeface="Calibri" pitchFamily="34" charset="-122"/>
                <a:cs typeface="Calibri" pitchFamily="34" charset="-120"/>
              </a:rPr>
              <a:t>Illustrative quantitative anchors drawn from the null-DGM simulation summary.</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65A82"/>
          </a:solidFill>
          <a:ln w="12700">
            <a:solidFill>
              <a:srgbClr val="065A82"/>
            </a:solidFill>
            <a:prstDash val="solid"/>
          </a:ln>
        </p:spPr>
      </p:sp>
      <p:sp>
        <p:nvSpPr>
          <p:cNvPr id="3" name="Text 1"/>
          <p:cNvSpPr/>
          <p:nvPr/>
        </p:nvSpPr>
        <p:spPr>
          <a:xfrm>
            <a:off x="502920" y="320040"/>
            <a:ext cx="11155680" cy="292608"/>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INTERPRETATION</a:t>
            </a:r>
            <a:endParaRPr lang="en-US" sz="1100" dirty="0"/>
          </a:p>
        </p:txBody>
      </p:sp>
      <p:sp>
        <p:nvSpPr>
          <p:cNvPr id="4" name="Text 2"/>
          <p:cNvSpPr/>
          <p:nvPr/>
        </p:nvSpPr>
        <p:spPr>
          <a:xfrm>
            <a:off x="502920" y="612648"/>
            <a:ext cx="11155680" cy="685800"/>
          </a:xfrm>
          <a:prstGeom prst="rect">
            <a:avLst/>
          </a:prstGeom>
          <a:noFill/>
          <a:ln/>
        </p:spPr>
        <p:txBody>
          <a:bodyPr wrap="square" lIns="0" tIns="0" rIns="0" bIns="0" rtlCol="0" anchor="ctr"/>
          <a:lstStyle/>
          <a:p>
            <a:pPr indent="0" marL="0">
              <a:buNone/>
            </a:pPr>
            <a:r>
              <a:rPr lang="en-US" sz="3000" b="1" dirty="0">
                <a:solidFill>
                  <a:srgbClr val="0C2344"/>
                </a:solidFill>
                <a:latin typeface="Calibri" pitchFamily="34" charset="0"/>
                <a:ea typeface="Calibri" pitchFamily="34" charset="-122"/>
                <a:cs typeface="Calibri" pitchFamily="34" charset="-120"/>
              </a:rPr>
              <a:t>Interpreting Subgroup Findings with the Benchmarks</a:t>
            </a:r>
            <a:endParaRPr lang="en-US" sz="3000" dirty="0"/>
          </a:p>
        </p:txBody>
      </p:sp>
      <p:sp>
        <p:nvSpPr>
          <p:cNvPr id="5" name="Shape 3"/>
          <p:cNvSpPr/>
          <p:nvPr/>
        </p:nvSpPr>
        <p:spPr>
          <a:xfrm>
            <a:off x="502920" y="1417320"/>
            <a:ext cx="11155680" cy="1371600"/>
          </a:xfrm>
          <a:prstGeom prst="rect">
            <a:avLst/>
          </a:prstGeom>
          <a:solidFill>
            <a:srgbClr val="F5F8FC"/>
          </a:solidFill>
          <a:ln w="6350">
            <a:solidFill>
              <a:srgbClr val="C9D3DD"/>
            </a:solidFill>
            <a:prstDash val="solid"/>
          </a:ln>
        </p:spPr>
      </p:sp>
      <p:sp>
        <p:nvSpPr>
          <p:cNvPr id="6" name="Shape 4"/>
          <p:cNvSpPr/>
          <p:nvPr/>
        </p:nvSpPr>
        <p:spPr>
          <a:xfrm>
            <a:off x="502920" y="1417320"/>
            <a:ext cx="73152" cy="1371600"/>
          </a:xfrm>
          <a:prstGeom prst="rect">
            <a:avLst/>
          </a:prstGeom>
          <a:solidFill>
            <a:srgbClr val="D4A017"/>
          </a:solidFill>
          <a:ln w="12700">
            <a:solidFill>
              <a:srgbClr val="D4A017"/>
            </a:solidFill>
            <a:prstDash val="solid"/>
          </a:ln>
        </p:spPr>
      </p:sp>
      <p:sp>
        <p:nvSpPr>
          <p:cNvPr id="7" name="Text 5"/>
          <p:cNvSpPr/>
          <p:nvPr/>
        </p:nvSpPr>
        <p:spPr>
          <a:xfrm>
            <a:off x="777240" y="1645920"/>
            <a:ext cx="10698480" cy="914400"/>
          </a:xfrm>
          <a:prstGeom prst="rect">
            <a:avLst/>
          </a:prstGeom>
          <a:noFill/>
          <a:ln/>
        </p:spPr>
        <p:txBody>
          <a:bodyPr wrap="square" lIns="0" tIns="0" rIns="0" bIns="0" rtlCol="0" anchor="ctr"/>
          <a:lstStyle/>
          <a:p>
            <a:pPr indent="0" marL="0">
              <a:buNone/>
            </a:pPr>
            <a:r>
              <a:rPr lang="en-US" sz="1800" i="1" dirty="0">
                <a:solidFill>
                  <a:srgbClr val="0C2344"/>
                </a:solidFill>
                <a:latin typeface="Georgia" pitchFamily="34" charset="0"/>
                <a:ea typeface="Georgia" pitchFamily="34" charset="-122"/>
                <a:cs typeface="Georgia" pitchFamily="34" charset="-120"/>
              </a:rPr>
              <a:t>Before concluding that a subgroup finding reflects real heterogeneity, compare it against what chance alone produces for a subgroup of the same size.</a:t>
            </a:r>
            <a:endParaRPr lang="en-US" sz="1800" dirty="0"/>
          </a:p>
        </p:txBody>
      </p:sp>
      <p:sp>
        <p:nvSpPr>
          <p:cNvPr id="8" name="Shape 6"/>
          <p:cNvSpPr/>
          <p:nvPr/>
        </p:nvSpPr>
        <p:spPr>
          <a:xfrm>
            <a:off x="502920" y="3017520"/>
            <a:ext cx="3535680" cy="3108960"/>
          </a:xfrm>
          <a:prstGeom prst="rect">
            <a:avLst/>
          </a:prstGeom>
          <a:solidFill>
            <a:srgbClr val="F5F8FC"/>
          </a:solidFill>
          <a:ln w="6350">
            <a:solidFill>
              <a:srgbClr val="C9D3DD"/>
            </a:solidFill>
            <a:prstDash val="solid"/>
          </a:ln>
        </p:spPr>
      </p:sp>
      <p:sp>
        <p:nvSpPr>
          <p:cNvPr id="9" name="Shape 7"/>
          <p:cNvSpPr/>
          <p:nvPr/>
        </p:nvSpPr>
        <p:spPr>
          <a:xfrm>
            <a:off x="502920" y="3017520"/>
            <a:ext cx="73152" cy="3108960"/>
          </a:xfrm>
          <a:prstGeom prst="rect">
            <a:avLst/>
          </a:prstGeom>
          <a:solidFill>
            <a:srgbClr val="065A82"/>
          </a:solidFill>
          <a:ln w="12700">
            <a:solidFill>
              <a:srgbClr val="065A82"/>
            </a:solidFill>
            <a:prstDash val="solid"/>
          </a:ln>
        </p:spPr>
      </p:sp>
      <p:sp>
        <p:nvSpPr>
          <p:cNvPr id="10" name="Text 8"/>
          <p:cNvSpPr/>
          <p:nvPr/>
        </p:nvSpPr>
        <p:spPr>
          <a:xfrm>
            <a:off x="777240" y="3200400"/>
            <a:ext cx="914400" cy="914400"/>
          </a:xfrm>
          <a:prstGeom prst="rect">
            <a:avLst/>
          </a:prstGeom>
          <a:noFill/>
          <a:ln/>
        </p:spPr>
        <p:txBody>
          <a:bodyPr wrap="square" lIns="0" tIns="0" rIns="0" bIns="0" rtlCol="0" anchor="ctr"/>
          <a:lstStyle/>
          <a:p>
            <a:pPr indent="0" marL="0">
              <a:buNone/>
            </a:pPr>
            <a:r>
              <a:rPr lang="en-US" sz="4200" b="1" dirty="0">
                <a:solidFill>
                  <a:srgbClr val="065A82"/>
                </a:solidFill>
                <a:latin typeface="Georgia" pitchFamily="34" charset="0"/>
                <a:ea typeface="Georgia" pitchFamily="34" charset="-122"/>
                <a:cs typeface="Georgia" pitchFamily="34" charset="-120"/>
              </a:rPr>
              <a:t>1</a:t>
            </a:r>
            <a:endParaRPr lang="en-US" sz="4200" dirty="0"/>
          </a:p>
        </p:txBody>
      </p:sp>
      <p:sp>
        <p:nvSpPr>
          <p:cNvPr id="11" name="Text 9"/>
          <p:cNvSpPr/>
          <p:nvPr/>
        </p:nvSpPr>
        <p:spPr>
          <a:xfrm>
            <a:off x="1600200" y="3291840"/>
            <a:ext cx="2255520" cy="822960"/>
          </a:xfrm>
          <a:prstGeom prst="rect">
            <a:avLst/>
          </a:prstGeom>
          <a:noFill/>
          <a:ln/>
        </p:spPr>
        <p:txBody>
          <a:bodyPr wrap="square" lIns="0" tIns="0" rIns="0" bIns="0" rtlCol="0" anchor="ctr"/>
          <a:lstStyle/>
          <a:p>
            <a:pPr indent="0" marL="0">
              <a:buNone/>
            </a:pPr>
            <a:r>
              <a:rPr lang="en-US" sz="1500" b="1" dirty="0">
                <a:solidFill>
                  <a:srgbClr val="0C2344"/>
                </a:solidFill>
                <a:latin typeface="Calibri" pitchFamily="34" charset="0"/>
                <a:ea typeface="Calibri" pitchFamily="34" charset="-122"/>
                <a:cs typeface="Calibri" pitchFamily="34" charset="-120"/>
              </a:rPr>
              <a:t>Wide CIs are correct</a:t>
            </a:r>
            <a:endParaRPr lang="en-US" sz="1500" dirty="0"/>
          </a:p>
        </p:txBody>
      </p:sp>
      <p:sp>
        <p:nvSpPr>
          <p:cNvPr id="12" name="Text 10"/>
          <p:cNvSpPr/>
          <p:nvPr/>
        </p:nvSpPr>
        <p:spPr>
          <a:xfrm>
            <a:off x="777240" y="4251960"/>
            <a:ext cx="3078480" cy="1645920"/>
          </a:xfrm>
          <a:prstGeom prst="rect">
            <a:avLst/>
          </a:prstGeom>
          <a:noFill/>
          <a:ln/>
        </p:spPr>
        <p:txBody>
          <a:bodyPr wrap="square" lIns="0" tIns="0" rIns="0" bIns="0" rtlCol="0" anchor="ctr"/>
          <a:lstStyle/>
          <a:p>
            <a:pPr indent="0" marL="0">
              <a:buNone/>
            </a:pPr>
            <a:r>
              <a:rPr lang="en-US" sz="1300" dirty="0">
                <a:solidFill>
                  <a:srgbClr val="1A2A3A"/>
                </a:solidFill>
                <a:latin typeface="Calibri" pitchFamily="34" charset="0"/>
                <a:ea typeface="Calibri" pitchFamily="34" charset="-122"/>
                <a:cs typeface="Calibri" pitchFamily="34" charset="-120"/>
              </a:rPr>
              <a:t>The Cox model is working exactly as intended. A 95 % CI from 0.3 to 4.5 in a 15-patient subgroup is a faithful summary of the evidence — not a bug.</a:t>
            </a:r>
            <a:endParaRPr lang="en-US" sz="1300" dirty="0"/>
          </a:p>
        </p:txBody>
      </p:sp>
      <p:sp>
        <p:nvSpPr>
          <p:cNvPr id="13" name="Shape 11"/>
          <p:cNvSpPr/>
          <p:nvPr/>
        </p:nvSpPr>
        <p:spPr>
          <a:xfrm>
            <a:off x="4312920" y="3017520"/>
            <a:ext cx="3535680" cy="3108960"/>
          </a:xfrm>
          <a:prstGeom prst="rect">
            <a:avLst/>
          </a:prstGeom>
          <a:solidFill>
            <a:srgbClr val="F5F8FC"/>
          </a:solidFill>
          <a:ln w="6350">
            <a:solidFill>
              <a:srgbClr val="C9D3DD"/>
            </a:solidFill>
            <a:prstDash val="solid"/>
          </a:ln>
        </p:spPr>
      </p:sp>
      <p:sp>
        <p:nvSpPr>
          <p:cNvPr id="14" name="Shape 12"/>
          <p:cNvSpPr/>
          <p:nvPr/>
        </p:nvSpPr>
        <p:spPr>
          <a:xfrm>
            <a:off x="4312920" y="3017520"/>
            <a:ext cx="73152" cy="3108960"/>
          </a:xfrm>
          <a:prstGeom prst="rect">
            <a:avLst/>
          </a:prstGeom>
          <a:solidFill>
            <a:srgbClr val="1C7293"/>
          </a:solidFill>
          <a:ln w="12700">
            <a:solidFill>
              <a:srgbClr val="1C7293"/>
            </a:solidFill>
            <a:prstDash val="solid"/>
          </a:ln>
        </p:spPr>
      </p:sp>
      <p:sp>
        <p:nvSpPr>
          <p:cNvPr id="15" name="Text 13"/>
          <p:cNvSpPr/>
          <p:nvPr/>
        </p:nvSpPr>
        <p:spPr>
          <a:xfrm>
            <a:off x="4587240" y="3200400"/>
            <a:ext cx="914400" cy="914400"/>
          </a:xfrm>
          <a:prstGeom prst="rect">
            <a:avLst/>
          </a:prstGeom>
          <a:noFill/>
          <a:ln/>
        </p:spPr>
        <p:txBody>
          <a:bodyPr wrap="square" lIns="0" tIns="0" rIns="0" bIns="0" rtlCol="0" anchor="ctr"/>
          <a:lstStyle/>
          <a:p>
            <a:pPr indent="0" marL="0">
              <a:buNone/>
            </a:pPr>
            <a:r>
              <a:rPr lang="en-US" sz="4200" b="1" dirty="0">
                <a:solidFill>
                  <a:srgbClr val="1C7293"/>
                </a:solidFill>
                <a:latin typeface="Georgia" pitchFamily="34" charset="0"/>
                <a:ea typeface="Georgia" pitchFamily="34" charset="-122"/>
                <a:cs typeface="Georgia" pitchFamily="34" charset="-120"/>
              </a:rPr>
              <a:t>2</a:t>
            </a:r>
            <a:endParaRPr lang="en-US" sz="4200" dirty="0"/>
          </a:p>
        </p:txBody>
      </p:sp>
      <p:sp>
        <p:nvSpPr>
          <p:cNvPr id="16" name="Text 14"/>
          <p:cNvSpPr/>
          <p:nvPr/>
        </p:nvSpPr>
        <p:spPr>
          <a:xfrm>
            <a:off x="5410200" y="3291840"/>
            <a:ext cx="2255520" cy="822960"/>
          </a:xfrm>
          <a:prstGeom prst="rect">
            <a:avLst/>
          </a:prstGeom>
          <a:noFill/>
          <a:ln/>
        </p:spPr>
        <p:txBody>
          <a:bodyPr wrap="square" lIns="0" tIns="0" rIns="0" bIns="0" rtlCol="0" anchor="ctr"/>
          <a:lstStyle/>
          <a:p>
            <a:pPr indent="0" marL="0">
              <a:buNone/>
            </a:pPr>
            <a:r>
              <a:rPr lang="en-US" sz="1500" b="1" dirty="0">
                <a:solidFill>
                  <a:srgbClr val="0C2344"/>
                </a:solidFill>
                <a:latin typeface="Calibri" pitchFamily="34" charset="0"/>
                <a:ea typeface="Calibri" pitchFamily="34" charset="-122"/>
                <a:cs typeface="Calibri" pitchFamily="34" charset="-120"/>
              </a:rPr>
              <a:t>Clinical rationale ≠ statistical protection</a:t>
            </a:r>
            <a:endParaRPr lang="en-US" sz="1500" dirty="0"/>
          </a:p>
        </p:txBody>
      </p:sp>
      <p:sp>
        <p:nvSpPr>
          <p:cNvPr id="17" name="Text 15"/>
          <p:cNvSpPr/>
          <p:nvPr/>
        </p:nvSpPr>
        <p:spPr>
          <a:xfrm>
            <a:off x="4587240" y="4251960"/>
            <a:ext cx="3078480" cy="1645920"/>
          </a:xfrm>
          <a:prstGeom prst="rect">
            <a:avLst/>
          </a:prstGeom>
          <a:noFill/>
          <a:ln/>
        </p:spPr>
        <p:txBody>
          <a:bodyPr wrap="square" lIns="0" tIns="0" rIns="0" bIns="0" rtlCol="0" anchor="ctr"/>
          <a:lstStyle/>
          <a:p>
            <a:pPr indent="0" marL="0">
              <a:buNone/>
            </a:pPr>
            <a:r>
              <a:rPr lang="en-US" sz="1300" dirty="0">
                <a:solidFill>
                  <a:srgbClr val="1A2A3A"/>
                </a:solidFill>
                <a:latin typeface="Calibri" pitchFamily="34" charset="0"/>
                <a:ea typeface="Calibri" pitchFamily="34" charset="-122"/>
                <a:cs typeface="Calibri" pitchFamily="34" charset="-120"/>
              </a:rPr>
              <a:t>Clinical subgroups of N ≈ 40 have the same HR / UB distribution as random benchmarks of N ≈ 40. The naming and motivation do not reduce variability.</a:t>
            </a:r>
            <a:endParaRPr lang="en-US" sz="1300" dirty="0"/>
          </a:p>
        </p:txBody>
      </p:sp>
      <p:sp>
        <p:nvSpPr>
          <p:cNvPr id="18" name="Shape 16"/>
          <p:cNvSpPr/>
          <p:nvPr/>
        </p:nvSpPr>
        <p:spPr>
          <a:xfrm>
            <a:off x="8122920" y="3017520"/>
            <a:ext cx="3535680" cy="3108960"/>
          </a:xfrm>
          <a:prstGeom prst="rect">
            <a:avLst/>
          </a:prstGeom>
          <a:solidFill>
            <a:srgbClr val="F5F8FC"/>
          </a:solidFill>
          <a:ln w="6350">
            <a:solidFill>
              <a:srgbClr val="C9D3DD"/>
            </a:solidFill>
            <a:prstDash val="solid"/>
          </a:ln>
        </p:spPr>
      </p:sp>
      <p:sp>
        <p:nvSpPr>
          <p:cNvPr id="19" name="Shape 17"/>
          <p:cNvSpPr/>
          <p:nvPr/>
        </p:nvSpPr>
        <p:spPr>
          <a:xfrm>
            <a:off x="8122920" y="3017520"/>
            <a:ext cx="73152" cy="3108960"/>
          </a:xfrm>
          <a:prstGeom prst="rect">
            <a:avLst/>
          </a:prstGeom>
          <a:solidFill>
            <a:srgbClr val="C0392B"/>
          </a:solidFill>
          <a:ln w="12700">
            <a:solidFill>
              <a:srgbClr val="C0392B"/>
            </a:solidFill>
            <a:prstDash val="solid"/>
          </a:ln>
        </p:spPr>
      </p:sp>
      <p:sp>
        <p:nvSpPr>
          <p:cNvPr id="20" name="Text 18"/>
          <p:cNvSpPr/>
          <p:nvPr/>
        </p:nvSpPr>
        <p:spPr>
          <a:xfrm>
            <a:off x="8397240" y="3200400"/>
            <a:ext cx="914400" cy="914400"/>
          </a:xfrm>
          <a:prstGeom prst="rect">
            <a:avLst/>
          </a:prstGeom>
          <a:noFill/>
          <a:ln/>
        </p:spPr>
        <p:txBody>
          <a:bodyPr wrap="square" lIns="0" tIns="0" rIns="0" bIns="0" rtlCol="0" anchor="ctr"/>
          <a:lstStyle/>
          <a:p>
            <a:pPr indent="0" marL="0">
              <a:buNone/>
            </a:pPr>
            <a:r>
              <a:rPr lang="en-US" sz="4200" b="1" dirty="0">
                <a:solidFill>
                  <a:srgbClr val="C0392B"/>
                </a:solidFill>
                <a:latin typeface="Georgia" pitchFamily="34" charset="0"/>
                <a:ea typeface="Georgia" pitchFamily="34" charset="-122"/>
                <a:cs typeface="Georgia" pitchFamily="34" charset="-120"/>
              </a:rPr>
              <a:t>3</a:t>
            </a:r>
            <a:endParaRPr lang="en-US" sz="4200" dirty="0"/>
          </a:p>
        </p:txBody>
      </p:sp>
      <p:sp>
        <p:nvSpPr>
          <p:cNvPr id="21" name="Text 19"/>
          <p:cNvSpPr/>
          <p:nvPr/>
        </p:nvSpPr>
        <p:spPr>
          <a:xfrm>
            <a:off x="9220200" y="3291840"/>
            <a:ext cx="2255520" cy="822960"/>
          </a:xfrm>
          <a:prstGeom prst="rect">
            <a:avLst/>
          </a:prstGeom>
          <a:noFill/>
          <a:ln/>
        </p:spPr>
        <p:txBody>
          <a:bodyPr wrap="square" lIns="0" tIns="0" rIns="0" bIns="0" rtlCol="0" anchor="ctr"/>
          <a:lstStyle/>
          <a:p>
            <a:pPr indent="0" marL="0">
              <a:buNone/>
            </a:pPr>
            <a:r>
              <a:rPr lang="en-US" sz="1500" b="1" dirty="0">
                <a:solidFill>
                  <a:srgbClr val="0C2344"/>
                </a:solidFill>
                <a:latin typeface="Calibri" pitchFamily="34" charset="0"/>
                <a:ea typeface="Calibri" pitchFamily="34" charset="-122"/>
                <a:cs typeface="Calibri" pitchFamily="34" charset="-120"/>
              </a:rPr>
              <a:t>Calibrate, then interpret</a:t>
            </a:r>
            <a:endParaRPr lang="en-US" sz="1500" dirty="0"/>
          </a:p>
        </p:txBody>
      </p:sp>
      <p:sp>
        <p:nvSpPr>
          <p:cNvPr id="22" name="Text 20"/>
          <p:cNvSpPr/>
          <p:nvPr/>
        </p:nvSpPr>
        <p:spPr>
          <a:xfrm>
            <a:off x="8397240" y="4251960"/>
            <a:ext cx="3078480" cy="1645920"/>
          </a:xfrm>
          <a:prstGeom prst="rect">
            <a:avLst/>
          </a:prstGeom>
          <a:noFill/>
          <a:ln/>
        </p:spPr>
        <p:txBody>
          <a:bodyPr wrap="square" lIns="0" tIns="0" rIns="0" bIns="0" rtlCol="0" anchor="ctr"/>
          <a:lstStyle/>
          <a:p>
            <a:pPr indent="0" marL="0">
              <a:buNone/>
            </a:pPr>
            <a:r>
              <a:rPr lang="en-US" sz="1300" dirty="0">
                <a:solidFill>
                  <a:srgbClr val="1A2A3A"/>
                </a:solidFill>
                <a:latin typeface="Calibri" pitchFamily="34" charset="0"/>
                <a:ea typeface="Calibri" pitchFamily="34" charset="-122"/>
                <a:cs typeface="Calibri" pitchFamily="34" charset="-120"/>
              </a:rPr>
              <a:t>A UB(HR) of 3.5 in a 40-patient subgroup is unremarkable against random40. The same value in a 300-patient subgroup is genuinely extreme. Context is everything.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65A82"/>
          </a:solidFill>
          <a:ln w="12700">
            <a:solidFill>
              <a:srgbClr val="065A82"/>
            </a:solidFill>
            <a:prstDash val="solid"/>
          </a:ln>
        </p:spPr>
      </p:sp>
      <p:sp>
        <p:nvSpPr>
          <p:cNvPr id="3" name="Text 1"/>
          <p:cNvSpPr/>
          <p:nvPr/>
        </p:nvSpPr>
        <p:spPr>
          <a:xfrm>
            <a:off x="502920" y="320040"/>
            <a:ext cx="11155680" cy="292608"/>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ADAPTING THE FRAMEWORK</a:t>
            </a:r>
            <a:endParaRPr lang="en-US" sz="1100" dirty="0"/>
          </a:p>
        </p:txBody>
      </p:sp>
      <p:sp>
        <p:nvSpPr>
          <p:cNvPr id="4" name="Text 2"/>
          <p:cNvSpPr/>
          <p:nvPr/>
        </p:nvSpPr>
        <p:spPr>
          <a:xfrm>
            <a:off x="502920" y="612648"/>
            <a:ext cx="11155680" cy="685800"/>
          </a:xfrm>
          <a:prstGeom prst="rect">
            <a:avLst/>
          </a:prstGeom>
          <a:noFill/>
          <a:ln/>
        </p:spPr>
        <p:txBody>
          <a:bodyPr wrap="square" lIns="0" tIns="0" rIns="0" bIns="0" rtlCol="0" anchor="ctr"/>
          <a:lstStyle/>
          <a:p>
            <a:pPr indent="0" marL="0">
              <a:buNone/>
            </a:pPr>
            <a:r>
              <a:rPr lang="en-US" sz="3000" b="1" dirty="0">
                <a:solidFill>
                  <a:srgbClr val="0C2344"/>
                </a:solidFill>
                <a:latin typeface="Calibri" pitchFamily="34" charset="0"/>
                <a:ea typeface="Calibri" pitchFamily="34" charset="-122"/>
                <a:cs typeface="Calibri" pitchFamily="34" charset="-120"/>
              </a:rPr>
              <a:t>Swap in Your Own Trial Data</a:t>
            </a:r>
            <a:endParaRPr lang="en-US" sz="3000" dirty="0"/>
          </a:p>
        </p:txBody>
      </p:sp>
      <p:sp>
        <p:nvSpPr>
          <p:cNvPr id="5" name="Text 3"/>
          <p:cNvSpPr/>
          <p:nvPr/>
        </p:nvSpPr>
        <p:spPr>
          <a:xfrm>
            <a:off x="502920" y="1417320"/>
            <a:ext cx="11155680" cy="685800"/>
          </a:xfrm>
          <a:prstGeom prst="rect">
            <a:avLst/>
          </a:prstGeom>
          <a:noFill/>
          <a:ln/>
        </p:spPr>
        <p:txBody>
          <a:bodyPr wrap="square" lIns="0" tIns="0" rIns="0" bIns="0" rtlCol="0" anchor="ctr"/>
          <a:lstStyle/>
          <a:p>
            <a:pPr indent="0" marL="0">
              <a:buNone/>
            </a:pPr>
            <a:r>
              <a:rPr lang="en-US" sz="1400" i="1" dirty="0">
                <a:solidFill>
                  <a:srgbClr val="1A2A3A"/>
                </a:solidFill>
                <a:latin typeface="Calibri" pitchFamily="34" charset="0"/>
                <a:ea typeface="Calibri" pitchFamily="34" charset="-122"/>
                <a:cs typeface="Calibri" pitchFamily="34" charset="-120"/>
              </a:rPr>
              <a:t>The framework is designed so that GBSG is an example, not a requirement. Any trial with a time-to-event outcome, a treatment indicator, and baseline covariates can be plugged in.</a:t>
            </a:r>
            <a:endParaRPr lang="en-US" sz="1400" dirty="0"/>
          </a:p>
        </p:txBody>
      </p:sp>
      <p:sp>
        <p:nvSpPr>
          <p:cNvPr id="6" name="Shape 4"/>
          <p:cNvSpPr/>
          <p:nvPr/>
        </p:nvSpPr>
        <p:spPr>
          <a:xfrm>
            <a:off x="502920" y="2240280"/>
            <a:ext cx="2617470" cy="1737360"/>
          </a:xfrm>
          <a:prstGeom prst="rect">
            <a:avLst/>
          </a:prstGeom>
          <a:solidFill>
            <a:srgbClr val="F5F8FC"/>
          </a:solidFill>
          <a:ln w="6350">
            <a:solidFill>
              <a:srgbClr val="C9D3DD"/>
            </a:solidFill>
            <a:prstDash val="solid"/>
          </a:ln>
        </p:spPr>
      </p:sp>
      <p:sp>
        <p:nvSpPr>
          <p:cNvPr id="7" name="Shape 5"/>
          <p:cNvSpPr/>
          <p:nvPr/>
        </p:nvSpPr>
        <p:spPr>
          <a:xfrm>
            <a:off x="502920" y="2240280"/>
            <a:ext cx="2617470" cy="411480"/>
          </a:xfrm>
          <a:prstGeom prst="rect">
            <a:avLst/>
          </a:prstGeom>
          <a:solidFill>
            <a:srgbClr val="1C7293"/>
          </a:solidFill>
          <a:ln w="12700">
            <a:solidFill>
              <a:srgbClr val="1C7293"/>
            </a:solidFill>
            <a:prstDash val="solid"/>
          </a:ln>
        </p:spPr>
      </p:sp>
      <p:sp>
        <p:nvSpPr>
          <p:cNvPr id="8" name="Text 6"/>
          <p:cNvSpPr/>
          <p:nvPr/>
        </p:nvSpPr>
        <p:spPr>
          <a:xfrm>
            <a:off x="640080" y="2286000"/>
            <a:ext cx="234315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Outcome</a:t>
            </a:r>
            <a:endParaRPr lang="en-US" sz="1300" dirty="0"/>
          </a:p>
        </p:txBody>
      </p:sp>
      <p:sp>
        <p:nvSpPr>
          <p:cNvPr id="9" name="Text 7"/>
          <p:cNvSpPr/>
          <p:nvPr/>
        </p:nvSpPr>
        <p:spPr>
          <a:xfrm>
            <a:off x="640080" y="2743200"/>
            <a:ext cx="2343150" cy="118872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A time variable and an event indicator (0/1).</a:t>
            </a:r>
            <a:endParaRPr lang="en-US" sz="1200" dirty="0"/>
          </a:p>
        </p:txBody>
      </p:sp>
      <p:sp>
        <p:nvSpPr>
          <p:cNvPr id="10" name="Shape 8"/>
          <p:cNvSpPr/>
          <p:nvPr/>
        </p:nvSpPr>
        <p:spPr>
          <a:xfrm>
            <a:off x="3348990" y="2240280"/>
            <a:ext cx="2617470" cy="1737360"/>
          </a:xfrm>
          <a:prstGeom prst="rect">
            <a:avLst/>
          </a:prstGeom>
          <a:solidFill>
            <a:srgbClr val="F5F8FC"/>
          </a:solidFill>
          <a:ln w="6350">
            <a:solidFill>
              <a:srgbClr val="C9D3DD"/>
            </a:solidFill>
            <a:prstDash val="solid"/>
          </a:ln>
        </p:spPr>
      </p:sp>
      <p:sp>
        <p:nvSpPr>
          <p:cNvPr id="11" name="Shape 9"/>
          <p:cNvSpPr/>
          <p:nvPr/>
        </p:nvSpPr>
        <p:spPr>
          <a:xfrm>
            <a:off x="3348990" y="2240280"/>
            <a:ext cx="2617470" cy="411480"/>
          </a:xfrm>
          <a:prstGeom prst="rect">
            <a:avLst/>
          </a:prstGeom>
          <a:solidFill>
            <a:srgbClr val="1C7293"/>
          </a:solidFill>
          <a:ln w="12700">
            <a:solidFill>
              <a:srgbClr val="1C7293"/>
            </a:solidFill>
            <a:prstDash val="solid"/>
          </a:ln>
        </p:spPr>
      </p:sp>
      <p:sp>
        <p:nvSpPr>
          <p:cNvPr id="12" name="Text 10"/>
          <p:cNvSpPr/>
          <p:nvPr/>
        </p:nvSpPr>
        <p:spPr>
          <a:xfrm>
            <a:off x="3486150" y="2286000"/>
            <a:ext cx="234315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Treatment</a:t>
            </a:r>
            <a:endParaRPr lang="en-US" sz="1300" dirty="0"/>
          </a:p>
        </p:txBody>
      </p:sp>
      <p:sp>
        <p:nvSpPr>
          <p:cNvPr id="13" name="Text 11"/>
          <p:cNvSpPr/>
          <p:nvPr/>
        </p:nvSpPr>
        <p:spPr>
          <a:xfrm>
            <a:off x="3486150" y="2743200"/>
            <a:ext cx="2343150" cy="118872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A binary treatment arm variable.</a:t>
            </a:r>
            <a:endParaRPr lang="en-US" sz="1200" dirty="0"/>
          </a:p>
        </p:txBody>
      </p:sp>
      <p:sp>
        <p:nvSpPr>
          <p:cNvPr id="14" name="Shape 12"/>
          <p:cNvSpPr/>
          <p:nvPr/>
        </p:nvSpPr>
        <p:spPr>
          <a:xfrm>
            <a:off x="6195060" y="2240280"/>
            <a:ext cx="2617470" cy="1737360"/>
          </a:xfrm>
          <a:prstGeom prst="rect">
            <a:avLst/>
          </a:prstGeom>
          <a:solidFill>
            <a:srgbClr val="F5F8FC"/>
          </a:solidFill>
          <a:ln w="6350">
            <a:solidFill>
              <a:srgbClr val="C9D3DD"/>
            </a:solidFill>
            <a:prstDash val="solid"/>
          </a:ln>
        </p:spPr>
      </p:sp>
      <p:sp>
        <p:nvSpPr>
          <p:cNvPr id="15" name="Shape 13"/>
          <p:cNvSpPr/>
          <p:nvPr/>
        </p:nvSpPr>
        <p:spPr>
          <a:xfrm>
            <a:off x="6195060" y="2240280"/>
            <a:ext cx="2617470" cy="411480"/>
          </a:xfrm>
          <a:prstGeom prst="rect">
            <a:avLst/>
          </a:prstGeom>
          <a:solidFill>
            <a:srgbClr val="1C7293"/>
          </a:solidFill>
          <a:ln w="12700">
            <a:solidFill>
              <a:srgbClr val="1C7293"/>
            </a:solidFill>
            <a:prstDash val="solid"/>
          </a:ln>
        </p:spPr>
      </p:sp>
      <p:sp>
        <p:nvSpPr>
          <p:cNvPr id="16" name="Text 14"/>
          <p:cNvSpPr/>
          <p:nvPr/>
        </p:nvSpPr>
        <p:spPr>
          <a:xfrm>
            <a:off x="6332220" y="2286000"/>
            <a:ext cx="234315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Covariates</a:t>
            </a:r>
            <a:endParaRPr lang="en-US" sz="1300" dirty="0"/>
          </a:p>
        </p:txBody>
      </p:sp>
      <p:sp>
        <p:nvSpPr>
          <p:cNvPr id="17" name="Text 15"/>
          <p:cNvSpPr/>
          <p:nvPr/>
        </p:nvSpPr>
        <p:spPr>
          <a:xfrm>
            <a:off x="6332220" y="2743200"/>
            <a:ext cx="2343150" cy="118872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Any continuous or categorical baseline variables — age, biomarkers, stratification factors.</a:t>
            </a:r>
            <a:endParaRPr lang="en-US" sz="1200" dirty="0"/>
          </a:p>
        </p:txBody>
      </p:sp>
      <p:sp>
        <p:nvSpPr>
          <p:cNvPr id="18" name="Shape 16"/>
          <p:cNvSpPr/>
          <p:nvPr/>
        </p:nvSpPr>
        <p:spPr>
          <a:xfrm>
            <a:off x="9041130" y="2240280"/>
            <a:ext cx="2617470" cy="1737360"/>
          </a:xfrm>
          <a:prstGeom prst="rect">
            <a:avLst/>
          </a:prstGeom>
          <a:solidFill>
            <a:srgbClr val="F5F8FC"/>
          </a:solidFill>
          <a:ln w="6350">
            <a:solidFill>
              <a:srgbClr val="C9D3DD"/>
            </a:solidFill>
            <a:prstDash val="solid"/>
          </a:ln>
        </p:spPr>
      </p:sp>
      <p:sp>
        <p:nvSpPr>
          <p:cNvPr id="19" name="Shape 17"/>
          <p:cNvSpPr/>
          <p:nvPr/>
        </p:nvSpPr>
        <p:spPr>
          <a:xfrm>
            <a:off x="9041130" y="2240280"/>
            <a:ext cx="2617470" cy="411480"/>
          </a:xfrm>
          <a:prstGeom prst="rect">
            <a:avLst/>
          </a:prstGeom>
          <a:solidFill>
            <a:srgbClr val="1C7293"/>
          </a:solidFill>
          <a:ln w="12700">
            <a:solidFill>
              <a:srgbClr val="1C7293"/>
            </a:solidFill>
            <a:prstDash val="solid"/>
          </a:ln>
        </p:spPr>
      </p:sp>
      <p:sp>
        <p:nvSpPr>
          <p:cNvPr id="20" name="Text 18"/>
          <p:cNvSpPr/>
          <p:nvPr/>
        </p:nvSpPr>
        <p:spPr>
          <a:xfrm>
            <a:off x="9178290" y="2286000"/>
            <a:ext cx="234315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Subgroups</a:t>
            </a:r>
            <a:endParaRPr lang="en-US" sz="1300" dirty="0"/>
          </a:p>
        </p:txBody>
      </p:sp>
      <p:sp>
        <p:nvSpPr>
          <p:cNvPr id="21" name="Text 19"/>
          <p:cNvSpPr/>
          <p:nvPr/>
        </p:nvSpPr>
        <p:spPr>
          <a:xfrm>
            <a:off x="9178290" y="2743200"/>
            <a:ext cx="2343150" cy="118872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Your pre-defined subgroups of interest, expressed as logical / subset conditions.</a:t>
            </a:r>
            <a:endParaRPr lang="en-US" sz="1200" dirty="0"/>
          </a:p>
        </p:txBody>
      </p:sp>
      <p:sp>
        <p:nvSpPr>
          <p:cNvPr id="22" name="Shape 20"/>
          <p:cNvSpPr/>
          <p:nvPr/>
        </p:nvSpPr>
        <p:spPr>
          <a:xfrm>
            <a:off x="502920" y="4297680"/>
            <a:ext cx="11155680" cy="1874520"/>
          </a:xfrm>
          <a:prstGeom prst="rect">
            <a:avLst/>
          </a:prstGeom>
          <a:solidFill>
            <a:srgbClr val="0C2344"/>
          </a:solidFill>
          <a:ln w="12700">
            <a:solidFill>
              <a:srgbClr val="0C2344"/>
            </a:solidFill>
            <a:prstDash val="solid"/>
          </a:ln>
        </p:spPr>
      </p:sp>
      <p:sp>
        <p:nvSpPr>
          <p:cNvPr id="23" name="Text 21"/>
          <p:cNvSpPr/>
          <p:nvPr/>
        </p:nvSpPr>
        <p:spPr>
          <a:xfrm>
            <a:off x="777240" y="4389120"/>
            <a:ext cx="10607040" cy="320040"/>
          </a:xfrm>
          <a:prstGeom prst="rect">
            <a:avLst/>
          </a:prstGeom>
          <a:noFill/>
          <a:ln/>
        </p:spPr>
        <p:txBody>
          <a:bodyPr wrap="square" lIns="0" tIns="0" rIns="0" bIns="0" rtlCol="0" anchor="ctr"/>
          <a:lstStyle/>
          <a:p>
            <a:pPr indent="0" marL="0">
              <a:buNone/>
            </a:pPr>
            <a:r>
              <a:rPr lang="en-US" sz="1300" b="1" spc="300" kern="0" dirty="0">
                <a:solidFill>
                  <a:srgbClr val="D4A017"/>
                </a:solidFill>
                <a:latin typeface="Calibri" pitchFamily="34" charset="0"/>
                <a:ea typeface="Calibri" pitchFamily="34" charset="-122"/>
                <a:cs typeface="Calibri" pitchFamily="34" charset="-120"/>
              </a:rPr>
              <a:t>What actually changes in the code</a:t>
            </a:r>
            <a:endParaRPr lang="en-US" sz="1300" dirty="0"/>
          </a:p>
        </p:txBody>
      </p:sp>
      <p:sp>
        <p:nvSpPr>
          <p:cNvPr id="24" name="Text 22"/>
          <p:cNvSpPr/>
          <p:nvPr/>
        </p:nvSpPr>
        <p:spPr>
          <a:xfrm>
            <a:off x="777240" y="4754880"/>
            <a:ext cx="10607040" cy="1325880"/>
          </a:xfrm>
          <a:prstGeom prst="rect">
            <a:avLst/>
          </a:prstGeom>
          <a:noFill/>
          <a:ln/>
        </p:spPr>
        <p:txBody>
          <a:bodyPr wrap="square" lIns="0" tIns="0" rIns="0" bIns="0" rtlCol="0" anchor="ctr"/>
          <a:lstStyle/>
          <a:p>
            <a:pPr indent="0" marL="0">
              <a:buNone/>
            </a:pPr>
            <a:r>
              <a:rPr lang="en-US" sz="1200" dirty="0">
                <a:solidFill>
                  <a:srgbClr val="E8F0F7"/>
                </a:solidFill>
                <a:latin typeface="Consolas" pitchFamily="34" charset="0"/>
                <a:ea typeface="Consolas" pitchFamily="34" charset="-122"/>
                <a:cs typeface="Consolas" pitchFamily="34" charset="-120"/>
              </a:rPr>
              <a:t>data            = </a:t>
            </a:r>
            <a:pPr indent="0" marL="0">
              <a:buNone/>
            </a:pPr>
            <a:r>
              <a:rPr lang="en-US" sz="1200" b="1" dirty="0">
                <a:solidFill>
                  <a:srgbClr val="D4A017"/>
                </a:solidFill>
                <a:latin typeface="Consolas" pitchFamily="34" charset="0"/>
                <a:ea typeface="Consolas" pitchFamily="34" charset="-122"/>
                <a:cs typeface="Consolas" pitchFamily="34" charset="-120"/>
              </a:rPr>
              <a:t>my_trial_data</a:t>
            </a:r>
            <a:pPr indent="0" marL="0">
              <a:buNone/>
            </a:pPr>
            <a:r>
              <a:rPr lang="en-US" sz="1200" dirty="0">
                <a:solidFill>
                  <a:srgbClr val="5C6F83"/>
                </a:solidFill>
                <a:latin typeface="Consolas" pitchFamily="34" charset="0"/>
                <a:ea typeface="Consolas" pitchFamily="34" charset="-122"/>
                <a:cs typeface="Consolas" pitchFamily="34" charset="-120"/>
              </a:rPr>
              <a:t>              # replaces gbsg</a:t>
            </a:r>
            <a:endParaRPr lang="en-US" sz="1200" dirty="0"/>
          </a:p>
          <a:p>
            <a:pPr indent="0" marL="0">
              <a:buNone/>
            </a:pPr>
            <a:r>
              <a:rPr lang="en-US" sz="1200" dirty="0">
                <a:solidFill>
                  <a:srgbClr val="E8F0F7"/>
                </a:solidFill>
                <a:latin typeface="Consolas" pitchFamily="34" charset="0"/>
                <a:ea typeface="Consolas" pitchFamily="34" charset="-122"/>
                <a:cs typeface="Consolas" pitchFamily="34" charset="-120"/>
              </a:rPr>
              <a:t>outcome_var     = </a:t>
            </a:r>
            <a:pPr indent="0" marL="0">
              <a:buNone/>
            </a:pPr>
            <a:r>
              <a:rPr lang="en-US" sz="1200" b="1" dirty="0">
                <a:solidFill>
                  <a:srgbClr val="D4A017"/>
                </a:solidFill>
                <a:latin typeface="Consolas" pitchFamily="34" charset="0"/>
                <a:ea typeface="Consolas" pitchFamily="34" charset="-122"/>
                <a:cs typeface="Consolas" pitchFamily="34" charset="-120"/>
              </a:rPr>
              <a:t>"time_months"</a:t>
            </a:r>
            <a:pPr indent="0" marL="0">
              <a:buNone/>
            </a:pPr>
            <a:r>
              <a:rPr lang="en-US" sz="1200" dirty="0">
                <a:solidFill>
                  <a:srgbClr val="5C6F83"/>
                </a:solidFill>
                <a:latin typeface="Consolas" pitchFamily="34" charset="0"/>
                <a:ea typeface="Consolas" pitchFamily="34" charset="-122"/>
                <a:cs typeface="Consolas" pitchFamily="34" charset="-120"/>
              </a:rPr>
              <a:t>                # your time column</a:t>
            </a:r>
            <a:endParaRPr lang="en-US" sz="1200" dirty="0"/>
          </a:p>
          <a:p>
            <a:pPr indent="0" marL="0">
              <a:buNone/>
            </a:pPr>
            <a:r>
              <a:rPr lang="en-US" sz="1200" dirty="0">
                <a:solidFill>
                  <a:srgbClr val="E8F0F7"/>
                </a:solidFill>
                <a:latin typeface="Consolas" pitchFamily="34" charset="0"/>
                <a:ea typeface="Consolas" pitchFamily="34" charset="-122"/>
                <a:cs typeface="Consolas" pitchFamily="34" charset="-120"/>
              </a:rPr>
              <a:t>event_var       = </a:t>
            </a:r>
            <a:pPr indent="0" marL="0">
              <a:buNone/>
            </a:pPr>
            <a:r>
              <a:rPr lang="en-US" sz="1200" b="1" dirty="0">
                <a:solidFill>
                  <a:srgbClr val="D4A017"/>
                </a:solidFill>
                <a:latin typeface="Consolas" pitchFamily="34" charset="0"/>
                <a:ea typeface="Consolas" pitchFamily="34" charset="-122"/>
                <a:cs typeface="Consolas" pitchFamily="34" charset="-120"/>
              </a:rPr>
              <a:t>"event"</a:t>
            </a:r>
            <a:pPr indent="0" marL="0">
              <a:buNone/>
            </a:pPr>
            <a:r>
              <a:rPr lang="en-US" sz="1200" dirty="0">
                <a:solidFill>
                  <a:srgbClr val="5C6F83"/>
                </a:solidFill>
                <a:latin typeface="Consolas" pitchFamily="34" charset="0"/>
                <a:ea typeface="Consolas" pitchFamily="34" charset="-122"/>
                <a:cs typeface="Consolas" pitchFamily="34" charset="-120"/>
              </a:rPr>
              <a:t>                      # your event indicator</a:t>
            </a:r>
            <a:endParaRPr lang="en-US" sz="1200" dirty="0"/>
          </a:p>
          <a:p>
            <a:pPr indent="0" marL="0">
              <a:buNone/>
            </a:pPr>
            <a:r>
              <a:rPr lang="en-US" sz="1200" dirty="0">
                <a:solidFill>
                  <a:srgbClr val="E8F0F7"/>
                </a:solidFill>
                <a:latin typeface="Consolas" pitchFamily="34" charset="0"/>
                <a:ea typeface="Consolas" pitchFamily="34" charset="-122"/>
                <a:cs typeface="Consolas" pitchFamily="34" charset="-120"/>
              </a:rPr>
              <a:t>treatment_var   = </a:t>
            </a:r>
            <a:pPr indent="0" marL="0">
              <a:buNone/>
            </a:pPr>
            <a:r>
              <a:rPr lang="en-US" sz="1200" b="1" dirty="0">
                <a:solidFill>
                  <a:srgbClr val="D4A017"/>
                </a:solidFill>
                <a:latin typeface="Consolas" pitchFamily="34" charset="0"/>
                <a:ea typeface="Consolas" pitchFamily="34" charset="-122"/>
                <a:cs typeface="Consolas" pitchFamily="34" charset="-120"/>
              </a:rPr>
              <a:t>"arm"</a:t>
            </a:r>
            <a:pPr indent="0" marL="0">
              <a:buNone/>
            </a:pPr>
            <a:r>
              <a:rPr lang="en-US" sz="1200" dirty="0">
                <a:solidFill>
                  <a:srgbClr val="5C6F83"/>
                </a:solidFill>
                <a:latin typeface="Consolas" pitchFamily="34" charset="0"/>
                <a:ea typeface="Consolas" pitchFamily="34" charset="-122"/>
                <a:cs typeface="Consolas" pitchFamily="34" charset="-120"/>
              </a:rPr>
              <a:t>                        # your treatment indicator</a:t>
            </a:r>
            <a:endParaRPr lang="en-US" sz="1200" dirty="0"/>
          </a:p>
          <a:p>
            <a:pPr indent="0" marL="0">
              <a:buNone/>
            </a:pPr>
            <a:r>
              <a:rPr lang="en-US" sz="1200" dirty="0">
                <a:solidFill>
                  <a:srgbClr val="E8F0F7"/>
                </a:solidFill>
                <a:latin typeface="Consolas" pitchFamily="34" charset="0"/>
                <a:ea typeface="Consolas" pitchFamily="34" charset="-122"/>
                <a:cs typeface="Consolas" pitchFamily="34" charset="-120"/>
              </a:rPr>
              <a:t>continuous_vars = </a:t>
            </a:r>
            <a:pPr indent="0" marL="0">
              <a:buNone/>
            </a:pPr>
            <a:r>
              <a:rPr lang="en-US" sz="1200" b="1" dirty="0">
                <a:solidFill>
                  <a:srgbClr val="D4A017"/>
                </a:solidFill>
                <a:latin typeface="Consolas" pitchFamily="34" charset="0"/>
                <a:ea typeface="Consolas" pitchFamily="34" charset="-122"/>
                <a:cs typeface="Consolas" pitchFamily="34" charset="-120"/>
              </a:rPr>
              <a:t>c("age", "biomarker", …)</a:t>
            </a:r>
            <a:pPr indent="0" marL="0">
              <a:buNone/>
            </a:pPr>
            <a:r>
              <a:rPr lang="en-US" sz="1200" dirty="0">
                <a:solidFill>
                  <a:srgbClr val="5C6F83"/>
                </a:solidFill>
                <a:latin typeface="Consolas" pitchFamily="34" charset="0"/>
                <a:ea typeface="Consolas" pitchFamily="34" charset="-122"/>
                <a:cs typeface="Consolas" pitchFamily="34" charset="-120"/>
              </a:rPr>
              <a:t>   # your continuous covariates</a:t>
            </a:r>
            <a:endParaRPr lang="en-US" sz="1200" dirty="0"/>
          </a:p>
          <a:p>
            <a:pPr indent="0" marL="0">
              <a:buNone/>
            </a:pPr>
            <a:r>
              <a:rPr lang="en-US" sz="1200" dirty="0">
                <a:solidFill>
                  <a:srgbClr val="E8F0F7"/>
                </a:solidFill>
                <a:latin typeface="Consolas" pitchFamily="34" charset="0"/>
                <a:ea typeface="Consolas" pitchFamily="34" charset="-122"/>
                <a:cs typeface="Consolas" pitchFamily="34" charset="-120"/>
              </a:rPr>
              <a:t>factor_vars     = </a:t>
            </a:r>
            <a:pPr indent="0" marL="0">
              <a:buNone/>
            </a:pPr>
            <a:r>
              <a:rPr lang="en-US" sz="1200" b="1" dirty="0">
                <a:solidFill>
                  <a:srgbClr val="D4A017"/>
                </a:solidFill>
                <a:latin typeface="Consolas" pitchFamily="34" charset="0"/>
                <a:ea typeface="Consolas" pitchFamily="34" charset="-122"/>
                <a:cs typeface="Consolas" pitchFamily="34" charset="-120"/>
              </a:rPr>
              <a:t>c("region", "ECOG", …)</a:t>
            </a:r>
            <a:pPr indent="0" marL="0">
              <a:buNone/>
            </a:pPr>
            <a:r>
              <a:rPr lang="en-US" sz="1200" dirty="0">
                <a:solidFill>
                  <a:srgbClr val="5C6F83"/>
                </a:solidFill>
                <a:latin typeface="Consolas" pitchFamily="34" charset="0"/>
                <a:ea typeface="Consolas" pitchFamily="34" charset="-122"/>
                <a:cs typeface="Consolas" pitchFamily="34" charset="-120"/>
              </a:rPr>
              <a:t>     # your factor covariates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65A82"/>
          </a:solidFill>
          <a:ln w="12700">
            <a:solidFill>
              <a:srgbClr val="065A82"/>
            </a:solidFill>
            <a:prstDash val="solid"/>
          </a:ln>
        </p:spPr>
      </p:sp>
      <p:sp>
        <p:nvSpPr>
          <p:cNvPr id="3" name="Text 1"/>
          <p:cNvSpPr/>
          <p:nvPr/>
        </p:nvSpPr>
        <p:spPr>
          <a:xfrm>
            <a:off x="502920" y="320040"/>
            <a:ext cx="11155680" cy="292608"/>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ADAPTING THE FRAMEWORK</a:t>
            </a:r>
            <a:endParaRPr lang="en-US" sz="1100" dirty="0"/>
          </a:p>
        </p:txBody>
      </p:sp>
      <p:sp>
        <p:nvSpPr>
          <p:cNvPr id="4" name="Text 2"/>
          <p:cNvSpPr/>
          <p:nvPr/>
        </p:nvSpPr>
        <p:spPr>
          <a:xfrm>
            <a:off x="502920" y="612648"/>
            <a:ext cx="11155680" cy="685800"/>
          </a:xfrm>
          <a:prstGeom prst="rect">
            <a:avLst/>
          </a:prstGeom>
          <a:noFill/>
          <a:ln/>
        </p:spPr>
        <p:txBody>
          <a:bodyPr wrap="square" lIns="0" tIns="0" rIns="0" bIns="0" rtlCol="0" anchor="ctr"/>
          <a:lstStyle/>
          <a:p>
            <a:pPr indent="0" marL="0">
              <a:buNone/>
            </a:pPr>
            <a:r>
              <a:rPr lang="en-US" sz="3000" b="1" dirty="0">
                <a:solidFill>
                  <a:srgbClr val="0C2344"/>
                </a:solidFill>
                <a:latin typeface="Calibri" pitchFamily="34" charset="0"/>
                <a:ea typeface="Calibri" pitchFamily="34" charset="-122"/>
                <a:cs typeface="Calibri" pitchFamily="34" charset="-120"/>
              </a:rPr>
              <a:t>Six Concrete Steps to Adapt the Vignette</a:t>
            </a:r>
            <a:endParaRPr lang="en-US" sz="3000" dirty="0"/>
          </a:p>
        </p:txBody>
      </p:sp>
      <p:sp>
        <p:nvSpPr>
          <p:cNvPr id="5" name="Shape 3"/>
          <p:cNvSpPr/>
          <p:nvPr/>
        </p:nvSpPr>
        <p:spPr>
          <a:xfrm>
            <a:off x="502920" y="1417320"/>
            <a:ext cx="5440680" cy="1463040"/>
          </a:xfrm>
          <a:prstGeom prst="rect">
            <a:avLst/>
          </a:prstGeom>
          <a:solidFill>
            <a:srgbClr val="F5F8FC"/>
          </a:solidFill>
          <a:ln w="6350">
            <a:solidFill>
              <a:srgbClr val="C9D3DD"/>
            </a:solidFill>
            <a:prstDash val="solid"/>
          </a:ln>
        </p:spPr>
      </p:sp>
      <p:sp>
        <p:nvSpPr>
          <p:cNvPr id="6" name="Shape 4"/>
          <p:cNvSpPr/>
          <p:nvPr/>
        </p:nvSpPr>
        <p:spPr>
          <a:xfrm>
            <a:off x="502920" y="1417320"/>
            <a:ext cx="73152" cy="1463040"/>
          </a:xfrm>
          <a:prstGeom prst="rect">
            <a:avLst/>
          </a:prstGeom>
          <a:solidFill>
            <a:srgbClr val="065A82"/>
          </a:solidFill>
          <a:ln w="12700">
            <a:solidFill>
              <a:srgbClr val="065A82"/>
            </a:solidFill>
            <a:prstDash val="solid"/>
          </a:ln>
        </p:spPr>
      </p:sp>
      <p:sp>
        <p:nvSpPr>
          <p:cNvPr id="7" name="Shape 5"/>
          <p:cNvSpPr/>
          <p:nvPr/>
        </p:nvSpPr>
        <p:spPr>
          <a:xfrm>
            <a:off x="731520" y="1554480"/>
            <a:ext cx="502920" cy="502920"/>
          </a:xfrm>
          <a:prstGeom prst="ellipse">
            <a:avLst/>
          </a:prstGeom>
          <a:solidFill>
            <a:srgbClr val="065A82"/>
          </a:solidFill>
          <a:ln w="12700">
            <a:solidFill>
              <a:srgbClr val="065A82"/>
            </a:solidFill>
            <a:prstDash val="solid"/>
          </a:ln>
        </p:spPr>
      </p:sp>
      <p:sp>
        <p:nvSpPr>
          <p:cNvPr id="8" name="Text 6"/>
          <p:cNvSpPr/>
          <p:nvPr/>
        </p:nvSpPr>
        <p:spPr>
          <a:xfrm>
            <a:off x="731520" y="15544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7"/>
          <p:cNvSpPr/>
          <p:nvPr/>
        </p:nvSpPr>
        <p:spPr>
          <a:xfrm>
            <a:off x="1371600" y="1554480"/>
            <a:ext cx="4434840" cy="457200"/>
          </a:xfrm>
          <a:prstGeom prst="rect">
            <a:avLst/>
          </a:prstGeom>
          <a:noFill/>
          <a:ln/>
        </p:spPr>
        <p:txBody>
          <a:bodyPr wrap="square" lIns="0" tIns="0" rIns="0" bIns="0" rtlCol="0" anchor="ctr"/>
          <a:lstStyle/>
          <a:p>
            <a:pPr indent="0" marL="0">
              <a:buNone/>
            </a:pPr>
            <a:r>
              <a:rPr lang="en-US" sz="1500" b="1" dirty="0">
                <a:solidFill>
                  <a:srgbClr val="0C2344"/>
                </a:solidFill>
                <a:latin typeface="Calibri" pitchFamily="34" charset="0"/>
                <a:ea typeface="Calibri" pitchFamily="34" charset="-122"/>
                <a:cs typeface="Calibri" pitchFamily="34" charset="-120"/>
              </a:rPr>
              <a:t>Align the time scale</a:t>
            </a:r>
            <a:endParaRPr lang="en-US" sz="1500" dirty="0"/>
          </a:p>
        </p:txBody>
      </p:sp>
      <p:sp>
        <p:nvSpPr>
          <p:cNvPr id="10" name="Text 8"/>
          <p:cNvSpPr/>
          <p:nvPr/>
        </p:nvSpPr>
        <p:spPr>
          <a:xfrm>
            <a:off x="731520" y="2075688"/>
            <a:ext cx="5074920" cy="77724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Convert event times to the units the DGM will use (days → months is typical). Time-scale mismatch is the single most common cause of universal administrative censoring.</a:t>
            </a:r>
            <a:endParaRPr lang="en-US" sz="1200" dirty="0"/>
          </a:p>
        </p:txBody>
      </p:sp>
      <p:sp>
        <p:nvSpPr>
          <p:cNvPr id="11" name="Shape 9"/>
          <p:cNvSpPr/>
          <p:nvPr/>
        </p:nvSpPr>
        <p:spPr>
          <a:xfrm>
            <a:off x="6217920" y="1417320"/>
            <a:ext cx="5440680" cy="1463040"/>
          </a:xfrm>
          <a:prstGeom prst="rect">
            <a:avLst/>
          </a:prstGeom>
          <a:solidFill>
            <a:srgbClr val="F5F8FC"/>
          </a:solidFill>
          <a:ln w="6350">
            <a:solidFill>
              <a:srgbClr val="C9D3DD"/>
            </a:solidFill>
            <a:prstDash val="solid"/>
          </a:ln>
        </p:spPr>
      </p:sp>
      <p:sp>
        <p:nvSpPr>
          <p:cNvPr id="12" name="Shape 10"/>
          <p:cNvSpPr/>
          <p:nvPr/>
        </p:nvSpPr>
        <p:spPr>
          <a:xfrm>
            <a:off x="6217920" y="1417320"/>
            <a:ext cx="73152" cy="1463040"/>
          </a:xfrm>
          <a:prstGeom prst="rect">
            <a:avLst/>
          </a:prstGeom>
          <a:solidFill>
            <a:srgbClr val="065A82"/>
          </a:solidFill>
          <a:ln w="12700">
            <a:solidFill>
              <a:srgbClr val="065A82"/>
            </a:solidFill>
            <a:prstDash val="solid"/>
          </a:ln>
        </p:spPr>
      </p:sp>
      <p:sp>
        <p:nvSpPr>
          <p:cNvPr id="13" name="Shape 11"/>
          <p:cNvSpPr/>
          <p:nvPr/>
        </p:nvSpPr>
        <p:spPr>
          <a:xfrm>
            <a:off x="6446520" y="1554480"/>
            <a:ext cx="502920" cy="502920"/>
          </a:xfrm>
          <a:prstGeom prst="ellipse">
            <a:avLst/>
          </a:prstGeom>
          <a:solidFill>
            <a:srgbClr val="065A82"/>
          </a:solidFill>
          <a:ln w="12700">
            <a:solidFill>
              <a:srgbClr val="065A82"/>
            </a:solidFill>
            <a:prstDash val="solid"/>
          </a:ln>
        </p:spPr>
      </p:sp>
      <p:sp>
        <p:nvSpPr>
          <p:cNvPr id="14" name="Text 12"/>
          <p:cNvSpPr/>
          <p:nvPr/>
        </p:nvSpPr>
        <p:spPr>
          <a:xfrm>
            <a:off x="6446520" y="15544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5" name="Text 13"/>
          <p:cNvSpPr/>
          <p:nvPr/>
        </p:nvSpPr>
        <p:spPr>
          <a:xfrm>
            <a:off x="7086600" y="1554480"/>
            <a:ext cx="4434840" cy="457200"/>
          </a:xfrm>
          <a:prstGeom prst="rect">
            <a:avLst/>
          </a:prstGeom>
          <a:noFill/>
          <a:ln/>
        </p:spPr>
        <p:txBody>
          <a:bodyPr wrap="square" lIns="0" tIns="0" rIns="0" bIns="0" rtlCol="0" anchor="ctr"/>
          <a:lstStyle/>
          <a:p>
            <a:pPr indent="0" marL="0">
              <a:buNone/>
            </a:pPr>
            <a:r>
              <a:rPr lang="en-US" sz="1500" b="1" dirty="0">
                <a:solidFill>
                  <a:srgbClr val="0C2344"/>
                </a:solidFill>
                <a:latin typeface="Calibri" pitchFamily="34" charset="0"/>
                <a:ea typeface="Calibri" pitchFamily="34" charset="-122"/>
                <a:cs typeface="Calibri" pitchFamily="34" charset="-120"/>
              </a:rPr>
              <a:t>Swap the data call</a:t>
            </a:r>
            <a:endParaRPr lang="en-US" sz="1500" dirty="0"/>
          </a:p>
        </p:txBody>
      </p:sp>
      <p:sp>
        <p:nvSpPr>
          <p:cNvPr id="16" name="Text 14"/>
          <p:cNvSpPr/>
          <p:nvPr/>
        </p:nvSpPr>
        <p:spPr>
          <a:xfrm>
            <a:off x="6446520" y="2075688"/>
            <a:ext cx="5074920" cy="77724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Replace data = gbsg with your dataset. Map your column names into outcome_var, event_var, treatment_var, continuous_vars, factor_vars.</a:t>
            </a:r>
            <a:endParaRPr lang="en-US" sz="1200" dirty="0"/>
          </a:p>
        </p:txBody>
      </p:sp>
      <p:sp>
        <p:nvSpPr>
          <p:cNvPr id="17" name="Shape 15"/>
          <p:cNvSpPr/>
          <p:nvPr/>
        </p:nvSpPr>
        <p:spPr>
          <a:xfrm>
            <a:off x="502920" y="3017520"/>
            <a:ext cx="5440680" cy="1463040"/>
          </a:xfrm>
          <a:prstGeom prst="rect">
            <a:avLst/>
          </a:prstGeom>
          <a:solidFill>
            <a:srgbClr val="F5F8FC"/>
          </a:solidFill>
          <a:ln w="6350">
            <a:solidFill>
              <a:srgbClr val="C9D3DD"/>
            </a:solidFill>
            <a:prstDash val="solid"/>
          </a:ln>
        </p:spPr>
      </p:sp>
      <p:sp>
        <p:nvSpPr>
          <p:cNvPr id="18" name="Shape 16"/>
          <p:cNvSpPr/>
          <p:nvPr/>
        </p:nvSpPr>
        <p:spPr>
          <a:xfrm>
            <a:off x="502920" y="3017520"/>
            <a:ext cx="73152" cy="1463040"/>
          </a:xfrm>
          <a:prstGeom prst="rect">
            <a:avLst/>
          </a:prstGeom>
          <a:solidFill>
            <a:srgbClr val="065A82"/>
          </a:solidFill>
          <a:ln w="12700">
            <a:solidFill>
              <a:srgbClr val="065A82"/>
            </a:solidFill>
            <a:prstDash val="solid"/>
          </a:ln>
        </p:spPr>
      </p:sp>
      <p:sp>
        <p:nvSpPr>
          <p:cNvPr id="19" name="Shape 17"/>
          <p:cNvSpPr/>
          <p:nvPr/>
        </p:nvSpPr>
        <p:spPr>
          <a:xfrm>
            <a:off x="731520" y="3154680"/>
            <a:ext cx="502920" cy="502920"/>
          </a:xfrm>
          <a:prstGeom prst="ellipse">
            <a:avLst/>
          </a:prstGeom>
          <a:solidFill>
            <a:srgbClr val="065A82"/>
          </a:solidFill>
          <a:ln w="12700">
            <a:solidFill>
              <a:srgbClr val="065A82"/>
            </a:solidFill>
            <a:prstDash val="solid"/>
          </a:ln>
        </p:spPr>
      </p:sp>
      <p:sp>
        <p:nvSpPr>
          <p:cNvPr id="20" name="Text 18"/>
          <p:cNvSpPr/>
          <p:nvPr/>
        </p:nvSpPr>
        <p:spPr>
          <a:xfrm>
            <a:off x="731520" y="31546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1" name="Text 19"/>
          <p:cNvSpPr/>
          <p:nvPr/>
        </p:nvSpPr>
        <p:spPr>
          <a:xfrm>
            <a:off x="1371600" y="3154680"/>
            <a:ext cx="4434840" cy="457200"/>
          </a:xfrm>
          <a:prstGeom prst="rect">
            <a:avLst/>
          </a:prstGeom>
          <a:noFill/>
          <a:ln/>
        </p:spPr>
        <p:txBody>
          <a:bodyPr wrap="square" lIns="0" tIns="0" rIns="0" bIns="0" rtlCol="0" anchor="ctr"/>
          <a:lstStyle/>
          <a:p>
            <a:pPr indent="0" marL="0">
              <a:buNone/>
            </a:pPr>
            <a:r>
              <a:rPr lang="en-US" sz="1500" b="1" dirty="0">
                <a:solidFill>
                  <a:srgbClr val="0C2344"/>
                </a:solidFill>
                <a:latin typeface="Calibri" pitchFamily="34" charset="0"/>
                <a:ea typeface="Calibri" pitchFamily="34" charset="-122"/>
                <a:cs typeface="Calibri" pitchFamily="34" charset="-120"/>
              </a:rPr>
              <a:t>Set model = "null"</a:t>
            </a:r>
            <a:endParaRPr lang="en-US" sz="1500" dirty="0"/>
          </a:p>
        </p:txBody>
      </p:sp>
      <p:sp>
        <p:nvSpPr>
          <p:cNvPr id="22" name="Text 20"/>
          <p:cNvSpPr/>
          <p:nvPr/>
        </p:nvSpPr>
        <p:spPr>
          <a:xfrm>
            <a:off x="731520" y="3675888"/>
            <a:ext cx="5074920" cy="77724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For the extreme-subgroup evaluation, use subgroup_vars = NULL and model = "null" so every patient shares the same true HR.</a:t>
            </a:r>
            <a:endParaRPr lang="en-US" sz="1200" dirty="0"/>
          </a:p>
        </p:txBody>
      </p:sp>
      <p:sp>
        <p:nvSpPr>
          <p:cNvPr id="23" name="Shape 21"/>
          <p:cNvSpPr/>
          <p:nvPr/>
        </p:nvSpPr>
        <p:spPr>
          <a:xfrm>
            <a:off x="6217920" y="3017520"/>
            <a:ext cx="5440680" cy="1463040"/>
          </a:xfrm>
          <a:prstGeom prst="rect">
            <a:avLst/>
          </a:prstGeom>
          <a:solidFill>
            <a:srgbClr val="F5F8FC"/>
          </a:solidFill>
          <a:ln w="6350">
            <a:solidFill>
              <a:srgbClr val="C9D3DD"/>
            </a:solidFill>
            <a:prstDash val="solid"/>
          </a:ln>
        </p:spPr>
      </p:sp>
      <p:sp>
        <p:nvSpPr>
          <p:cNvPr id="24" name="Shape 22"/>
          <p:cNvSpPr/>
          <p:nvPr/>
        </p:nvSpPr>
        <p:spPr>
          <a:xfrm>
            <a:off x="6217920" y="3017520"/>
            <a:ext cx="73152" cy="1463040"/>
          </a:xfrm>
          <a:prstGeom prst="rect">
            <a:avLst/>
          </a:prstGeom>
          <a:solidFill>
            <a:srgbClr val="065A82"/>
          </a:solidFill>
          <a:ln w="12700">
            <a:solidFill>
              <a:srgbClr val="065A82"/>
            </a:solidFill>
            <a:prstDash val="solid"/>
          </a:ln>
        </p:spPr>
      </p:sp>
      <p:sp>
        <p:nvSpPr>
          <p:cNvPr id="25" name="Shape 23"/>
          <p:cNvSpPr/>
          <p:nvPr/>
        </p:nvSpPr>
        <p:spPr>
          <a:xfrm>
            <a:off x="6446520" y="3154680"/>
            <a:ext cx="502920" cy="502920"/>
          </a:xfrm>
          <a:prstGeom prst="ellipse">
            <a:avLst/>
          </a:prstGeom>
          <a:solidFill>
            <a:srgbClr val="065A82"/>
          </a:solidFill>
          <a:ln w="12700">
            <a:solidFill>
              <a:srgbClr val="065A82"/>
            </a:solidFill>
            <a:prstDash val="solid"/>
          </a:ln>
        </p:spPr>
      </p:sp>
      <p:sp>
        <p:nvSpPr>
          <p:cNvPr id="26" name="Text 24"/>
          <p:cNvSpPr/>
          <p:nvPr/>
        </p:nvSpPr>
        <p:spPr>
          <a:xfrm>
            <a:off x="6446520" y="31546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Text 25"/>
          <p:cNvSpPr/>
          <p:nvPr/>
        </p:nvSpPr>
        <p:spPr>
          <a:xfrm>
            <a:off x="7086600" y="3154680"/>
            <a:ext cx="4434840" cy="457200"/>
          </a:xfrm>
          <a:prstGeom prst="rect">
            <a:avLst/>
          </a:prstGeom>
          <a:noFill/>
          <a:ln/>
        </p:spPr>
        <p:txBody>
          <a:bodyPr wrap="square" lIns="0" tIns="0" rIns="0" bIns="0" rtlCol="0" anchor="ctr"/>
          <a:lstStyle/>
          <a:p>
            <a:pPr indent="0" marL="0">
              <a:buNone/>
            </a:pPr>
            <a:r>
              <a:rPr lang="en-US" sz="1500" b="1" dirty="0">
                <a:solidFill>
                  <a:srgbClr val="0C2344"/>
                </a:solidFill>
                <a:latin typeface="Calibri" pitchFamily="34" charset="0"/>
                <a:ea typeface="Calibri" pitchFamily="34" charset="-122"/>
                <a:cs typeface="Calibri" pitchFamily="34" charset="-120"/>
              </a:rPr>
              <a:t>Redefine the subgroup list</a:t>
            </a:r>
            <a:endParaRPr lang="en-US" sz="1500" dirty="0"/>
          </a:p>
        </p:txBody>
      </p:sp>
      <p:sp>
        <p:nvSpPr>
          <p:cNvPr id="28" name="Text 26"/>
          <p:cNvSpPr/>
          <p:nvPr/>
        </p:nvSpPr>
        <p:spPr>
          <a:xfrm>
            <a:off x="6446520" y="3675888"/>
            <a:ext cx="5074920" cy="77724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Edit the subgroups list object. Use the same structure (id / name / grp) with expressions tailored to your covariates. Keep the random15/20/40/60 benchmarks — they are the anchor.</a:t>
            </a:r>
            <a:endParaRPr lang="en-US" sz="1200" dirty="0"/>
          </a:p>
        </p:txBody>
      </p:sp>
      <p:sp>
        <p:nvSpPr>
          <p:cNvPr id="29" name="Shape 27"/>
          <p:cNvSpPr/>
          <p:nvPr/>
        </p:nvSpPr>
        <p:spPr>
          <a:xfrm>
            <a:off x="502920" y="4617720"/>
            <a:ext cx="5440680" cy="1463040"/>
          </a:xfrm>
          <a:prstGeom prst="rect">
            <a:avLst/>
          </a:prstGeom>
          <a:solidFill>
            <a:srgbClr val="F5F8FC"/>
          </a:solidFill>
          <a:ln w="6350">
            <a:solidFill>
              <a:srgbClr val="C9D3DD"/>
            </a:solidFill>
            <a:prstDash val="solid"/>
          </a:ln>
        </p:spPr>
      </p:sp>
      <p:sp>
        <p:nvSpPr>
          <p:cNvPr id="30" name="Shape 28"/>
          <p:cNvSpPr/>
          <p:nvPr/>
        </p:nvSpPr>
        <p:spPr>
          <a:xfrm>
            <a:off x="502920" y="4617720"/>
            <a:ext cx="73152" cy="1463040"/>
          </a:xfrm>
          <a:prstGeom prst="rect">
            <a:avLst/>
          </a:prstGeom>
          <a:solidFill>
            <a:srgbClr val="065A82"/>
          </a:solidFill>
          <a:ln w="12700">
            <a:solidFill>
              <a:srgbClr val="065A82"/>
            </a:solidFill>
            <a:prstDash val="solid"/>
          </a:ln>
        </p:spPr>
      </p:sp>
      <p:sp>
        <p:nvSpPr>
          <p:cNvPr id="31" name="Shape 29"/>
          <p:cNvSpPr/>
          <p:nvPr/>
        </p:nvSpPr>
        <p:spPr>
          <a:xfrm>
            <a:off x="731520" y="4754880"/>
            <a:ext cx="502920" cy="502920"/>
          </a:xfrm>
          <a:prstGeom prst="ellipse">
            <a:avLst/>
          </a:prstGeom>
          <a:solidFill>
            <a:srgbClr val="065A82"/>
          </a:solidFill>
          <a:ln w="12700">
            <a:solidFill>
              <a:srgbClr val="065A82"/>
            </a:solidFill>
            <a:prstDash val="solid"/>
          </a:ln>
        </p:spPr>
      </p:sp>
      <p:sp>
        <p:nvSpPr>
          <p:cNvPr id="32" name="Text 30"/>
          <p:cNvSpPr/>
          <p:nvPr/>
        </p:nvSpPr>
        <p:spPr>
          <a:xfrm>
            <a:off x="731520" y="47548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33" name="Text 31"/>
          <p:cNvSpPr/>
          <p:nvPr/>
        </p:nvSpPr>
        <p:spPr>
          <a:xfrm>
            <a:off x="1371600" y="4754880"/>
            <a:ext cx="4434840" cy="457200"/>
          </a:xfrm>
          <a:prstGeom prst="rect">
            <a:avLst/>
          </a:prstGeom>
          <a:noFill/>
          <a:ln/>
        </p:spPr>
        <p:txBody>
          <a:bodyPr wrap="square" lIns="0" tIns="0" rIns="0" bIns="0" rtlCol="0" anchor="ctr"/>
          <a:lstStyle/>
          <a:p>
            <a:pPr indent="0" marL="0">
              <a:buNone/>
            </a:pPr>
            <a:r>
              <a:rPr lang="en-US" sz="1500" b="1" dirty="0">
                <a:solidFill>
                  <a:srgbClr val="0C2344"/>
                </a:solidFill>
                <a:latin typeface="Calibri" pitchFamily="34" charset="0"/>
                <a:ea typeface="Calibri" pitchFamily="34" charset="-122"/>
                <a:cs typeface="Calibri" pitchFamily="34" charset="-120"/>
              </a:rPr>
              <a:t>Calibrate censoring</a:t>
            </a:r>
            <a:endParaRPr lang="en-US" sz="1500" dirty="0"/>
          </a:p>
        </p:txBody>
      </p:sp>
      <p:sp>
        <p:nvSpPr>
          <p:cNvPr id="34" name="Text 32"/>
          <p:cNvSpPr/>
          <p:nvPr/>
        </p:nvSpPr>
        <p:spPr>
          <a:xfrm>
            <a:off x="731520" y="5276088"/>
            <a:ext cx="5074920" cy="77724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Run check_censoring_dgm() then calibrate_cens_adjust() so synthetic trials reproduce your study’s censoring rate. Set analysis_time and max_entry to match your trial.</a:t>
            </a:r>
            <a:endParaRPr lang="en-US" sz="1200" dirty="0"/>
          </a:p>
        </p:txBody>
      </p:sp>
      <p:sp>
        <p:nvSpPr>
          <p:cNvPr id="35" name="Shape 33"/>
          <p:cNvSpPr/>
          <p:nvPr/>
        </p:nvSpPr>
        <p:spPr>
          <a:xfrm>
            <a:off x="6217920" y="4617720"/>
            <a:ext cx="5440680" cy="1463040"/>
          </a:xfrm>
          <a:prstGeom prst="rect">
            <a:avLst/>
          </a:prstGeom>
          <a:solidFill>
            <a:srgbClr val="F5F8FC"/>
          </a:solidFill>
          <a:ln w="6350">
            <a:solidFill>
              <a:srgbClr val="C9D3DD"/>
            </a:solidFill>
            <a:prstDash val="solid"/>
          </a:ln>
        </p:spPr>
      </p:sp>
      <p:sp>
        <p:nvSpPr>
          <p:cNvPr id="36" name="Shape 34"/>
          <p:cNvSpPr/>
          <p:nvPr/>
        </p:nvSpPr>
        <p:spPr>
          <a:xfrm>
            <a:off x="6217920" y="4617720"/>
            <a:ext cx="73152" cy="1463040"/>
          </a:xfrm>
          <a:prstGeom prst="rect">
            <a:avLst/>
          </a:prstGeom>
          <a:solidFill>
            <a:srgbClr val="065A82"/>
          </a:solidFill>
          <a:ln w="12700">
            <a:solidFill>
              <a:srgbClr val="065A82"/>
            </a:solidFill>
            <a:prstDash val="solid"/>
          </a:ln>
        </p:spPr>
      </p:sp>
      <p:sp>
        <p:nvSpPr>
          <p:cNvPr id="37" name="Shape 35"/>
          <p:cNvSpPr/>
          <p:nvPr/>
        </p:nvSpPr>
        <p:spPr>
          <a:xfrm>
            <a:off x="6446520" y="4754880"/>
            <a:ext cx="502920" cy="502920"/>
          </a:xfrm>
          <a:prstGeom prst="ellipse">
            <a:avLst/>
          </a:prstGeom>
          <a:solidFill>
            <a:srgbClr val="065A82"/>
          </a:solidFill>
          <a:ln w="12700">
            <a:solidFill>
              <a:srgbClr val="065A82"/>
            </a:solidFill>
            <a:prstDash val="solid"/>
          </a:ln>
        </p:spPr>
      </p:sp>
      <p:sp>
        <p:nvSpPr>
          <p:cNvPr id="38" name="Text 36"/>
          <p:cNvSpPr/>
          <p:nvPr/>
        </p:nvSpPr>
        <p:spPr>
          <a:xfrm>
            <a:off x="6446520" y="47548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39" name="Text 37"/>
          <p:cNvSpPr/>
          <p:nvPr/>
        </p:nvSpPr>
        <p:spPr>
          <a:xfrm>
            <a:off x="7086600" y="4754880"/>
            <a:ext cx="4434840" cy="457200"/>
          </a:xfrm>
          <a:prstGeom prst="rect">
            <a:avLst/>
          </a:prstGeom>
          <a:noFill/>
          <a:ln/>
        </p:spPr>
        <p:txBody>
          <a:bodyPr wrap="square" lIns="0" tIns="0" rIns="0" bIns="0" rtlCol="0" anchor="ctr"/>
          <a:lstStyle/>
          <a:p>
            <a:pPr indent="0" marL="0">
              <a:buNone/>
            </a:pPr>
            <a:r>
              <a:rPr lang="en-US" sz="1500" b="1" dirty="0">
                <a:solidFill>
                  <a:srgbClr val="0C2344"/>
                </a:solidFill>
                <a:latin typeface="Calibri" pitchFamily="34" charset="0"/>
                <a:ea typeface="Calibri" pitchFamily="34" charset="-122"/>
                <a:cs typeface="Calibri" pitchFamily="34" charset="-120"/>
              </a:rPr>
              <a:t>Run, summarise, plot</a:t>
            </a:r>
            <a:endParaRPr lang="en-US" sz="1500" dirty="0"/>
          </a:p>
        </p:txBody>
      </p:sp>
      <p:sp>
        <p:nvSpPr>
          <p:cNvPr id="40" name="Text 38"/>
          <p:cNvSpPr/>
          <p:nvPr/>
        </p:nvSpPr>
        <p:spPr>
          <a:xfrm>
            <a:off x="6446520" y="5276088"/>
            <a:ext cx="5074920" cy="77724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Use the same simulation loop: simulate_from_dgm() → coxph() → summarize_extreme_sims() → plot_ub_forest(). All tables and plots update automatically.</a:t>
            </a:r>
            <a:endParaRPr lang="en-US" sz="1200" dirty="0"/>
          </a:p>
        </p:txBody>
      </p:sp>
      <p:sp>
        <p:nvSpPr>
          <p:cNvPr id="41" name="Text 39"/>
          <p:cNvSpPr/>
          <p:nvPr/>
        </p:nvSpPr>
        <p:spPr>
          <a:xfrm>
            <a:off x="502920" y="6217920"/>
            <a:ext cx="11155680" cy="274320"/>
          </a:xfrm>
          <a:prstGeom prst="rect">
            <a:avLst/>
          </a:prstGeom>
          <a:noFill/>
          <a:ln/>
        </p:spPr>
        <p:txBody>
          <a:bodyPr wrap="square" lIns="0" tIns="0" rIns="0" bIns="0" rtlCol="0" anchor="ctr"/>
          <a:lstStyle/>
          <a:p>
            <a:pPr indent="0" marL="0">
              <a:buNone/>
            </a:pPr>
            <a:r>
              <a:rPr lang="en-US" sz="1100" i="1" dirty="0">
                <a:solidFill>
                  <a:srgbClr val="5C6F83"/>
                </a:solidFill>
                <a:latin typeface="Calibri" pitchFamily="34" charset="0"/>
                <a:ea typeface="Calibri" pitchFamily="34" charset="-122"/>
                <a:cs typeface="Calibri" pitchFamily="34" charset="-120"/>
              </a:rPr>
              <a:t>Tip · start by replacing only data and the column mappings; keep all tuning parameters at their defaults for the first run.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65A82"/>
          </a:solidFill>
          <a:ln w="12700">
            <a:solidFill>
              <a:srgbClr val="065A82"/>
            </a:solidFill>
            <a:prstDash val="solid"/>
          </a:ln>
        </p:spPr>
      </p:sp>
      <p:sp>
        <p:nvSpPr>
          <p:cNvPr id="3" name="Text 1"/>
          <p:cNvSpPr/>
          <p:nvPr/>
        </p:nvSpPr>
        <p:spPr>
          <a:xfrm>
            <a:off x="502920" y="320040"/>
            <a:ext cx="11155680" cy="292608"/>
          </a:xfrm>
          <a:prstGeom prst="rect">
            <a:avLst/>
          </a:prstGeom>
          <a:noFill/>
          <a:ln/>
        </p:spPr>
        <p:txBody>
          <a:bodyPr wrap="square" lIns="0" tIns="0" rIns="0" bIns="0" rtlCol="0" anchor="ctr"/>
          <a:lstStyle/>
          <a:p>
            <a:pPr indent="0" marL="0">
              <a:buNone/>
            </a:pPr>
            <a:r>
              <a:rPr lang="en-US" sz="1100" b="1" spc="400" kern="0" dirty="0">
                <a:solidFill>
                  <a:srgbClr val="1C7293"/>
                </a:solidFill>
                <a:latin typeface="Calibri" pitchFamily="34" charset="0"/>
                <a:ea typeface="Calibri" pitchFamily="34" charset="-122"/>
                <a:cs typeface="Calibri" pitchFamily="34" charset="-120"/>
              </a:rPr>
              <a:t>WRAP-UP</a:t>
            </a:r>
            <a:endParaRPr lang="en-US" sz="1100" dirty="0"/>
          </a:p>
        </p:txBody>
      </p:sp>
      <p:sp>
        <p:nvSpPr>
          <p:cNvPr id="4" name="Text 2"/>
          <p:cNvSpPr/>
          <p:nvPr/>
        </p:nvSpPr>
        <p:spPr>
          <a:xfrm>
            <a:off x="502920" y="612648"/>
            <a:ext cx="11155680" cy="685800"/>
          </a:xfrm>
          <a:prstGeom prst="rect">
            <a:avLst/>
          </a:prstGeom>
          <a:noFill/>
          <a:ln/>
        </p:spPr>
        <p:txBody>
          <a:bodyPr wrap="square" lIns="0" tIns="0" rIns="0" bIns="0" rtlCol="0" anchor="ctr"/>
          <a:lstStyle/>
          <a:p>
            <a:pPr indent="0" marL="0">
              <a:buNone/>
            </a:pPr>
            <a:r>
              <a:rPr lang="en-US" sz="3000" b="1" dirty="0">
                <a:solidFill>
                  <a:srgbClr val="0C2344"/>
                </a:solidFill>
                <a:latin typeface="Calibri" pitchFamily="34" charset="0"/>
                <a:ea typeface="Calibri" pitchFamily="34" charset="-122"/>
                <a:cs typeface="Calibri" pitchFamily="34" charset="-120"/>
              </a:rPr>
              <a:t>Conclusions</a:t>
            </a:r>
            <a:endParaRPr lang="en-US" sz="3000" dirty="0"/>
          </a:p>
        </p:txBody>
      </p:sp>
      <p:sp>
        <p:nvSpPr>
          <p:cNvPr id="5" name="Shape 3"/>
          <p:cNvSpPr/>
          <p:nvPr/>
        </p:nvSpPr>
        <p:spPr>
          <a:xfrm>
            <a:off x="502920" y="1417320"/>
            <a:ext cx="11155680" cy="758952"/>
          </a:xfrm>
          <a:prstGeom prst="rect">
            <a:avLst/>
          </a:prstGeom>
          <a:solidFill>
            <a:srgbClr val="F5F8FC"/>
          </a:solidFill>
          <a:ln w="6350">
            <a:solidFill>
              <a:srgbClr val="C9D3DD"/>
            </a:solidFill>
            <a:prstDash val="solid"/>
          </a:ln>
        </p:spPr>
      </p:sp>
      <p:sp>
        <p:nvSpPr>
          <p:cNvPr id="6" name="Shape 4"/>
          <p:cNvSpPr/>
          <p:nvPr/>
        </p:nvSpPr>
        <p:spPr>
          <a:xfrm>
            <a:off x="502920" y="1417320"/>
            <a:ext cx="73152" cy="758952"/>
          </a:xfrm>
          <a:prstGeom prst="rect">
            <a:avLst/>
          </a:prstGeom>
          <a:solidFill>
            <a:srgbClr val="065A82"/>
          </a:solidFill>
          <a:ln w="12700">
            <a:solidFill>
              <a:srgbClr val="065A82"/>
            </a:solidFill>
            <a:prstDash val="solid"/>
          </a:ln>
        </p:spPr>
      </p:sp>
      <p:sp>
        <p:nvSpPr>
          <p:cNvPr id="7" name="Text 5"/>
          <p:cNvSpPr/>
          <p:nvPr/>
        </p:nvSpPr>
        <p:spPr>
          <a:xfrm>
            <a:off x="731520" y="1490472"/>
            <a:ext cx="914400" cy="640080"/>
          </a:xfrm>
          <a:prstGeom prst="rect">
            <a:avLst/>
          </a:prstGeom>
          <a:noFill/>
          <a:ln/>
        </p:spPr>
        <p:txBody>
          <a:bodyPr wrap="square" lIns="0" tIns="0" rIns="0" bIns="0" rtlCol="0" anchor="ctr"/>
          <a:lstStyle/>
          <a:p>
            <a:pPr indent="0" marL="0">
              <a:buNone/>
            </a:pPr>
            <a:r>
              <a:rPr lang="en-US" sz="2800" b="1" dirty="0">
                <a:solidFill>
                  <a:srgbClr val="065A82"/>
                </a:solidFill>
                <a:latin typeface="Georgia" pitchFamily="34" charset="0"/>
                <a:ea typeface="Georgia" pitchFamily="34" charset="-122"/>
                <a:cs typeface="Georgia" pitchFamily="34" charset="-120"/>
              </a:rPr>
              <a:t>01</a:t>
            </a:r>
            <a:endParaRPr lang="en-US" sz="2800" dirty="0"/>
          </a:p>
        </p:txBody>
      </p:sp>
      <p:sp>
        <p:nvSpPr>
          <p:cNvPr id="8" name="Text 6"/>
          <p:cNvSpPr/>
          <p:nvPr/>
        </p:nvSpPr>
        <p:spPr>
          <a:xfrm>
            <a:off x="1737360" y="1463040"/>
            <a:ext cx="4023360" cy="685800"/>
          </a:xfrm>
          <a:prstGeom prst="rect">
            <a:avLst/>
          </a:prstGeom>
          <a:noFill/>
          <a:ln/>
        </p:spPr>
        <p:txBody>
          <a:bodyPr wrap="square" lIns="0" tIns="0" rIns="0" bIns="0" rtlCol="0" anchor="ctr"/>
          <a:lstStyle/>
          <a:p>
            <a:pPr indent="0" marL="0">
              <a:buNone/>
            </a:pPr>
            <a:r>
              <a:rPr lang="en-US" sz="1500" b="1" dirty="0">
                <a:solidFill>
                  <a:srgbClr val="0C2344"/>
                </a:solidFill>
                <a:latin typeface="Calibri" pitchFamily="34" charset="0"/>
                <a:ea typeface="Calibri" pitchFamily="34" charset="-122"/>
                <a:cs typeface="Calibri" pitchFamily="34" charset="-120"/>
              </a:rPr>
              <a:t>Small subgroups produce extreme results by chance</a:t>
            </a:r>
            <a:endParaRPr lang="en-US" sz="1500" dirty="0"/>
          </a:p>
        </p:txBody>
      </p:sp>
      <p:sp>
        <p:nvSpPr>
          <p:cNvPr id="9" name="Text 7"/>
          <p:cNvSpPr/>
          <p:nvPr/>
        </p:nvSpPr>
        <p:spPr>
          <a:xfrm>
            <a:off x="5852160" y="1463040"/>
            <a:ext cx="5623560" cy="68580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Under a uniform HR = 0.70, subgroups with N ≲ 40 regularly yield UB(HR) &gt; 3.0 — purely from sampling variability.</a:t>
            </a:r>
            <a:endParaRPr lang="en-US" sz="1200" dirty="0"/>
          </a:p>
        </p:txBody>
      </p:sp>
      <p:sp>
        <p:nvSpPr>
          <p:cNvPr id="10" name="Shape 8"/>
          <p:cNvSpPr/>
          <p:nvPr/>
        </p:nvSpPr>
        <p:spPr>
          <a:xfrm>
            <a:off x="502920" y="2286000"/>
            <a:ext cx="11155680" cy="758952"/>
          </a:xfrm>
          <a:prstGeom prst="rect">
            <a:avLst/>
          </a:prstGeom>
          <a:solidFill>
            <a:srgbClr val="F5F8FC"/>
          </a:solidFill>
          <a:ln w="6350">
            <a:solidFill>
              <a:srgbClr val="C9D3DD"/>
            </a:solidFill>
            <a:prstDash val="solid"/>
          </a:ln>
        </p:spPr>
      </p:sp>
      <p:sp>
        <p:nvSpPr>
          <p:cNvPr id="11" name="Shape 9"/>
          <p:cNvSpPr/>
          <p:nvPr/>
        </p:nvSpPr>
        <p:spPr>
          <a:xfrm>
            <a:off x="502920" y="2286000"/>
            <a:ext cx="73152" cy="758952"/>
          </a:xfrm>
          <a:prstGeom prst="rect">
            <a:avLst/>
          </a:prstGeom>
          <a:solidFill>
            <a:srgbClr val="065A82"/>
          </a:solidFill>
          <a:ln w="12700">
            <a:solidFill>
              <a:srgbClr val="065A82"/>
            </a:solidFill>
            <a:prstDash val="solid"/>
          </a:ln>
        </p:spPr>
      </p:sp>
      <p:sp>
        <p:nvSpPr>
          <p:cNvPr id="12" name="Text 10"/>
          <p:cNvSpPr/>
          <p:nvPr/>
        </p:nvSpPr>
        <p:spPr>
          <a:xfrm>
            <a:off x="731520" y="2359152"/>
            <a:ext cx="914400" cy="640080"/>
          </a:xfrm>
          <a:prstGeom prst="rect">
            <a:avLst/>
          </a:prstGeom>
          <a:noFill/>
          <a:ln/>
        </p:spPr>
        <p:txBody>
          <a:bodyPr wrap="square" lIns="0" tIns="0" rIns="0" bIns="0" rtlCol="0" anchor="ctr"/>
          <a:lstStyle/>
          <a:p>
            <a:pPr indent="0" marL="0">
              <a:buNone/>
            </a:pPr>
            <a:r>
              <a:rPr lang="en-US" sz="2800" b="1" dirty="0">
                <a:solidFill>
                  <a:srgbClr val="065A82"/>
                </a:solidFill>
                <a:latin typeface="Georgia" pitchFamily="34" charset="0"/>
                <a:ea typeface="Georgia" pitchFamily="34" charset="-122"/>
                <a:cs typeface="Georgia" pitchFamily="34" charset="-120"/>
              </a:rPr>
              <a:t>02</a:t>
            </a:r>
            <a:endParaRPr lang="en-US" sz="2800" dirty="0"/>
          </a:p>
        </p:txBody>
      </p:sp>
      <p:sp>
        <p:nvSpPr>
          <p:cNvPr id="13" name="Text 11"/>
          <p:cNvSpPr/>
          <p:nvPr/>
        </p:nvSpPr>
        <p:spPr>
          <a:xfrm>
            <a:off x="1737360" y="2331720"/>
            <a:ext cx="4023360" cy="685800"/>
          </a:xfrm>
          <a:prstGeom prst="rect">
            <a:avLst/>
          </a:prstGeom>
          <a:noFill/>
          <a:ln/>
        </p:spPr>
        <p:txBody>
          <a:bodyPr wrap="square" lIns="0" tIns="0" rIns="0" bIns="0" rtlCol="0" anchor="ctr"/>
          <a:lstStyle/>
          <a:p>
            <a:pPr indent="0" marL="0">
              <a:buNone/>
            </a:pPr>
            <a:r>
              <a:rPr lang="en-US" sz="1500" b="1" dirty="0">
                <a:solidFill>
                  <a:srgbClr val="0C2344"/>
                </a:solidFill>
                <a:latin typeface="Calibri" pitchFamily="34" charset="0"/>
                <a:ea typeface="Calibri" pitchFamily="34" charset="-122"/>
                <a:cs typeface="Calibri" pitchFamily="34" charset="-120"/>
              </a:rPr>
              <a:t>Clinical rationale offers no statistical protection</a:t>
            </a:r>
            <a:endParaRPr lang="en-US" sz="1500" dirty="0"/>
          </a:p>
        </p:txBody>
      </p:sp>
      <p:sp>
        <p:nvSpPr>
          <p:cNvPr id="14" name="Text 12"/>
          <p:cNvSpPr/>
          <p:nvPr/>
        </p:nvSpPr>
        <p:spPr>
          <a:xfrm>
            <a:off x="5852160" y="2331720"/>
            <a:ext cx="5623560" cy="68580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Clinical and random subgroups of the same size have statistically indistinguishable HR and UB distributions.</a:t>
            </a:r>
            <a:endParaRPr lang="en-US" sz="1200" dirty="0"/>
          </a:p>
        </p:txBody>
      </p:sp>
      <p:sp>
        <p:nvSpPr>
          <p:cNvPr id="15" name="Shape 13"/>
          <p:cNvSpPr/>
          <p:nvPr/>
        </p:nvSpPr>
        <p:spPr>
          <a:xfrm>
            <a:off x="502920" y="3154680"/>
            <a:ext cx="11155680" cy="758952"/>
          </a:xfrm>
          <a:prstGeom prst="rect">
            <a:avLst/>
          </a:prstGeom>
          <a:solidFill>
            <a:srgbClr val="F5F8FC"/>
          </a:solidFill>
          <a:ln w="6350">
            <a:solidFill>
              <a:srgbClr val="C9D3DD"/>
            </a:solidFill>
            <a:prstDash val="solid"/>
          </a:ln>
        </p:spPr>
      </p:sp>
      <p:sp>
        <p:nvSpPr>
          <p:cNvPr id="16" name="Shape 14"/>
          <p:cNvSpPr/>
          <p:nvPr/>
        </p:nvSpPr>
        <p:spPr>
          <a:xfrm>
            <a:off x="502920" y="3154680"/>
            <a:ext cx="73152" cy="758952"/>
          </a:xfrm>
          <a:prstGeom prst="rect">
            <a:avLst/>
          </a:prstGeom>
          <a:solidFill>
            <a:srgbClr val="065A82"/>
          </a:solidFill>
          <a:ln w="12700">
            <a:solidFill>
              <a:srgbClr val="065A82"/>
            </a:solidFill>
            <a:prstDash val="solid"/>
          </a:ln>
        </p:spPr>
      </p:sp>
      <p:sp>
        <p:nvSpPr>
          <p:cNvPr id="17" name="Text 15"/>
          <p:cNvSpPr/>
          <p:nvPr/>
        </p:nvSpPr>
        <p:spPr>
          <a:xfrm>
            <a:off x="731520" y="3227832"/>
            <a:ext cx="914400" cy="640080"/>
          </a:xfrm>
          <a:prstGeom prst="rect">
            <a:avLst/>
          </a:prstGeom>
          <a:noFill/>
          <a:ln/>
        </p:spPr>
        <p:txBody>
          <a:bodyPr wrap="square" lIns="0" tIns="0" rIns="0" bIns="0" rtlCol="0" anchor="ctr"/>
          <a:lstStyle/>
          <a:p>
            <a:pPr indent="0" marL="0">
              <a:buNone/>
            </a:pPr>
            <a:r>
              <a:rPr lang="en-US" sz="2800" b="1" dirty="0">
                <a:solidFill>
                  <a:srgbClr val="065A82"/>
                </a:solidFill>
                <a:latin typeface="Georgia" pitchFamily="34" charset="0"/>
                <a:ea typeface="Georgia" pitchFamily="34" charset="-122"/>
                <a:cs typeface="Georgia" pitchFamily="34" charset="-120"/>
              </a:rPr>
              <a:t>03</a:t>
            </a:r>
            <a:endParaRPr lang="en-US" sz="2800" dirty="0"/>
          </a:p>
        </p:txBody>
      </p:sp>
      <p:sp>
        <p:nvSpPr>
          <p:cNvPr id="18" name="Text 16"/>
          <p:cNvSpPr/>
          <p:nvPr/>
        </p:nvSpPr>
        <p:spPr>
          <a:xfrm>
            <a:off x="1737360" y="3200400"/>
            <a:ext cx="4023360" cy="685800"/>
          </a:xfrm>
          <a:prstGeom prst="rect">
            <a:avLst/>
          </a:prstGeom>
          <a:noFill/>
          <a:ln/>
        </p:spPr>
        <p:txBody>
          <a:bodyPr wrap="square" lIns="0" tIns="0" rIns="0" bIns="0" rtlCol="0" anchor="ctr"/>
          <a:lstStyle/>
          <a:p>
            <a:pPr indent="0" marL="0">
              <a:buNone/>
            </a:pPr>
            <a:r>
              <a:rPr lang="en-US" sz="1500" b="1" dirty="0">
                <a:solidFill>
                  <a:srgbClr val="0C2344"/>
                </a:solidFill>
                <a:latin typeface="Calibri" pitchFamily="34" charset="0"/>
                <a:ea typeface="Calibri" pitchFamily="34" charset="-122"/>
                <a:cs typeface="Calibri" pitchFamily="34" charset="-120"/>
              </a:rPr>
              <a:t>The Cox model is correct</a:t>
            </a:r>
            <a:endParaRPr lang="en-US" sz="1500" dirty="0"/>
          </a:p>
        </p:txBody>
      </p:sp>
      <p:sp>
        <p:nvSpPr>
          <p:cNvPr id="19" name="Text 17"/>
          <p:cNvSpPr/>
          <p:nvPr/>
        </p:nvSpPr>
        <p:spPr>
          <a:xfrm>
            <a:off x="5852160" y="3200400"/>
            <a:ext cx="5623560" cy="68580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Wide intervals in small subgroups are faithful reflections of genuine uncertainty, not a modelling failure.</a:t>
            </a:r>
            <a:endParaRPr lang="en-US" sz="1200" dirty="0"/>
          </a:p>
        </p:txBody>
      </p:sp>
      <p:sp>
        <p:nvSpPr>
          <p:cNvPr id="20" name="Shape 18"/>
          <p:cNvSpPr/>
          <p:nvPr/>
        </p:nvSpPr>
        <p:spPr>
          <a:xfrm>
            <a:off x="502920" y="4023360"/>
            <a:ext cx="11155680" cy="758952"/>
          </a:xfrm>
          <a:prstGeom prst="rect">
            <a:avLst/>
          </a:prstGeom>
          <a:solidFill>
            <a:srgbClr val="F5F8FC"/>
          </a:solidFill>
          <a:ln w="6350">
            <a:solidFill>
              <a:srgbClr val="C9D3DD"/>
            </a:solidFill>
            <a:prstDash val="solid"/>
          </a:ln>
        </p:spPr>
      </p:sp>
      <p:sp>
        <p:nvSpPr>
          <p:cNvPr id="21" name="Shape 19"/>
          <p:cNvSpPr/>
          <p:nvPr/>
        </p:nvSpPr>
        <p:spPr>
          <a:xfrm>
            <a:off x="502920" y="4023360"/>
            <a:ext cx="73152" cy="758952"/>
          </a:xfrm>
          <a:prstGeom prst="rect">
            <a:avLst/>
          </a:prstGeom>
          <a:solidFill>
            <a:srgbClr val="D4A017"/>
          </a:solidFill>
          <a:ln w="12700">
            <a:solidFill>
              <a:srgbClr val="065A82"/>
            </a:solidFill>
            <a:prstDash val="solid"/>
          </a:ln>
        </p:spPr>
      </p:sp>
      <p:sp>
        <p:nvSpPr>
          <p:cNvPr id="22" name="Text 20"/>
          <p:cNvSpPr/>
          <p:nvPr/>
        </p:nvSpPr>
        <p:spPr>
          <a:xfrm>
            <a:off x="731520" y="4096512"/>
            <a:ext cx="914400" cy="640080"/>
          </a:xfrm>
          <a:prstGeom prst="rect">
            <a:avLst/>
          </a:prstGeom>
          <a:noFill/>
          <a:ln/>
        </p:spPr>
        <p:txBody>
          <a:bodyPr wrap="square" lIns="0" tIns="0" rIns="0" bIns="0" rtlCol="0" anchor="ctr"/>
          <a:lstStyle/>
          <a:p>
            <a:pPr indent="0" marL="0">
              <a:buNone/>
            </a:pPr>
            <a:r>
              <a:rPr lang="en-US" sz="2800" b="1" dirty="0">
                <a:solidFill>
                  <a:srgbClr val="D4A017"/>
                </a:solidFill>
                <a:latin typeface="Georgia" pitchFamily="34" charset="0"/>
                <a:ea typeface="Georgia" pitchFamily="34" charset="-122"/>
                <a:cs typeface="Georgia" pitchFamily="34" charset="-120"/>
              </a:rPr>
              <a:t>04</a:t>
            </a:r>
            <a:endParaRPr lang="en-US" sz="2800" dirty="0"/>
          </a:p>
        </p:txBody>
      </p:sp>
      <p:sp>
        <p:nvSpPr>
          <p:cNvPr id="23" name="Text 21"/>
          <p:cNvSpPr/>
          <p:nvPr/>
        </p:nvSpPr>
        <p:spPr>
          <a:xfrm>
            <a:off x="1737360" y="4069080"/>
            <a:ext cx="4023360" cy="685800"/>
          </a:xfrm>
          <a:prstGeom prst="rect">
            <a:avLst/>
          </a:prstGeom>
          <a:noFill/>
          <a:ln/>
        </p:spPr>
        <p:txBody>
          <a:bodyPr wrap="square" lIns="0" tIns="0" rIns="0" bIns="0" rtlCol="0" anchor="ctr"/>
          <a:lstStyle/>
          <a:p>
            <a:pPr indent="0" marL="0">
              <a:buNone/>
            </a:pPr>
            <a:r>
              <a:rPr lang="en-US" sz="1500" b="1" dirty="0">
                <a:solidFill>
                  <a:srgbClr val="0C2344"/>
                </a:solidFill>
                <a:latin typeface="Calibri" pitchFamily="34" charset="0"/>
                <a:ea typeface="Calibri" pitchFamily="34" charset="-122"/>
                <a:cs typeface="Calibri" pitchFamily="34" charset="-120"/>
              </a:rPr>
              <a:t>Simulation-based calibration is essential</a:t>
            </a:r>
            <a:endParaRPr lang="en-US" sz="1500" dirty="0"/>
          </a:p>
        </p:txBody>
      </p:sp>
      <p:sp>
        <p:nvSpPr>
          <p:cNvPr id="24" name="Text 22"/>
          <p:cNvSpPr/>
          <p:nvPr/>
        </p:nvSpPr>
        <p:spPr>
          <a:xfrm>
            <a:off x="5852160" y="4069080"/>
            <a:ext cx="5623560" cy="68580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Without a null-DGM benchmark, “extreme” cannot be meaningfully quantified for a given subgroup size.</a:t>
            </a:r>
            <a:endParaRPr lang="en-US" sz="1200" dirty="0"/>
          </a:p>
        </p:txBody>
      </p:sp>
      <p:sp>
        <p:nvSpPr>
          <p:cNvPr id="25" name="Shape 23"/>
          <p:cNvSpPr/>
          <p:nvPr/>
        </p:nvSpPr>
        <p:spPr>
          <a:xfrm>
            <a:off x="502920" y="4892040"/>
            <a:ext cx="11155680" cy="758952"/>
          </a:xfrm>
          <a:prstGeom prst="rect">
            <a:avLst/>
          </a:prstGeom>
          <a:solidFill>
            <a:srgbClr val="F5F8FC"/>
          </a:solidFill>
          <a:ln w="6350">
            <a:solidFill>
              <a:srgbClr val="C9D3DD"/>
            </a:solidFill>
            <a:prstDash val="solid"/>
          </a:ln>
        </p:spPr>
      </p:sp>
      <p:sp>
        <p:nvSpPr>
          <p:cNvPr id="26" name="Shape 24"/>
          <p:cNvSpPr/>
          <p:nvPr/>
        </p:nvSpPr>
        <p:spPr>
          <a:xfrm>
            <a:off x="502920" y="4892040"/>
            <a:ext cx="73152" cy="758952"/>
          </a:xfrm>
          <a:prstGeom prst="rect">
            <a:avLst/>
          </a:prstGeom>
          <a:solidFill>
            <a:srgbClr val="D4A017"/>
          </a:solidFill>
          <a:ln w="12700">
            <a:solidFill>
              <a:srgbClr val="065A82"/>
            </a:solidFill>
            <a:prstDash val="solid"/>
          </a:ln>
        </p:spPr>
      </p:sp>
      <p:sp>
        <p:nvSpPr>
          <p:cNvPr id="27" name="Text 25"/>
          <p:cNvSpPr/>
          <p:nvPr/>
        </p:nvSpPr>
        <p:spPr>
          <a:xfrm>
            <a:off x="731520" y="4965192"/>
            <a:ext cx="914400" cy="640080"/>
          </a:xfrm>
          <a:prstGeom prst="rect">
            <a:avLst/>
          </a:prstGeom>
          <a:noFill/>
          <a:ln/>
        </p:spPr>
        <p:txBody>
          <a:bodyPr wrap="square" lIns="0" tIns="0" rIns="0" bIns="0" rtlCol="0" anchor="ctr"/>
          <a:lstStyle/>
          <a:p>
            <a:pPr indent="0" marL="0">
              <a:buNone/>
            </a:pPr>
            <a:r>
              <a:rPr lang="en-US" sz="2800" b="1" dirty="0">
                <a:solidFill>
                  <a:srgbClr val="D4A017"/>
                </a:solidFill>
                <a:latin typeface="Georgia" pitchFamily="34" charset="0"/>
                <a:ea typeface="Georgia" pitchFamily="34" charset="-122"/>
                <a:cs typeface="Georgia" pitchFamily="34" charset="-120"/>
              </a:rPr>
              <a:t>05</a:t>
            </a:r>
            <a:endParaRPr lang="en-US" sz="2800" dirty="0"/>
          </a:p>
        </p:txBody>
      </p:sp>
      <p:sp>
        <p:nvSpPr>
          <p:cNvPr id="28" name="Text 26"/>
          <p:cNvSpPr/>
          <p:nvPr/>
        </p:nvSpPr>
        <p:spPr>
          <a:xfrm>
            <a:off x="1737360" y="4937760"/>
            <a:ext cx="4023360" cy="685800"/>
          </a:xfrm>
          <a:prstGeom prst="rect">
            <a:avLst/>
          </a:prstGeom>
          <a:noFill/>
          <a:ln/>
        </p:spPr>
        <p:txBody>
          <a:bodyPr wrap="square" lIns="0" tIns="0" rIns="0" bIns="0" rtlCol="0" anchor="ctr"/>
          <a:lstStyle/>
          <a:p>
            <a:pPr indent="0" marL="0">
              <a:buNone/>
            </a:pPr>
            <a:r>
              <a:rPr lang="en-US" sz="1500" b="1" dirty="0">
                <a:solidFill>
                  <a:srgbClr val="0C2344"/>
                </a:solidFill>
                <a:latin typeface="Calibri" pitchFamily="34" charset="0"/>
                <a:ea typeface="Calibri" pitchFamily="34" charset="-122"/>
                <a:cs typeface="Calibri" pitchFamily="34" charset="-120"/>
              </a:rPr>
              <a:t>The framework is portable</a:t>
            </a:r>
            <a:endParaRPr lang="en-US" sz="1500" dirty="0"/>
          </a:p>
        </p:txBody>
      </p:sp>
      <p:sp>
        <p:nvSpPr>
          <p:cNvPr id="29" name="Text 27"/>
          <p:cNvSpPr/>
          <p:nvPr/>
        </p:nvSpPr>
        <p:spPr>
          <a:xfrm>
            <a:off x="5852160" y="4937760"/>
            <a:ext cx="5623560" cy="685800"/>
          </a:xfrm>
          <a:prstGeom prst="rect">
            <a:avLst/>
          </a:prstGeom>
          <a:noFill/>
          <a:ln/>
        </p:spPr>
        <p:txBody>
          <a:bodyPr wrap="square" lIns="0" tIns="0" rIns="0" bIns="0" rtlCol="0" anchor="ctr"/>
          <a:lstStyle/>
          <a:p>
            <a:pPr indent="0" marL="0">
              <a:buNone/>
            </a:pPr>
            <a:r>
              <a:rPr lang="en-US" sz="1200" dirty="0">
                <a:solidFill>
                  <a:srgbClr val="1A2A3A"/>
                </a:solidFill>
                <a:latin typeface="Calibri" pitchFamily="34" charset="0"/>
                <a:ea typeface="Calibri" pitchFamily="34" charset="-122"/>
                <a:cs typeface="Calibri" pitchFamily="34" charset="-120"/>
              </a:rPr>
              <a:t>Any trial can be swapped in for GBSG. The forestsearch package provides the full, reproducible pipeline.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2344"/>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4A017"/>
          </a:solidFill>
          <a:ln w="12700">
            <a:solidFill>
              <a:srgbClr val="D4A017"/>
            </a:solidFill>
            <a:prstDash val="solid"/>
          </a:ln>
        </p:spPr>
      </p:sp>
      <p:sp>
        <p:nvSpPr>
          <p:cNvPr id="3" name="Text 1"/>
          <p:cNvSpPr/>
          <p:nvPr/>
        </p:nvSpPr>
        <p:spPr>
          <a:xfrm>
            <a:off x="822960" y="1005840"/>
            <a:ext cx="10789920" cy="109728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Thank you</a:t>
            </a:r>
            <a:endParaRPr lang="en-US" sz="5400" dirty="0"/>
          </a:p>
        </p:txBody>
      </p:sp>
      <p:sp>
        <p:nvSpPr>
          <p:cNvPr id="4" name="Shape 2"/>
          <p:cNvSpPr/>
          <p:nvPr/>
        </p:nvSpPr>
        <p:spPr>
          <a:xfrm>
            <a:off x="822960" y="2240280"/>
            <a:ext cx="1097280" cy="0"/>
          </a:xfrm>
          <a:prstGeom prst="line">
            <a:avLst/>
          </a:prstGeom>
          <a:noFill/>
          <a:ln w="38100">
            <a:solidFill>
              <a:srgbClr val="D4A017"/>
            </a:solidFill>
            <a:prstDash val="solid"/>
          </a:ln>
        </p:spPr>
      </p:sp>
      <p:sp>
        <p:nvSpPr>
          <p:cNvPr id="5" name="Text 3"/>
          <p:cNvSpPr/>
          <p:nvPr/>
        </p:nvSpPr>
        <p:spPr>
          <a:xfrm>
            <a:off x="822960" y="2468880"/>
            <a:ext cx="10515600" cy="822960"/>
          </a:xfrm>
          <a:prstGeom prst="rect">
            <a:avLst/>
          </a:prstGeom>
          <a:noFill/>
          <a:ln/>
        </p:spPr>
        <p:txBody>
          <a:bodyPr wrap="square" lIns="0" tIns="0" rIns="0" bIns="0" rtlCol="0" anchor="ctr"/>
          <a:lstStyle/>
          <a:p>
            <a:pPr indent="0" marL="0">
              <a:buNone/>
            </a:pPr>
            <a:r>
              <a:rPr lang="en-US" sz="1700" b="1" dirty="0">
                <a:solidFill>
                  <a:srgbClr val="D4A017"/>
                </a:solidFill>
                <a:latin typeface="Calibri" pitchFamily="34" charset="0"/>
                <a:ea typeface="Calibri" pitchFamily="34" charset="-122"/>
                <a:cs typeface="Calibri" pitchFamily="34" charset="-120"/>
              </a:rPr>
              <a:t>forestsearch</a:t>
            </a:r>
            <a:pPr indent="0" marL="0">
              <a:buNone/>
            </a:pPr>
            <a:r>
              <a:rPr lang="en-US" sz="1700" dirty="0">
                <a:solidFill>
                  <a:srgbClr val="E8F0F7"/>
                </a:solidFill>
                <a:latin typeface="Calibri" pitchFamily="34" charset="0"/>
                <a:ea typeface="Calibri" pitchFamily="34" charset="-122"/>
                <a:cs typeface="Calibri" pitchFamily="34" charset="-120"/>
              </a:rPr>
              <a:t> is an open-source R package providing a reproducible pipeline for simulation-based subgroup calibration.</a:t>
            </a:r>
            <a:endParaRPr lang="en-US" sz="1700" dirty="0"/>
          </a:p>
        </p:txBody>
      </p:sp>
      <p:sp>
        <p:nvSpPr>
          <p:cNvPr id="6" name="Shape 4"/>
          <p:cNvSpPr/>
          <p:nvPr/>
        </p:nvSpPr>
        <p:spPr>
          <a:xfrm>
            <a:off x="822960" y="3749040"/>
            <a:ext cx="5029200" cy="2103120"/>
          </a:xfrm>
          <a:prstGeom prst="rect">
            <a:avLst/>
          </a:prstGeom>
          <a:solidFill>
            <a:srgbClr val="065A82"/>
          </a:solidFill>
          <a:ln w="12700">
            <a:solidFill>
              <a:srgbClr val="065A82"/>
            </a:solidFill>
            <a:prstDash val="solid"/>
          </a:ln>
        </p:spPr>
      </p:sp>
      <p:sp>
        <p:nvSpPr>
          <p:cNvPr id="7" name="Text 5"/>
          <p:cNvSpPr/>
          <p:nvPr/>
        </p:nvSpPr>
        <p:spPr>
          <a:xfrm>
            <a:off x="1005840" y="3931920"/>
            <a:ext cx="4663440" cy="320040"/>
          </a:xfrm>
          <a:prstGeom prst="rect">
            <a:avLst/>
          </a:prstGeom>
          <a:noFill/>
          <a:ln/>
        </p:spPr>
        <p:txBody>
          <a:bodyPr wrap="square" lIns="0" tIns="0" rIns="0" bIns="0" rtlCol="0" anchor="ctr"/>
          <a:lstStyle/>
          <a:p>
            <a:pPr indent="0" marL="0">
              <a:buNone/>
            </a:pPr>
            <a:r>
              <a:rPr lang="en-US" sz="1200" b="1" spc="400" kern="0" dirty="0">
                <a:solidFill>
                  <a:srgbClr val="D4A017"/>
                </a:solidFill>
                <a:latin typeface="Calibri" pitchFamily="34" charset="0"/>
                <a:ea typeface="Calibri" pitchFamily="34" charset="-122"/>
                <a:cs typeface="Calibri" pitchFamily="34" charset="-120"/>
              </a:rPr>
              <a:t>Package</a:t>
            </a:r>
            <a:endParaRPr lang="en-US" sz="1200" dirty="0"/>
          </a:p>
        </p:txBody>
      </p:sp>
      <p:sp>
        <p:nvSpPr>
          <p:cNvPr id="8" name="Text 6"/>
          <p:cNvSpPr/>
          <p:nvPr/>
        </p:nvSpPr>
        <p:spPr>
          <a:xfrm>
            <a:off x="1005840" y="4389120"/>
            <a:ext cx="4663440" cy="1280160"/>
          </a:xfrm>
          <a:prstGeom prst="rect">
            <a:avLst/>
          </a:prstGeom>
          <a:noFill/>
          <a:ln/>
        </p:spPr>
        <p:txBody>
          <a:bodyPr wrap="square" lIns="0" tIns="0" rIns="0" bIns="0" rtlCol="0" anchor="ctr"/>
          <a:lstStyle/>
          <a:p>
            <a:pPr indent="0" marL="0">
              <a:buNone/>
            </a:pPr>
            <a:r>
              <a:rPr lang="en-US" sz="1400" b="1" dirty="0">
                <a:solidFill>
                  <a:srgbClr val="FFFFFF"/>
                </a:solidFill>
                <a:latin typeface="Consolas" pitchFamily="34" charset="0"/>
                <a:ea typeface="Consolas" pitchFamily="34" charset="-122"/>
                <a:cs typeface="Consolas" pitchFamily="34" charset="-120"/>
              </a:rPr>
              <a:t>pak::pak("larry-leon/forestsearch")</a:t>
            </a:r>
            <a:endParaRPr lang="en-US" sz="1400" dirty="0"/>
          </a:p>
          <a:p>
            <a:pPr indent="0" marL="0">
              <a:buNone/>
            </a:pPr>
            <a:endParaRPr lang="en-US" sz="1400" dirty="0"/>
          </a:p>
          <a:p>
            <a:pPr indent="0" marL="0">
              <a:buNone/>
            </a:pPr>
            <a:r>
              <a:rPr lang="en-US" sz="1400" b="1" dirty="0">
                <a:solidFill>
                  <a:srgbClr val="FFFFFF"/>
                </a:solidFill>
                <a:latin typeface="Consolas" pitchFamily="34" charset="0"/>
                <a:ea typeface="Consolas" pitchFamily="34" charset="-122"/>
                <a:cs typeface="Consolas" pitchFamily="34" charset="-120"/>
              </a:rPr>
              <a:t>library(forestsearch)</a:t>
            </a:r>
            <a:endParaRPr lang="en-US" sz="1400" dirty="0"/>
          </a:p>
        </p:txBody>
      </p:sp>
      <p:sp>
        <p:nvSpPr>
          <p:cNvPr id="9" name="Shape 7"/>
          <p:cNvSpPr/>
          <p:nvPr/>
        </p:nvSpPr>
        <p:spPr>
          <a:xfrm>
            <a:off x="6309360" y="3749040"/>
            <a:ext cx="5029200" cy="2103120"/>
          </a:xfrm>
          <a:prstGeom prst="rect">
            <a:avLst/>
          </a:prstGeom>
          <a:solidFill>
            <a:srgbClr val="1C7293"/>
          </a:solidFill>
          <a:ln w="12700">
            <a:solidFill>
              <a:srgbClr val="1C7293"/>
            </a:solidFill>
            <a:prstDash val="solid"/>
          </a:ln>
        </p:spPr>
      </p:sp>
      <p:sp>
        <p:nvSpPr>
          <p:cNvPr id="10" name="Text 8"/>
          <p:cNvSpPr/>
          <p:nvPr/>
        </p:nvSpPr>
        <p:spPr>
          <a:xfrm>
            <a:off x="6492240" y="3931920"/>
            <a:ext cx="4663440" cy="320040"/>
          </a:xfrm>
          <a:prstGeom prst="rect">
            <a:avLst/>
          </a:prstGeom>
          <a:noFill/>
          <a:ln/>
        </p:spPr>
        <p:txBody>
          <a:bodyPr wrap="square" lIns="0" tIns="0" rIns="0" bIns="0" rtlCol="0" anchor="ctr"/>
          <a:lstStyle/>
          <a:p>
            <a:pPr indent="0" marL="0">
              <a:buNone/>
            </a:pPr>
            <a:r>
              <a:rPr lang="en-US" sz="1200" b="1" spc="400" kern="0" dirty="0">
                <a:solidFill>
                  <a:srgbClr val="D4A017"/>
                </a:solidFill>
                <a:latin typeface="Calibri" pitchFamily="34" charset="0"/>
                <a:ea typeface="Calibri" pitchFamily="34" charset="-122"/>
                <a:cs typeface="Calibri" pitchFamily="34" charset="-120"/>
              </a:rPr>
              <a:t>Docs &amp; vignette</a:t>
            </a:r>
            <a:endParaRPr lang="en-US" sz="1200" dirty="0"/>
          </a:p>
        </p:txBody>
      </p:sp>
      <p:sp>
        <p:nvSpPr>
          <p:cNvPr id="11" name="Text 9"/>
          <p:cNvSpPr/>
          <p:nvPr/>
        </p:nvSpPr>
        <p:spPr>
          <a:xfrm>
            <a:off x="6492240" y="4389120"/>
            <a:ext cx="4663440" cy="1280160"/>
          </a:xfrm>
          <a:prstGeom prst="rect">
            <a:avLst/>
          </a:prstGeom>
          <a:noFill/>
          <a:ln/>
        </p:spPr>
        <p:txBody>
          <a:bodyPr wrap="square" lIns="0" tIns="0" rIns="0" bIns="0" rtlCol="0" anchor="ctr"/>
          <a:lstStyle/>
          <a:p>
            <a:pPr indent="0" marL="0">
              <a:buNone/>
            </a:pPr>
            <a:r>
              <a:rPr lang="en-US" sz="1300" b="1" u="sng" dirty="0">
                <a:solidFill>
                  <a:srgbClr val="FFFFFF"/>
                </a:solidFill>
                <a:latin typeface="Consolas" pitchFamily="34" charset="0"/>
                <a:ea typeface="Consolas" pitchFamily="34" charset="-122"/>
                <a:cs typeface="Consolas" pitchFamily="34" charset="-120"/>
                <a:hlinkClick r:id="rId1" invalidUrl="" action="" tgtFrame="" tooltip="" history="1" highlightClick="0" endSnd="0">
                  <a:extLst>
                    <a:ext uri="{A12FA001-AC4F-418D-AE19-62706E023703}">
                      <ahyp:hlinkClr xmlns:ahyp="http://schemas.microsoft.com/office/drawing/2018/hyperlinkcolor" val="tx"/>
                    </a:ext>
                  </a:extLst>
                </a:hlinkClick>
              </a:rPr>
              <a:t>larry-leon.github.io/forestsearch</a:t>
            </a:r>
            <a:endParaRPr lang="en-US" sz="1300" dirty="0"/>
          </a:p>
          <a:p>
            <a:pPr indent="0" marL="0">
              <a:buNone/>
            </a:pPr>
            <a:endParaRPr lang="en-US" sz="1300" dirty="0"/>
          </a:p>
          <a:p>
            <a:pPr indent="0" marL="0">
              <a:buNone/>
            </a:pPr>
            <a:r>
              <a:rPr lang="en-US" sz="1300" b="1" u="sng" dirty="0">
                <a:solidFill>
                  <a:srgbClr val="FFFFFF"/>
                </a:solidFill>
                <a:latin typeface="Consolas" pitchFamily="34" charset="0"/>
                <a:ea typeface="Consolas" pitchFamily="34" charset="-122"/>
                <a:cs typeface="Consolas" pitchFamily="34" charset="-120"/>
                <a:hlinkClick r:id="rId2" invalidUrl="" action="" tgtFrame="" tooltip="" history="1" highlightClick="0" endSnd="0">
                  <a:extLst>
                    <a:ext uri="{A12FA001-AC4F-418D-AE19-62706E023703}">
                      <ahyp:hlinkClr xmlns:ahyp="http://schemas.microsoft.com/office/drawing/2018/hyperlinkcolor" val="tx"/>
                    </a:ext>
                  </a:extLst>
                </a:hlinkClick>
              </a:rPr>
              <a:t>…/articles/extreme_subgroups.html</a:t>
            </a:r>
            <a:endParaRPr lang="en-US" sz="1300" dirty="0"/>
          </a:p>
        </p:txBody>
      </p:sp>
      <p:sp>
        <p:nvSpPr>
          <p:cNvPr id="12" name="Text 10"/>
          <p:cNvSpPr/>
          <p:nvPr/>
        </p:nvSpPr>
        <p:spPr>
          <a:xfrm>
            <a:off x="822960" y="6309360"/>
            <a:ext cx="10515600" cy="274320"/>
          </a:xfrm>
          <a:prstGeom prst="rect">
            <a:avLst/>
          </a:prstGeom>
          <a:noFill/>
          <a:ln/>
        </p:spPr>
        <p:txBody>
          <a:bodyPr wrap="square" lIns="0" tIns="0" rIns="0" bIns="0" rtlCol="0" anchor="ctr"/>
          <a:lstStyle/>
          <a:p>
            <a:pPr indent="0" marL="0">
              <a:buNone/>
            </a:pPr>
            <a:r>
              <a:rPr lang="en-US" sz="1100" i="1" spc="300" kern="0" dirty="0">
                <a:solidFill>
                  <a:srgbClr val="E8F0F7"/>
                </a:solidFill>
                <a:latin typeface="Calibri" pitchFamily="34" charset="0"/>
                <a:ea typeface="Calibri" pitchFamily="34" charset="-122"/>
                <a:cs typeface="Calibri" pitchFamily="34" charset="-120"/>
              </a:rPr>
              <a:t>Larry F. León  ·  April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Extreme Subgroup Effects Under a Uniform Treatment Benefit</dc:title>
  <dc:subject>PptxGenJS Presentation</dc:subject>
  <dc:creator>Larry F. León</dc:creator>
  <cp:lastModifiedBy>Larry F. León</cp:lastModifiedBy>
  <cp:revision>1</cp:revision>
  <dcterms:created xsi:type="dcterms:W3CDTF">2026-04-17T16:12:21Z</dcterms:created>
  <dcterms:modified xsi:type="dcterms:W3CDTF">2026-04-17T16:12:21Z</dcterms:modified>
</cp:coreProperties>
</file>