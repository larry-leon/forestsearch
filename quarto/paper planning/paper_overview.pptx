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</c:v>
                </c:pt>
              </c:strCache>
            </c:strRef>
          </c:tx>
          <c:spPr>
            <a:solidFill>
              <a:srgbClr val="0E8C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g1</c:v>
                  </c:pt>
                  <c:pt idx="1">
                    <c:v>g2</c:v>
                  </c:pt>
                  <c:pt idx="2">
                    <c:v>g3</c:v>
                  </c:pt>
                  <c:pt idx="3">
                    <c:v>g4</c:v>
                  </c:pt>
                  <c:pt idx="4">
                    <c:v>g5</c:v>
                  </c:pt>
                  <c:pt idx="5">
                    <c:v>g6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</c:v>
                </c:pt>
                <c:pt idx="1">
                  <c:v>0.61</c:v>
                </c:pt>
                <c:pt idx="2">
                  <c:v>0.55</c:v>
                </c:pt>
                <c:pt idx="3">
                  <c:v>0.9</c:v>
                </c:pt>
                <c:pt idx="4">
                  <c:v>0.71</c:v>
                </c:pt>
                <c:pt idx="5">
                  <c:v>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554480"/>
            <a:ext cx="4206240" cy="4206240"/>
          </a:xfrm>
          <a:prstGeom prst="ellipse">
            <a:avLst/>
          </a:prstGeom>
          <a:solidFill>
            <a:srgbClr val="223C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017520"/>
            <a:ext cx="2926080" cy="2926080"/>
          </a:xfrm>
          <a:prstGeom prst="ellipse">
            <a:avLst/>
          </a:prstGeom>
          <a:solidFill>
            <a:srgbClr val="0B6E6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Procedure-agnostic post-selection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for identified subgroups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multiplier (wild / martingale) bootstrap recasting of the León (2024) </a:t>
            </a:r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de-biased estimator and infinitesimal-jackknife interval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58368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· Cox &amp; GLM (DINA) estimands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optimism — the winner's curse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subgroup chosen </a:t>
            </a:r>
            <a:pPr indent="0" marL="0">
              <a:lnSpc>
                <a:spcPts val="2200"/>
              </a:lnSpc>
              <a:buNone/>
            </a:pPr>
            <a:r>
              <a:rPr lang="en-US" sz="1550" b="1" i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 effect is extreme has an upward-biased effect. A naive within-subgroup CI, ignoring that the subgroup was selected,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under-covers.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inferential estimand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β̂(g)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within-subgroup treatment effect on the natural-parameter scale (log-HR, log-OR, log-IRR, mean difference).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2040" y="1371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effects β̂(g) — the largest is selected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691640"/>
          <a:ext cx="3886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37376" y="1865376"/>
            <a:ext cx="292608" cy="29260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1" name="Text 8"/>
          <p:cNvSpPr/>
          <p:nvPr/>
        </p:nvSpPr>
        <p:spPr>
          <a:xfrm>
            <a:off x="6784848" y="18470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selected (max)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LEÓN ET AL. (2024)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two-term bootstrap correction, with an IJ interval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β̃(Ĥ) = β̂(Ĥ) − (1/B) Σ</a:t>
            </a:r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 η*</a:t>
            </a:r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(Ĥ*</a:t>
            </a:r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η*</a:t>
            </a:r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(Ĥ) 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075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η*</a:t>
            </a:r>
            <a:pPr algn="ctr"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ctr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= β̂*</a:t>
            </a:r>
            <a:pPr algn="ctr"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ctr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− β̂(g)   (bootstrap minus observed effect at subgroup g)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92608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E8C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optimism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at the re-selected subgroup — the winner's curse the bootstrap re-measures on each resample.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7EF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92608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C8922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926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bias at Ĥ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2040" y="3657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at the fixed observed subgroup — the estimator's own bias there, and the IJ residual.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LEÓN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 term Harrell (1996) does not address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Harrell, Lee &amp; Mark (1996)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 correction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selection optimism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Estimator's own bias at Ĥ left uncorrected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León et al. (2024)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Two-term + IJ variance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23774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+ Term 2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η*(Ĥ): bias of β̂ at the selected subgroup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β̃ a proper bagged estimator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residual for the IJ variance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· THE MECHANISM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wild / martingale bootstrap of influence functions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36776"/>
            <a:ext cx="365760" cy="36576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36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5361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resample = one reweighting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5361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 gets multiplicity K*(b,i); all the randomness is one weight vector.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423160"/>
            <a:ext cx="365760" cy="36576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32257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refit = a dot product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32257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β̂*(g) − β̂(g) = Σ (K*(b,i) − 1)·dfbeta(g,i) = D(g)   — no refit.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09544"/>
            <a:ext cx="365760" cy="36576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1089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vector, all candidates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10896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subgroups move together → faithful selection competition.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22192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95928"/>
            <a:ext cx="365760" cy="36576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8953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Poisson = the bootstrap weight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389534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K*(b,i) − 1 → Poisson(1) − 1: the IJ linearization of the bootstrap.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6268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screen, the family routine, and the de-biasing all run from one N×S influence matrix.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MULTIPLIER · ONE DRAW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weight vector holds the whole resample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859536"/>
          </a:xfrm>
          <a:prstGeom prst="roundRect">
            <a:avLst>
              <a:gd name="adj" fmla="val 8511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K*(b,i)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the number of times subject i is drawn into resample 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vector is the resample: refitting any model = reweighting the original by the counts —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K*(b,i)·ψ(i) = 0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no rows duplicated. One draw drives all S candidates at once.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centered weight enters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86384" y="287121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7F2F0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07008" y="287121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27632" y="287121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E8C82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48256" y="287121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7F2F0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87121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7F2F0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89504" y="287121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9504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87121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E8C82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30752" y="287121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7F2F0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3310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on one draw — mostly 0 / 1 / 2   (K ≈ Poisson(1): ≈37% / 37% / 18%)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" y="37307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 = original fit; only G = K*(b,i) − 1 perturbs it: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β̂*(g) − β̂(g) = Σ G·dfbeta(g,i) = D(g)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mean 0, variance 1 → the infinitesimal jackknife.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395728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weight law is interchangeable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864608" y="2889504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8C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8895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47688" y="2889504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8C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28895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Poisson(1)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64608" y="3346704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8C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3467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Rademacher ±1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47688" y="3346704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8C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7688" y="33467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64608" y="385876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mean-0, unit-variance — they agree to first order.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Rademacher ±1 is the 50/50 split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consistency criterion); centered-Poisson = the IJ of the bootstrap.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3657600"/>
          </a:xfrm>
          <a:prstGeom prst="ellipse">
            <a:avLst/>
          </a:prstGeom>
          <a:solidFill>
            <a:srgbClr val="223C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F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Q1 · PROVEN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fast estimator IS León's Eq. 7, linearized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223C61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836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η*</a:t>
            </a:r>
            <a:pPr algn="ctr" indent="0" marL="0">
              <a:buNone/>
            </a:pPr>
            <a:r>
              <a:rPr lang="en-US" sz="1200" b="1" i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algn="ctr" indent="0" marL="0">
              <a:buNone/>
            </a:pPr>
            <a:r>
              <a:rPr lang="en-US" sz="21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(g) = Σ</a:t>
            </a:r>
            <a:pPr algn="ctr" indent="0" marL="0">
              <a:buNone/>
            </a:pPr>
            <a:r>
              <a:rPr lang="en-US" sz="12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i∈g</a:t>
            </a:r>
            <a:pPr algn="ctr" indent="0" marL="0">
              <a:buNone/>
            </a:pPr>
            <a:r>
              <a:rPr lang="en-US" sz="21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(K*</a:t>
            </a:r>
            <a:pPr algn="ctr" indent="0" marL="0">
              <a:buNone/>
            </a:pPr>
            <a:r>
              <a:rPr lang="en-US" sz="12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</a:t>
            </a:r>
            <a:pPr algn="ctr" indent="0" marL="0">
              <a:buNone/>
            </a:pPr>
            <a:r>
              <a:rPr lang="en-US" sz="21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− 1)·dfbeta</a:t>
            </a:r>
            <a:pPr algn="ctr" indent="0" marL="0">
              <a:buNone/>
            </a:pPr>
            <a:r>
              <a:rPr lang="en-US" sz="12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g,i</a:t>
            </a:r>
            <a:pPr algn="ctr" indent="0" marL="0">
              <a:buNone/>
            </a:pPr>
            <a:r>
              <a:rPr lang="en-US" sz="21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D</a:t>
            </a:r>
            <a:pPr algn="ctr" indent="0" marL="0">
              <a:buNone/>
            </a:pPr>
            <a:r>
              <a:rPr lang="en-US" sz="12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algn="ctr" indent="0" marL="0">
              <a:buNone/>
            </a:pPr>
            <a:r>
              <a:rPr lang="en-US" sz="21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46304" cy="146304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9806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7F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β̃(Ĥ) equals León's Eq. 7 to first order — for Ĥ and its complement Ĥᶜ.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483864"/>
            <a:ext cx="146304" cy="146304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015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7F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León's IJ variance from the same draws; wider than the naive SE (it carries selection variance).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087368"/>
            <a:ext cx="146304" cy="146304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0507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7F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approximation: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dfbeta linearization — exact for mean-difference, loosest at small subgroup size.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"PROCEDURE-AGNOSTIC" MEANS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inference wraps any selection on the effect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727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Ĥ = 𝒮( { β̂(g) : g ∈ ℱ } 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78892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0B6E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universal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bootstrap re-run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for any procedure you can re-run on a resample. The general definition of the de-biased estimator + IJ variance.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2788920"/>
            <a:ext cx="2194560" cy="310896"/>
          </a:xfrm>
          <a:prstGeom prst="roundRect">
            <a:avLst>
              <a:gd name="adj" fmla="val 17647"/>
            </a:avLst>
          </a:prstGeom>
          <a:solidFill>
            <a:srgbClr val="0E8C8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7889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fast &amp; exact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surrogate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exact whenever the selection ranks on the inferential effect β̂(g) over an enumerable family.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Model-based selectors must be re-ranked on the effect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GRF, DINA, and Lasso rank on their own statistic — not the Cox/GLM effect. They become candidate generators; selection moves to β̂(g).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402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8922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40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6517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statistic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8895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regions by a mean doubly-robust (AIPW) score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64408" y="20574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65576" y="22402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8922A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2240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65576" y="26517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statistic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65576" y="28895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by subgroup-mean per-patient effect  τ̂ = ā·β̂_D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0176" y="20574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2402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8922A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2240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6517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statistic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1344" y="28895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 rule along a penalized coefficient path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7EF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9502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up: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ranking's own optimality as the selection criterion.  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exactly correctable, validly covered effect.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FORCED, NOT TUNING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per-draw winner flip (worked example)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candidates — effect and native statistic disagree: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4937760" cy="109728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86868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within-group effect  β̂(g)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→ g₂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 subgroup-mean  τ̂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→ g₁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054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resample b:  D₁=+0.05, D₂=+0.30  (effect) · E₁=+0.12, E₂=+0.02  (native)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3419856"/>
            <a:ext cx="3931920" cy="1133856"/>
          </a:xfrm>
          <a:prstGeom prst="roundRect">
            <a:avLst>
              <a:gd name="adj" fmla="val 6452"/>
            </a:avLst>
          </a:prstGeom>
          <a:solidFill>
            <a:srgbClr val="F7EF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" y="3538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bootstrap (what DINA does)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379476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T+E:  g₁ 0.67 &gt; g₂ 0.52  →  picks g₁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 D₁ = +0.05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419856"/>
            <a:ext cx="3931920" cy="1133856"/>
          </a:xfrm>
          <a:prstGeom prst="roundRect">
            <a:avLst>
              <a:gd name="adj" fmla="val 6452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64608" y="3538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gate (re-selects on β̂+D)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864608" y="379476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β̂+D:  g₁ 0.95 &lt; g₂ 1.30  →  picks g₂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 D₂ = +0.30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23560" y="16916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winners on the same draw.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gate credits the wrong optimism for the native procedure — so its selection must rank on β̂(g).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Q2 · THE FEASIBLE TARGET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the criterion — exact, conditional on the family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910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select_statistic = "effect"</a:t>
            </a:r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⟹   T = β̂,  E = D,  one influence matrix,  gate exact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931920" cy="20574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proven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/ GRF / Lasso → candidate generators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layer identical to forest search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De-biased point + IJ interval first-order exact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514600"/>
            <a:ext cx="3931920" cy="2057400"/>
          </a:xfrm>
          <a:prstGeom prst="roundRect">
            <a:avLst>
              <a:gd name="adj" fmla="val 3556"/>
            </a:avLst>
          </a:prstGeom>
          <a:solidFill>
            <a:srgbClr val="F7EF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scope condition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30632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on the proposed family 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for a fixed / enumerated family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ℱ (DINA surface / GRF forest): family-regeneration component is the open piece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HAND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on real data; one piece left to quantify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2763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≈637×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the 500-boot bootstrap (GBSG/Cox)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64408" y="146304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62763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240280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de-biased HR, gate — vs 1.93 full bootstrap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0176" y="146304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E7F2F0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17336" y="162763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 / 0.36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44768" y="2240280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 SE vs naive robust SE (log-HR)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CI [0.71, 4.67] vs bootstrap [0.88, 4.24] — point estimates track; the IJ interval is mildly conservative at small nₛ.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76732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(Q3):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data-driven family, the fast gate omits the family-regeneration variance.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it against a literal Tier-1 that re-runs DINA/GRF per resample — the León (2024) Table 2 design, extended with a Tier-2 block and a paired agreement panel.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926080"/>
            <a:ext cx="3657600" cy="3657600"/>
          </a:xfrm>
          <a:prstGeom prst="ellipse">
            <a:avLst/>
          </a:prstGeom>
          <a:solidFill>
            <a:srgbClr val="223C61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280160"/>
            <a:ext cx="3108960" cy="3108960"/>
          </a:xfrm>
          <a:prstGeom prst="ellipse">
            <a:avLst/>
          </a:prstGeom>
          <a:solidFill>
            <a:srgbClr val="0B6E6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correction, recast and generalized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384048" cy="38404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Procedure-agnostic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9842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León's de-biasing + IJ wrap any effect-ranked selection.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1709928"/>
            <a:ext cx="384048" cy="38404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and GLM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9842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natural-parameter (DINA) scale; one influence representation.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35808"/>
            <a:ext cx="384048" cy="38404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exact to first order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3101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Refit-free multiplier bootstrap = León's Eq. 7 (point + IJ).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3035808"/>
            <a:ext cx="384048" cy="38404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home for DINA/GRF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6360" y="33101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the effect — exact conditional on the family.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F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simulate operating characteristics (bias · coverage · calibration) and the family-regeneration gap.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Procedure-agnostic post-selection inference</dc:title>
  <dc:subject>PptxGenJS Presentation</dc:subject>
  <dc:creator>Larry León</dc:creator>
  <cp:lastModifiedBy>Larry León</cp:lastModifiedBy>
  <cp:revision>1</cp:revision>
  <dcterms:created xsi:type="dcterms:W3CDTF">2026-06-11T07:05:07Z</dcterms:created>
  <dcterms:modified xsi:type="dcterms:W3CDTF">2026-06-11T07:05:07Z</dcterms:modified>
</cp:coreProperties>
</file>