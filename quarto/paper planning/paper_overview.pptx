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effect</c:v>
                </c:pt>
              </c:strCache>
            </c:strRef>
          </c:tx>
          <c:spPr>
            <a:solidFill>
              <a:srgbClr val="0E8C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g1</c:v>
                  </c:pt>
                  <c:pt idx="1">
                    <c:v>g2</c:v>
                  </c:pt>
                  <c:pt idx="2">
                    <c:v>g3</c:v>
                  </c:pt>
                  <c:pt idx="3">
                    <c:v>g4</c:v>
                  </c:pt>
                  <c:pt idx="4">
                    <c:v>g5</c:v>
                  </c:pt>
                  <c:pt idx="5">
                    <c:v>g6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0.42</c:v>
                </c:pt>
                <c:pt idx="1">
                  <c:v>0.61</c:v>
                </c:pt>
                <c:pt idx="2">
                  <c:v>0.55</c:v>
                </c:pt>
                <c:pt idx="3">
                  <c:v>0.9</c:v>
                </c:pt>
                <c:pt idx="4">
                  <c:v>0.71</c:v>
                </c:pt>
                <c:pt idx="5">
                  <c:v>0.49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554480"/>
            <a:ext cx="4206240" cy="4206240"/>
          </a:xfrm>
          <a:prstGeom prst="ellipse">
            <a:avLst/>
          </a:prstGeom>
          <a:solidFill>
            <a:srgbClr val="223C61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3017520"/>
            <a:ext cx="2926080" cy="2926080"/>
          </a:xfrm>
          <a:prstGeom prst="ellipse">
            <a:avLst/>
          </a:prstGeom>
          <a:solidFill>
            <a:srgbClr val="0B6E66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F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OVERVIEW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7955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Procedure-agnostic post-selection</a:t>
            </a:r>
            <a:endParaRPr lang="en-US" sz="3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 for identified subgroups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58368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i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multiplier (wild / martingale) bootstrap recasting of the León (2024) </a:t>
            </a:r>
            <a:pPr indent="0" marL="0">
              <a:lnSpc>
                <a:spcPts val="2100"/>
              </a:lnSpc>
              <a:buNone/>
            </a:pPr>
            <a:r>
              <a:rPr lang="en-US" sz="1550" i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de-biased estimator and infinitesimal-jackknife interval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58368" y="4343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E9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forestsearch · Cox &amp; GLM (DINA) estimands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58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Selection optimism — the winner's curse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4069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subgroup chosen </a:t>
            </a:r>
            <a:pPr indent="0" marL="0">
              <a:lnSpc>
                <a:spcPts val="2200"/>
              </a:lnSpc>
              <a:buNone/>
            </a:pPr>
            <a:r>
              <a:rPr lang="en-US" sz="1550" b="1" i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</a:t>
            </a:r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 effect is extreme has an upward-biased effect. A naive within-subgroup CI, ignoring that the subgroup was selected, </a:t>
            </a:r>
            <a:pPr indent="0" marL="0">
              <a:lnSpc>
                <a:spcPts val="2200"/>
              </a:lnSpc>
              <a:buNone/>
            </a:pPr>
            <a:r>
              <a:rPr lang="en-US" sz="15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under-covers.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4069080" cy="1508760"/>
          </a:xfrm>
          <a:prstGeom prst="roundRect">
            <a:avLst>
              <a:gd name="adj" fmla="val 4848"/>
            </a:avLst>
          </a:prstGeom>
          <a:solidFill>
            <a:srgbClr val="E7F2F0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246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inferential estimand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356616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β̂(g)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the within-subgroup treatment effect on the natural-parameter scale (log-HR, log-OR, log-IRR, mean difference).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92040" y="1371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effects β̂(g) — the largest is selected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754880" y="1691640"/>
          <a:ext cx="388620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437376" y="1865376"/>
            <a:ext cx="292608" cy="292608"/>
          </a:xfrm>
          <a:prstGeom prst="ellipse">
            <a:avLst/>
          </a:prstGeom>
          <a:solidFill>
            <a:srgbClr val="C8922A"/>
          </a:solidFill>
          <a:ln/>
        </p:spPr>
      </p:sp>
      <p:sp>
        <p:nvSpPr>
          <p:cNvPr id="11" name="Text 8"/>
          <p:cNvSpPr/>
          <p:nvPr/>
        </p:nvSpPr>
        <p:spPr>
          <a:xfrm>
            <a:off x="6784848" y="18470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selected (max)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LEÓN ET AL. (2024)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58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two-term bootstrap correction, with an IJ interval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57276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β̃(Ĥ) = β̂(Ĥ) − (1/B) Σ</a:t>
            </a:r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 η*</a:t>
            </a:r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(Ĥ*</a:t>
            </a:r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+ η*</a:t>
            </a:r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(Ĥ) ]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07568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η*</a:t>
            </a:r>
            <a:pPr algn="ctr" indent="0" marL="0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ctr" indent="0" marL="0">
              <a:buNone/>
            </a:pPr>
            <a:r>
              <a:rPr lang="en-US" sz="12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= β̂*</a:t>
            </a:r>
            <a:pPr algn="ctr" indent="0" marL="0">
              <a:buNone/>
            </a:pP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ctr" indent="0" marL="0">
              <a:buNone/>
            </a:pPr>
            <a:r>
              <a:rPr lang="en-US" sz="12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− β̂(g)   (bootstrap minus observed effect at subgroup g)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3931920" cy="1783080"/>
          </a:xfrm>
          <a:prstGeom prst="roundRect">
            <a:avLst>
              <a:gd name="adj" fmla="val 4103"/>
            </a:avLst>
          </a:prstGeom>
          <a:solidFill>
            <a:srgbClr val="E7F2F0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926080"/>
            <a:ext cx="1417320" cy="310896"/>
          </a:xfrm>
          <a:prstGeom prst="roundRect">
            <a:avLst>
              <a:gd name="adj" fmla="val 17647"/>
            </a:avLst>
          </a:prstGeom>
          <a:solidFill>
            <a:srgbClr val="0E8C8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92608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33649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optimism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7240" y="36576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Discrepancy at the re-selected subgroup — the winner's curse the bootstrap re-measures on each resample.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3931920" cy="1783080"/>
          </a:xfrm>
          <a:prstGeom prst="roundRect">
            <a:avLst>
              <a:gd name="adj" fmla="val 4103"/>
            </a:avLst>
          </a:prstGeom>
          <a:solidFill>
            <a:srgbClr val="F7EFDD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92040" y="2926080"/>
            <a:ext cx="1417320" cy="310896"/>
          </a:xfrm>
          <a:prstGeom prst="roundRect">
            <a:avLst>
              <a:gd name="adj" fmla="val 17647"/>
            </a:avLst>
          </a:prstGeom>
          <a:solidFill>
            <a:srgbClr val="C8922A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292608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33649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Estimation bias at Ĥ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892040" y="36576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Discrepancy at the fixed observed subgroup — the estimator's own bias there, and the IJ residual.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NEW IN LEÓN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58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term Harrell (1996) does not address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F1F5F9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64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Harrell, Lee &amp; Mark (1996)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9568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Optimism correction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37744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1 only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Corrects selection optimism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Estimator's own bias at Ĥ left uncorrected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E7F2F0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664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León et al. (2024)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92040" y="19568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Two-term + IJ variance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83480" y="237744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1 + Term 2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η*(Ĥ): bias of β̂ at the selected subgroup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β̃ a proper bagged estimator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the residual for the IJ variance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 · THE MECHANISM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58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wild / martingale bootstrap of influence functions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713232"/>
          </a:xfrm>
          <a:prstGeom prst="roundRect">
            <a:avLst>
              <a:gd name="adj" fmla="val 10256"/>
            </a:avLst>
          </a:prstGeom>
          <a:solidFill>
            <a:srgbClr val="E7F2F0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36776"/>
            <a:ext cx="365760" cy="365760"/>
          </a:xfrm>
          <a:prstGeom prst="ellipse">
            <a:avLst/>
          </a:prstGeom>
          <a:solidFill>
            <a:srgbClr val="0E8C82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636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53619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resample = one reweighting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89120" y="1536192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i gets multiplicity K*(b,i); all the randomness is one weight vector.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249424"/>
            <a:ext cx="8046720" cy="713232"/>
          </a:xfrm>
          <a:prstGeom prst="roundRect">
            <a:avLst>
              <a:gd name="adj" fmla="val 10256"/>
            </a:avLst>
          </a:prstGeom>
          <a:solidFill>
            <a:srgbClr val="F1F5F9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2423160"/>
            <a:ext cx="365760" cy="365760"/>
          </a:xfrm>
          <a:prstGeom prst="ellipse">
            <a:avLst/>
          </a:prstGeom>
          <a:solidFill>
            <a:srgbClr val="0E8C82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23225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refit = a dot product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389120" y="2322576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β̂*(g) − β̂(g) = Σ (K*(b,i) − 1)·dfbeta(g,i) = D(g)   — no refit.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035808"/>
            <a:ext cx="8046720" cy="713232"/>
          </a:xfrm>
          <a:prstGeom prst="roundRect">
            <a:avLst>
              <a:gd name="adj" fmla="val 10256"/>
            </a:avLst>
          </a:prstGeom>
          <a:solidFill>
            <a:srgbClr val="E7F2F0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3209544"/>
            <a:ext cx="365760" cy="365760"/>
          </a:xfrm>
          <a:prstGeom prst="ellipse">
            <a:avLst/>
          </a:prstGeom>
          <a:solidFill>
            <a:srgbClr val="0E8C82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3209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310896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vector, all candidates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389120" y="3108960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subgroups move together → faithful selection competition.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822192"/>
            <a:ext cx="8046720" cy="713232"/>
          </a:xfrm>
          <a:prstGeom prst="roundRect">
            <a:avLst>
              <a:gd name="adj" fmla="val 10256"/>
            </a:avLst>
          </a:prstGeom>
          <a:solidFill>
            <a:srgbClr val="F1F5F9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3995928"/>
            <a:ext cx="365760" cy="365760"/>
          </a:xfrm>
          <a:prstGeom prst="ellipse">
            <a:avLst/>
          </a:prstGeom>
          <a:solidFill>
            <a:srgbClr val="0E8C82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995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25880" y="3895344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Centered Poisson = the bootstrap weight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389120" y="3895344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K*(b,i) − 1 → Poisson(1) − 1: the IJ linearization of the bootstrap.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462686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The screen, the family routine, and the de-biasing all run from one N×S influence matrix.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1371600"/>
            <a:ext cx="3657600" cy="3657600"/>
          </a:xfrm>
          <a:prstGeom prst="ellipse">
            <a:avLst/>
          </a:prstGeom>
          <a:solidFill>
            <a:srgbClr val="223C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7FC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Q1 · PROVEN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fast estimator IS León's Eq. 7, linearized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223C61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83664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i="1" dirty="0">
                <a:solidFill>
                  <a:srgbClr val="CFE0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η*</a:t>
            </a:r>
            <a:pPr algn="ctr" indent="0" marL="0">
              <a:buNone/>
            </a:pPr>
            <a:r>
              <a:rPr lang="en-US" sz="1200" b="1" i="1" dirty="0">
                <a:solidFill>
                  <a:srgbClr val="CFE0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pPr algn="ctr" indent="0" marL="0">
              <a:buNone/>
            </a:pPr>
            <a:r>
              <a:rPr lang="en-US" sz="2100" b="1" dirty="0">
                <a:solidFill>
                  <a:srgbClr val="CFE0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(g) = Σ</a:t>
            </a:r>
            <a:pPr algn="ctr" indent="0" marL="0">
              <a:buNone/>
            </a:pPr>
            <a:r>
              <a:rPr lang="en-US" sz="1200" b="1" dirty="0">
                <a:solidFill>
                  <a:srgbClr val="CFE0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i∈g</a:t>
            </a:r>
            <a:pPr algn="ctr" indent="0" marL="0">
              <a:buNone/>
            </a:pPr>
            <a:r>
              <a:rPr lang="en-US" sz="2100" b="1" dirty="0">
                <a:solidFill>
                  <a:srgbClr val="CFE0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(K*</a:t>
            </a:r>
            <a:pPr algn="ctr" indent="0" marL="0">
              <a:buNone/>
            </a:pPr>
            <a:r>
              <a:rPr lang="en-US" sz="1200" b="1" dirty="0">
                <a:solidFill>
                  <a:srgbClr val="CFE0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</a:t>
            </a:r>
            <a:pPr algn="ctr" indent="0" marL="0">
              <a:buNone/>
            </a:pPr>
            <a:r>
              <a:rPr lang="en-US" sz="2100" b="1" dirty="0">
                <a:solidFill>
                  <a:srgbClr val="CFE0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− 1)·dfbeta</a:t>
            </a:r>
            <a:pPr algn="ctr" indent="0" marL="0">
              <a:buNone/>
            </a:pPr>
            <a:r>
              <a:rPr lang="en-US" sz="1200" b="1" dirty="0">
                <a:solidFill>
                  <a:srgbClr val="CFE0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g,i</a:t>
            </a:r>
            <a:pPr algn="ctr" indent="0" marL="0">
              <a:buNone/>
            </a:pPr>
            <a:r>
              <a:rPr lang="en-US" sz="2100" b="1" dirty="0">
                <a:solidFill>
                  <a:srgbClr val="CFE0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D</a:t>
            </a:r>
            <a:pPr algn="ctr" indent="0" marL="0">
              <a:buNone/>
            </a:pPr>
            <a:r>
              <a:rPr lang="en-US" sz="1200" b="1" dirty="0">
                <a:solidFill>
                  <a:srgbClr val="CFE0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pPr algn="ctr" indent="0" marL="0">
              <a:buNone/>
            </a:pPr>
            <a:r>
              <a:rPr lang="en-US" sz="2100" b="1" dirty="0">
                <a:solidFill>
                  <a:srgbClr val="CFE0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(b)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146304" cy="146304"/>
          </a:xfrm>
          <a:prstGeom prst="ellipse">
            <a:avLst/>
          </a:prstGeom>
          <a:solidFill>
            <a:srgbClr val="0E8C8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798064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7FC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estimate: 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β̃(Ĥ) equals León's Eq. 7 to first order — for Ĥ and its complement Ĥᶜ.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483864"/>
            <a:ext cx="146304" cy="146304"/>
          </a:xfrm>
          <a:prstGeom prst="ellipse">
            <a:avLst/>
          </a:prstGeom>
          <a:solidFill>
            <a:srgbClr val="0E8C8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401568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7FC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Interval: 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León's IJ variance from the same draws; wider than the naive SE (it carries selection variance).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087368"/>
            <a:ext cx="146304" cy="146304"/>
          </a:xfrm>
          <a:prstGeom prst="ellipse">
            <a:avLst/>
          </a:prstGeom>
          <a:solidFill>
            <a:srgbClr val="0E8C8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4005072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7FC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approximation: 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dfbeta linearization — exact for mean-difference, loosest at small subgroup size.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"PROCEDURE-AGNOSTIC" MEANS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58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inference wraps any selection on the effect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E7F2F0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572768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Ĥ = 𝒮( { β̂(g) : g ∈ ℱ } 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3931920" cy="1965960"/>
          </a:xfrm>
          <a:prstGeom prst="roundRect">
            <a:avLst>
              <a:gd name="adj" fmla="val 3721"/>
            </a:avLst>
          </a:prstGeom>
          <a:solidFill>
            <a:srgbClr val="F1F5F9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2788920"/>
            <a:ext cx="1920240" cy="310896"/>
          </a:xfrm>
          <a:prstGeom prst="roundRect">
            <a:avLst>
              <a:gd name="adj" fmla="val 17647"/>
            </a:avLst>
          </a:prstGeom>
          <a:solidFill>
            <a:srgbClr val="0B6E66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78892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· universal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32186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 bootstrap re-run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77240" y="3520440"/>
            <a:ext cx="3520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for any procedure you can re-run on a resample. The general definition of the de-biased estimator + IJ variance.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2606040"/>
            <a:ext cx="3931920" cy="1965960"/>
          </a:xfrm>
          <a:prstGeom prst="roundRect">
            <a:avLst>
              <a:gd name="adj" fmla="val 3721"/>
            </a:avLst>
          </a:prstGeom>
          <a:solidFill>
            <a:srgbClr val="E7F2F0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92040" y="2788920"/>
            <a:ext cx="2194560" cy="310896"/>
          </a:xfrm>
          <a:prstGeom prst="roundRect">
            <a:avLst>
              <a:gd name="adj" fmla="val 17647"/>
            </a:avLst>
          </a:prstGeom>
          <a:solidFill>
            <a:srgbClr val="0E8C82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27889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fast &amp; exact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92040" y="32186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Multiplier surrogate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92040" y="3520440"/>
            <a:ext cx="3520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First-order exact whenever the selection ranks on the inferential effect β̂(g) over an enumerable family.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8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58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Model-based selectors must be re-ranked on the effect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GRF, DINA, and Lasso rank on their own statistic — not the Cox/GLM effect. They become candidate generators; selection moves to β̂(g).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587752" cy="1554480"/>
          </a:xfrm>
          <a:prstGeom prst="roundRect">
            <a:avLst>
              <a:gd name="adj" fmla="val 4706"/>
            </a:avLst>
          </a:prstGeom>
          <a:solidFill>
            <a:srgbClr val="F1F5F9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2240280"/>
            <a:ext cx="1097280" cy="329184"/>
          </a:xfrm>
          <a:prstGeom prst="roundRect">
            <a:avLst>
              <a:gd name="adj" fmla="val 16667"/>
            </a:avLst>
          </a:prstGeom>
          <a:solidFill>
            <a:srgbClr val="C8922A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2402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GRF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49808" y="26517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statistic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8895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regions by a mean doubly-robust (AIPW) score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64408" y="2057400"/>
            <a:ext cx="2587752" cy="1554480"/>
          </a:xfrm>
          <a:prstGeom prst="roundRect">
            <a:avLst>
              <a:gd name="adj" fmla="val 4706"/>
            </a:avLst>
          </a:prstGeom>
          <a:solidFill>
            <a:srgbClr val="F1F5F9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65576" y="2240280"/>
            <a:ext cx="1097280" cy="329184"/>
          </a:xfrm>
          <a:prstGeom prst="roundRect">
            <a:avLst>
              <a:gd name="adj" fmla="val 16667"/>
            </a:avLst>
          </a:prstGeom>
          <a:solidFill>
            <a:srgbClr val="C8922A"/>
          </a:solidFill>
          <a:ln/>
        </p:spPr>
      </p:sp>
      <p:sp>
        <p:nvSpPr>
          <p:cNvPr id="12" name="Text 10"/>
          <p:cNvSpPr/>
          <p:nvPr/>
        </p:nvSpPr>
        <p:spPr>
          <a:xfrm>
            <a:off x="3465576" y="22402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65576" y="26517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statistic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65576" y="28895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by subgroup-mean per-patient effect  τ̂ = ā·β̂_D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80176" y="2057400"/>
            <a:ext cx="2587752" cy="1554480"/>
          </a:xfrm>
          <a:prstGeom prst="roundRect">
            <a:avLst>
              <a:gd name="adj" fmla="val 4706"/>
            </a:avLst>
          </a:prstGeom>
          <a:solidFill>
            <a:srgbClr val="F1F5F9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81344" y="2240280"/>
            <a:ext cx="1097280" cy="329184"/>
          </a:xfrm>
          <a:prstGeom prst="roundRect">
            <a:avLst>
              <a:gd name="adj" fmla="val 16667"/>
            </a:avLst>
          </a:prstGeom>
          <a:solidFill>
            <a:srgbClr val="C8922A"/>
          </a:solidFill>
          <a:ln/>
        </p:spPr>
      </p:sp>
      <p:sp>
        <p:nvSpPr>
          <p:cNvPr id="17" name="Text 15"/>
          <p:cNvSpPr/>
          <p:nvPr/>
        </p:nvSpPr>
        <p:spPr>
          <a:xfrm>
            <a:off x="6181344" y="22402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81344" y="26517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statistic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81344" y="28895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a rule along a penalized coefficient path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7EFDD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3950208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C8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up: 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native ranking's own optimality as the selection criterion.   </a:t>
            </a:r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Gained: 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exactly correctable, validly covered effect.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FORCED, NOT TUNING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58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per-draw winner flip (worked example)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candidates — effect and native statistic disagree: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4937760" cy="109728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868680"/>
                <a:gridCol w="11887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within-group effect  β̂(g)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B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B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 → g₂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DINA subgroup-mean  τ̂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892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892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→ g₁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0540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one resample b:  D₁=+0.05, D₂=+0.30  (effect) · E₁=+0.12, E₂=+0.02  (native)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3419856"/>
            <a:ext cx="3931920" cy="1133856"/>
          </a:xfrm>
          <a:prstGeom prst="roundRect">
            <a:avLst>
              <a:gd name="adj" fmla="val 6452"/>
            </a:avLst>
          </a:prstGeom>
          <a:solidFill>
            <a:srgbClr val="F7EFDD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49808" y="35387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bootstrap (what DINA does)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3794760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T+E:  g₁ 0.67 &gt; g₂ 0.52  →  picks g₁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 D₁ = +0.05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663440" y="3419856"/>
            <a:ext cx="3931920" cy="1133856"/>
          </a:xfrm>
          <a:prstGeom prst="roundRect">
            <a:avLst>
              <a:gd name="adj" fmla="val 6452"/>
            </a:avLst>
          </a:prstGeom>
          <a:solidFill>
            <a:srgbClr val="E7F2F0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864608" y="35387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gate (re-selects on β̂+D)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864608" y="3794760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β̂+D:  g₁ 0.95 &lt; g₂ 1.30  →  picks g₂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 D₂ = +0.30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23560" y="16916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winners on the same draw.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 gate credits the wrong optimism for the native procedure — so its selection must rank on β̂(g).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Q2 · THE FEASIBLE TARGET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58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 the criterion — exact, conditional on the family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868680"/>
          </a:xfrm>
          <a:prstGeom prst="roundRect">
            <a:avLst>
              <a:gd name="adj" fmla="val 8421"/>
            </a:avLst>
          </a:prstGeom>
          <a:solidFill>
            <a:srgbClr val="E7F2F0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591056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select_statistic = "effect"</a:t>
            </a:r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⟹   T = β̂,  E = D,  one influence matrix,  gate exact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3931920" cy="2057400"/>
          </a:xfrm>
          <a:prstGeom prst="roundRect">
            <a:avLst>
              <a:gd name="adj" fmla="val 3556"/>
            </a:avLst>
          </a:prstGeom>
          <a:solidFill>
            <a:srgbClr val="F1F5F9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697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proven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3063240"/>
            <a:ext cx="3429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 / GRF / Lasso → candidate generators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layer identical to forest search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De-biased point + IJ interval first-order exact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2514600"/>
            <a:ext cx="3931920" cy="2057400"/>
          </a:xfrm>
          <a:prstGeom prst="roundRect">
            <a:avLst>
              <a:gd name="adj" fmla="val 3556"/>
            </a:avLst>
          </a:prstGeom>
          <a:solidFill>
            <a:srgbClr val="F7EFDD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92040" y="2697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scope condition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83480" y="306324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on the proposed family ℱ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for a fixed / enumerated family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ℱ (DINA surface / GRF forest): family-regeneration component is the open piece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E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IN HAND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58"/>
              </a:lnSpc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Validated on real data; one piece left to quantify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87752" cy="1463040"/>
          </a:xfrm>
          <a:prstGeom prst="roundRect">
            <a:avLst>
              <a:gd name="adj" fmla="val 5000"/>
            </a:avLst>
          </a:prstGeom>
          <a:solidFill>
            <a:srgbClr val="E7F2F0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627632"/>
            <a:ext cx="2313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≈637×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13232" y="2240280"/>
            <a:ext cx="2258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the 500-boot bootstrap (GBSG/Cox)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64408" y="1463040"/>
            <a:ext cx="2587752" cy="1463040"/>
          </a:xfrm>
          <a:prstGeom prst="roundRect">
            <a:avLst>
              <a:gd name="adj" fmla="val 5000"/>
            </a:avLst>
          </a:prstGeom>
          <a:solidFill>
            <a:srgbClr val="E7F2F0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01568" y="1627632"/>
            <a:ext cx="2313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240280"/>
            <a:ext cx="2258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de-biased HR, gate — vs 1.93 full bootstrap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80176" y="1463040"/>
            <a:ext cx="2587752" cy="1463040"/>
          </a:xfrm>
          <a:prstGeom prst="roundRect">
            <a:avLst>
              <a:gd name="adj" fmla="val 5000"/>
            </a:avLst>
          </a:prstGeom>
          <a:solidFill>
            <a:srgbClr val="E7F2F0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17336" y="1627632"/>
            <a:ext cx="2313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0.48 / 0.36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144768" y="2240280"/>
            <a:ext cx="2258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IJ SE vs naive robust SE (log-HR)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3108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CI [0.71, 4.67] vs bootstrap [0.88, 4.24] — point estimates track; the IJ interval is mildly conservative at small nₛ.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38100" dir="5400000">
              <a:srgbClr val="1E293B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767328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C8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(Q3):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a data-driven family, the fast gate omits the family-regeneration variance.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it against a literal Tier-1 that re-runs DINA/GRF per resample — the León (2024) Table 2 design, extended with a Tier-2 block and a paired agreement panel.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2926080"/>
            <a:ext cx="3657600" cy="3657600"/>
          </a:xfrm>
          <a:prstGeom prst="ellipse">
            <a:avLst/>
          </a:prstGeom>
          <a:solidFill>
            <a:srgbClr val="223C61"/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-1280160"/>
            <a:ext cx="3108960" cy="3108960"/>
          </a:xfrm>
          <a:prstGeom prst="ellipse">
            <a:avLst/>
          </a:prstGeom>
          <a:solidFill>
            <a:srgbClr val="0B6E66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F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correction, recast and generalized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09928"/>
            <a:ext cx="384048" cy="384048"/>
          </a:xfrm>
          <a:prstGeom prst="ellipse">
            <a:avLst/>
          </a:prstGeom>
          <a:solidFill>
            <a:srgbClr val="0E8C8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09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1645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Procedure-agnostic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1984248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León's de-biasing + IJ wrap any effect-ranked selection.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17720" y="1709928"/>
            <a:ext cx="384048" cy="384048"/>
          </a:xfrm>
          <a:prstGeom prst="ellipse">
            <a:avLst/>
          </a:prstGeom>
          <a:solidFill>
            <a:srgbClr val="0E8C82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709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66360" y="1645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Cox and GLM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66360" y="1984248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natural-parameter (DINA) scale; one influence representation.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035808"/>
            <a:ext cx="384048" cy="384048"/>
          </a:xfrm>
          <a:prstGeom prst="ellipse">
            <a:avLst/>
          </a:prstGeom>
          <a:solidFill>
            <a:srgbClr val="0E8C8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29718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exact to first order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88720" y="3310128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Refit-free multiplier bootstrap = León's Eq. 7 (point + IJ).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17720" y="3035808"/>
            <a:ext cx="384048" cy="384048"/>
          </a:xfrm>
          <a:prstGeom prst="ellipse">
            <a:avLst/>
          </a:prstGeom>
          <a:solidFill>
            <a:srgbClr val="0E8C82"/>
          </a:solidFill>
          <a:ln/>
        </p:spPr>
      </p:sp>
      <p:sp>
        <p:nvSpPr>
          <p:cNvPr id="19" name="Text 17"/>
          <p:cNvSpPr/>
          <p:nvPr/>
        </p:nvSpPr>
        <p:spPr>
          <a:xfrm>
            <a:off x="461772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66360" y="29718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home for DINA/GRF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166360" y="3310128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to the effect — exact conditional on the family.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45262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7FC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 simulate operating characteristics (bias · coverage · calibration) and the family-regeneration gap.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Procedure-agnostic post-selection inference</dc:title>
  <dc:subject>PptxGenJS Presentation</dc:subject>
  <dc:creator>Larry León</dc:creator>
  <cp:lastModifiedBy>Larry León</cp:lastModifiedBy>
  <cp:revision>1</cp:revision>
  <dcterms:created xsi:type="dcterms:W3CDTF">2026-06-11T06:26:21Z</dcterms:created>
  <dcterms:modified xsi:type="dcterms:W3CDTF">2026-06-11T06:26:21Z</dcterms:modified>
</cp:coreProperties>
</file>