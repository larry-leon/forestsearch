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Georgia"/>
              </a:rPr>
              <a:t>Subgroups by category (total: 56)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Two-way interactions</c:v>
                  </c:pt>
                  <c:pt idx="1">
                    <c:v>Continuous</c:v>
                  </c:pt>
                  <c:pt idx="2">
                    <c:v>3-way interactions</c:v>
                  </c:pt>
                  <c:pt idx="3">
                    <c:v>Clinical</c:v>
                  </c:pt>
                  <c:pt idx="4">
                    <c:v>Random benchmarks</c:v>
                  </c:pt>
                  <c:pt idx="5">
                    <c:v>ITT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13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Subgroup Effects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a Uniform Treatment Benefit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6.6.4 — High-Risk Subgroup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clinical motivation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55768" cy="4114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OBJECTIVE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treatment has a perfectly uniform benefit across all patients, how often do standard subgroup analyses produce extreme-looking results by chance alone?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455768" cy="4114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4488" y="20116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44488" y="2560320"/>
            <a:ext cx="47242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reviewers see forest plots with apparently alarming subgroup hazard ratios or upper confidence bounds. Are these real signals — or sampling noise from small denominators?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extreme results are routine in small subgroups — clinical rationale provides no statistical protection.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Simulation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DGM with a perfectly uniform treatment effect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GBSG breast cancer trial: N = 686 patients, 299 events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Weibull AFT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to the source data; build a super-population (N = 5,000)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treatment effect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hazard ratio = 0.70 for every patient — no heterogeneity, by construction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calibration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uniroot-based search matches simulated censoring to the source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51663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synthetic trials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4864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trial: 686 patients × 56 pre-defined subgroups × Cox stratified by grade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Subgroups Under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subgroups examined in every simulated trial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98080" y="169164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 many — and what each adds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0" y="219456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 (1)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trial — anchors the comparison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0" y="283464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(4)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categorical splits (meno, grade)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47472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(13)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Median / quartile cut-points on age, size, nodes, PGR, 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411480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(29)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Pairwise clinical x biomarker combinations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47548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(5)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Three-way intersections — progressively smaller 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539496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(4)</a:t>
            </a:r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Pure-noise benchmarks: random60 / 40 / 20 / 15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6.6.4 — High-Risk Subgroups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to subgroups most prone to extreme upper bounds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7295" cy="1417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Pr( UB(HR) &gt;= 2.0 )  &gt;=  10%   across 10,000 simulated trials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Patients (ITT) included for comparison regardless of whether it meets the filter.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5455768" cy="2926080"/>
          </a:xfrm>
          <a:prstGeom prst="rect">
            <a:avLst/>
          </a:prstGeom>
          <a:solidFill>
            <a:srgbClr val="F8F5F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views, one set of subgroups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490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UB(HR) panel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how alarming can the upper confidence bound look by chance?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panel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how misleading can the point estimate itself be?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3429000"/>
            <a:ext cx="5455768" cy="2926080"/>
          </a:xfrm>
          <a:prstGeom prst="rect">
            <a:avLst/>
          </a:prstGeom>
          <a:solidFill>
            <a:srgbClr val="F8F5F0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3048" y="36118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subgroups + ITT comparator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4069080"/>
            <a:ext cx="49071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benchmarks (random15 / 20 / 40 / 60) lead the list — pure sampling noise.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biomarker-defined subgroups of similar size are statistically indistinguishable from them.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UB(HR) Distribution — Section 6.6.4 Panel 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safety reviewer sees: the upper 95% confidence bound, across simulations</a:t>
            </a:r>
            <a:endParaRPr lang="en-US" sz="1200" dirty="0"/>
          </a:p>
        </p:txBody>
      </p:sp>
      <p:pic>
        <p:nvPicPr>
          <p:cNvPr id="4" name="Image 0" descr="/home/claude/deck/assets/section_6_6_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5216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random15 / random20 produce UB &gt;= 2 in 75-89% of trials and UB &gt;= 3 in 59-75%.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biomarker subgroups of similar size (Pre-meno/Age&gt;50, Grade 3/PGR high, ...) show indistinguishable distributions.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Arrowheads mark whiskers whose 99th percentile extends beyond the visible axis.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Distribution — Section 6.6.4 Panel 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subgroups, point-estimate view: how misleading can the headline HR be?</a:t>
            </a:r>
            <a:endParaRPr lang="en-US" sz="1200" dirty="0"/>
          </a:p>
        </p:txBody>
      </p:sp>
      <p:pic>
        <p:nvPicPr>
          <p:cNvPr id="4" name="Image 0" descr="/home/claude/deck/assets/section_6_6_4_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5216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row's median HR is approximately 0.70 — the Cox model is unbiased even at N = 15.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27-37% of trials in small subgroups produce HR &lt; 0.5 (looks like a huge benefit); 25-36% produce HR &gt; 1.0 (looks like harm).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this variability is sampling noise — the true HR is 0.70 by construction.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UB and HR panels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01488" cy="22174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Extremes are routine in small subgroups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6996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uniform HR = 0.70, random15 trials produce UB(HR) &gt; 5 about three-quarters of the time. Same true effect for everyone — the apparent heterogeneity is sampling noise.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501488" cy="22174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47408" y="196596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rationale != protection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98768" y="2651760"/>
            <a:ext cx="476996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Pre-meno/Age&gt;50 (N approx 38) behaves like random40 (N approx 40). A defined subgroup of size N has the same chance distribution as a random pick of 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83380"/>
            <a:ext cx="5501488" cy="2217420"/>
          </a:xfrm>
          <a:prstGeom prst="rect">
            <a:avLst/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445770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Cox model is working correctly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143500"/>
            <a:ext cx="476996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HR is approximately 0.70 across every row. The wide CIs accurately reflect uncertainty — the problem is interpretation, not the statistics.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3008" y="4183380"/>
            <a:ext cx="5501488" cy="2217420"/>
          </a:xfrm>
          <a:prstGeom prst="rect">
            <a:avLst/>
          </a:prstGeom>
          <a:solidFill>
            <a:srgbClr val="C9A227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7328" y="4366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47408" y="445770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Simulation-based calibration is the 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98768" y="5143500"/>
            <a:ext cx="476996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null benchmark, no reviewer can quantify how 'extreme' UB = 3.5 in a 40-patient subgroup actually is. The random* anchors provide that calibration.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0" y="30175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github.com/larry-leon/forestsearch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larry-leon.github.io/forestsearch/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larry-leon.github.io/forestsearch/articles/extreme_subgroups.html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4800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pak::pak("larry-leon/forestsearch")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Leon  -  forestsearch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Subgroups — Section 6.6.4 Summary</dc:title>
  <dc:subject>PptxGenJS Presentation</dc:subject>
  <dc:creator>Larry F. Leon</dc:creator>
  <cp:lastModifiedBy>Larry F. Leon</cp:lastModifiedBy>
  <cp:revision>1</cp:revision>
  <dcterms:created xsi:type="dcterms:W3CDTF">2026-05-19T03:16:58Z</dcterms:created>
  <dcterms:modified xsi:type="dcterms:W3CDTF">2026-05-19T03:16:58Z</dcterms:modified>
</cp:coreProperties>
</file>