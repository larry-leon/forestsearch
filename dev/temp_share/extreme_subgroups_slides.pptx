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larry-leon.github.io/forestsearch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Subgroup Effects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Uniform Treatment Benefit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3063240"/>
            <a:ext cx="36576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Simulation Study Based on Observed Trial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2026-02-23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005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426464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26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264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847088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47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Building the Null DGM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26771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2677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Censoring Diagnostics &amp; Calibration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688336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688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Generating Synthetic Trials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108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Simulation Results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5295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Forest Plots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950208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3950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3708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 / 40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analysis in regulatory submissions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0759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many subgroups are examined in a single trial, small subgroups can produce hazard ratio estimates that look dramatic purely by chance.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02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asks directly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229600" cy="612648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13432"/>
            <a:ext cx="795528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DGM with a perfectly uniform treatment benefit (true HR = 0.70 for every patient), how often do standard Cox model analyses produce extreme subgroup results?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</a:rPr>
              <a:t>Clinical subgroups of a given N are statistically indistinguishable from meaningless </a:t>
            </a:r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000000"/>
                </a:solidFill>
              </a:rPr>
              <a:t>random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 groupings of the same size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The </a:t>
            </a:r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67E22"/>
                </a:solidFill>
              </a:rPr>
              <a:t>random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</a:rPr>
              <a:t> benchmarks should fluctuate around overall results with "extremeness" due to variability of small samples as opposed to true subgroup effects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4 / 40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Uniform Treatment Effect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DGM is built from a real trial (GBSG breast cancer, N = 686) using generate_aft_dgm_flex().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— constant log hazard ratio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8229600" cy="4297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64792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ψ⁰(L) = log(HR_true)  for all 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overall HR = 0.70 (moderate benefit)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subgroup shares exactly this HR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apparent subgroup finding is a false positive by construction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Spline parameterisation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67912"/>
            <a:ext cx="822960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13632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log.hrs = log(c(0.70, 0.70, 0.70)) — uniform HR at biomarker values 0, knot k, and upper anchor 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5 / 40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Workflow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5303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source data to consistent time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generate_aft_dgm_flex()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Weibull AFT; build super population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check_censoring_dgm()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censoring matches source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calibrate_cens_adjust()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cens_adjust via uniroot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simulate_from_dgm()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synthetic trials from calibrated DGM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coxph() loop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Cox in 56 subgroups; record HR and UB(HR)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summarize_extreme_sims()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all summary statistics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plot_ub_forest()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 ECI distributions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7 / 40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DGM Setup &amp; Calibration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182880"/>
          </a:xfrm>
          <a:prstGeom prst="ellipse">
            <a:avLst/>
          </a:prstGeom>
          <a:solidFill>
            <a:srgbClr val="AED6F1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640080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828800" cy="182880"/>
          </a:xfrm>
          <a:prstGeom prst="ellipse">
            <a:avLst/>
          </a:prstGeom>
          <a:solidFill>
            <a:srgbClr val="AED6F1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(GBSG, N = 686)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 months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6400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143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fit model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017520" y="868680"/>
            <a:ext cx="292608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Build Null DGM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1188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generate_aft_dgm_flex()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Weibull AFT fit  |  Censoring model (AIC)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 population (N = 5,000)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1965960"/>
            <a:ext cx="0" cy="4114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57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pilot sim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17520" y="2377440"/>
            <a:ext cx="2926080" cy="822960"/>
          </a:xfrm>
          <a:prstGeom prst="rect">
            <a:avLst/>
          </a:prstGeom>
          <a:solidFill>
            <a:srgbClr val="FFF8E1"/>
          </a:solidFill>
          <a:ln w="19050">
            <a:solidFill>
              <a:srgbClr val="E67E2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01752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Censoring Diagnostics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2651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check_censoring_dgm()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rate  |  Time quantiles  |  KM median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94760" y="3383280"/>
            <a:ext cx="1371600" cy="548640"/>
          </a:xfrm>
          <a:prstGeom prst="rect">
            <a:avLst/>
          </a:prstGeom>
          <a:solidFill>
            <a:srgbClr val="FCE4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OK?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3200400"/>
            <a:ext cx="0" cy="18288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46120"/>
            <a:ext cx="25603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0292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calibrate_cens_adjust()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uniroot grid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 sim rate ≈ obs rate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17520" y="3657600"/>
            <a:ext cx="-45720" cy="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0" y="35204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No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66360" y="3657600"/>
            <a:ext cx="594360" cy="0"/>
          </a:xfrm>
          <a:prstGeom prst="line">
            <a:avLst/>
          </a:prstGeom>
          <a:noFill/>
          <a:ln w="19050">
            <a:solidFill>
              <a:srgbClr val="228B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4747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8B22"/>
                </a:solidFill>
              </a:rPr>
              <a:t>Yes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852160" y="3200400"/>
            <a:ext cx="29260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28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Calibrated DGM Ready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9788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simulate_from_dgm()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RCT per call  |  Uniform HR = 0.70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Workflow Part 1 — DGM construction and censoring calibration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8 / 40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Simulation Loop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237744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228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DGM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simulate_from_dgm()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686 per trial  |  HR = 0.70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651760" y="2240280"/>
            <a:ext cx="54864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965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repeat × 5,000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310896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228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Simulation Loop (n = 5,000)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For each trial: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</a:rPr>
              <a:t>Fit stratified Cox in 56 subgroups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</a:rPr>
              <a:t>Record HR point estimate and UB(HR)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</a:rPr>
              <a:t>Re-sample random benchmarks (N ≈ 15, 20, 40, 60)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0" cy="45720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summarize_extreme_sims()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43200" y="3108960"/>
            <a:ext cx="2926080" cy="1097280"/>
          </a:xfrm>
          <a:prstGeom prst="rect">
            <a:avLst/>
          </a:prstGeom>
          <a:solidFill>
            <a:srgbClr val="E0F2F1"/>
          </a:solidFill>
          <a:ln w="1905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Empirical CI Distributions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88920" y="3383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HR + 1st–99th percentile ECI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Pr(UB ≥ 1.0)  |  Med UB | UB ≥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width driven entirely by subgroup 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3657600"/>
            <a:ext cx="64008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429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plot_ub_forest()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400800" y="3017520"/>
            <a:ext cx="2377440" cy="1280160"/>
          </a:xfrm>
          <a:prstGeom prst="rect">
            <a:avLst/>
          </a:prstGeom>
          <a:solidFill>
            <a:srgbClr val="E3F2FD"/>
          </a:solidFill>
          <a:ln w="19050">
            <a:solidFill>
              <a:srgbClr val="5DAD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— gg_forest()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46520" y="32918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A: single-variable subgroups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B: combinations + random benchmarks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distribution plot  |  UB(HR) distribution plot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Workflow Part 2 — Simulation loop and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9 / 40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Definitions (1/3): ITT, Clinical, Continuous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432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Subgroup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ITT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EE8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All Patients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 subjects (flag_itt == 1)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Clinical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EE8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Post-menopausal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meno == 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Pre-menopausal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meno == 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Grade 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 == 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Grade 1/2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 != 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EE8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Age (young)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≤ median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Age (older)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&gt; median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8–9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Age ≤ 50 / Age &gt; 50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age ≤ 50  /  age &gt; 50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10–11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Tumour size (small/large)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 ≤ median  /  size &gt; median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Node-negative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nodes == 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13–14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Nodes 1–3 / High nodes (&gt;Q3)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&lt; nodes ≤ 3  /  nodes &gt; Q3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15–18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PGR low/high, ER-low/high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pgr/er splits at median or 20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10 / 40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Definitions (2/3): Two-Way Interactions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868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× Grade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86868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19–22: Pre/Post-meno crossed with Grade 3 vs 1–2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44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× 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3441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23–26: Pre/Post-meno crossed with Age ≤50/&gt;50 or ≤med/&gt;med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9656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19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× 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18196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27–30: Pre/Post-meno crossed with ER ≤20 vs &gt;20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95144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951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× Nodes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951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31–35: Grade 3 vs 1–2 crossed with Node-neg/pos/High nodes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770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× 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7706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36–39: Grade 3 vs 1–2 crossed with ER ≤20 vs &gt;20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46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× PGR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246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40–43: Grade 3 vs 1–2 crossed with PGR ≤med vs &gt;med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21608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721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7216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44–48: e.g., Pre-meno/Young/ER-low, Post-meno/G3/Node+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97096"/>
            <a:ext cx="54864" cy="384048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97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× Nodes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1970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49–52: Large/Small crossed with Node-pos/neg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11 / 40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Definitions (3/3): Random Benchmarks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109728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Subgroup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Approx 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Construction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</a:rPr>
                        <a:t>random60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Draw 60 random indices from trial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</a:rPr>
                        <a:t>random40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First 40 of the random60 indices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</a:rPr>
                        <a:t>random20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First 20 of the random60 indices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67E22"/>
                          </a:solidFill>
                        </a:rPr>
                        <a:t>random15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First 15 of the random60 indices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Re-sampled every simulation. Nested: random15 ⊂ random20 ⊂ random40 ⊂ random60.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meaning — true HR = 0.70 by construction.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12 / 40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Building the Null DGM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generate_aft_dgm_flex()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Weibull AFT model to source data (GBSG)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large super population (N_super = 5000) from which all future trials are drawn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"null" — treatment effect identical for every patient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model estimated by AIC selection (Weibull / log-normal)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8046720" cy="347472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73552"/>
            <a:ext cx="8046720" cy="9326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319272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dgm_null &lt;- generate_aft_dgm_flex(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= gbsg, model = "null",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subgroup_vars = NULL,    n_super = 5000)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dgm_null &lt;- generate_aft_dgm_flex(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= gbsg, model = "null",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subgroup_vars = NULL,    n_super = 5000)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14 / 40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— Censoring Diagnostics &amp; Calibration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 Consistency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results require censoring in synthetic trials to match source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check_censoring_dgm() compares three quantities: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365760" cy="36576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censoring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rate_tol (default 10 pp)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788920"/>
            <a:ext cx="365760" cy="36576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788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Censoring-time quantiles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censored subjects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383280"/>
            <a:ext cx="365760" cy="36576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median censoring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median_tol (default 25%)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16 / 40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Calibrating cens_adjust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calibrate_cens_adjust() uses uniroot to find the log-scale shift that equates a target statistic between reference and simulated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4297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47672"/>
            <a:ext cx="777240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candidate cens_adjust: (1) generate synthetic subjects, (2) extract target metric, (3) return sim_metric − ref_metric.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256032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Equates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"rate"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Overall censoring rate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"km_median"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KM-based median censoring time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Monotonicity: larger cens_adjust ⇒ longer censoring times.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17 / 40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— Generating Synthetic Trials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simulate_from_dgm()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null DGM calibrated, each simulated trial is a single function call: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347472" cy="34747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from super population with replacement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984248"/>
            <a:ext cx="347472" cy="34747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9842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treatment (1:1 randomisation)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459736"/>
            <a:ext cx="347472" cy="34747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59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45973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latent survival times from the AFT model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935224"/>
            <a:ext cx="347472" cy="34747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293522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calibrated censoring 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410712"/>
            <a:ext cx="347472" cy="34747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63040" y="34107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Truncates at analysis_time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null DGM: flag_harm ≡ 0 for every subject.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19 / 40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Simulation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Under Study (56 total)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Patients (N≈686)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Clinical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Post-/Pre-menopausal, Grade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Continuous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Age, Size, Nodes, PGR, 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Interaction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Meno×Grade, ER, Age;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Grade×Nodes, ER, PGR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1440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Examples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3-way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Pre-meno/Young/ER-low, 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Size×Nodes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Large/Node-pos, 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</a:rPr>
                        <a:t>Random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</a:rPr>
                        <a:t>random60, 40, 20, 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2743200"/>
            <a:ext cx="40233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3"/>
          <p:cNvSpPr/>
          <p:nvPr/>
        </p:nvSpPr>
        <p:spPr>
          <a:xfrm>
            <a:off x="4846320" y="2743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benchmark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754880" y="3090672"/>
            <a:ext cx="4023360" cy="566928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9" name="Text 5"/>
          <p:cNvSpPr/>
          <p:nvPr/>
        </p:nvSpPr>
        <p:spPr>
          <a:xfrm>
            <a:off x="4892040" y="31363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random* subgroups have no clinical meaning. Re-sampled each simulation.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21 / 40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Statistics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point estimate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129844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99032"/>
            <a:ext cx="3749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+ 1st–99th percentile (ECI)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truth, median ≈ 0.70 for every subgroup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width driven by subgroup 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confidence bound UB(HR)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4023360" cy="129844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99032"/>
            <a:ext cx="37490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end of the Cox 95% CI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Pr(UB &lt; 1.0): power to show benefit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UB | UB≥1: worst-case for the safety reviewer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22 / 40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1000 trials completed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simulated trials from the null DGM (true HR = 0.70)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subgroups evaluated per trial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sizes range from N ≈ 15 (random15) to N ≈ 686 (ITT)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804672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 with new results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8046720" cy="1024128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26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load_sim_results("new_file.rds")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summarize_extreme_sims(res$sim_hrs, res$sim_ubs, res$sim_ns, res$subgroups)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downstream tables and plots update automatically.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23 / 40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Forest Plots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Distributions: Single-Variable Subgroups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9999"/>
                </a:solidFill>
              </a:rPr>
              <a:t>[ Insert R-generated forest plot here ]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hr-forest-single-1.pdf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3: HR distribution — single-variable subgroups. True HR = 0.70 (red dashed).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25 / 40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Distributions: Combinations + Random Benchmarks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9999"/>
                </a:solidFill>
              </a:rPr>
              <a:t>[ Insert R-generated forest plot here ]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hr-forest-combo-1.pdf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4: HR distribution — combination and random-benchmark subgroups.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26 / 40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UB(HR) Distributions: Single-Variable Subgroups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9999"/>
                </a:solidFill>
              </a:rPr>
              <a:t>[ Insert R-generated forest plot here ]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ub-forest-single-1.pdf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5: UB(HR) — single-variable subgroups. Dotted: UB=1.0; Dashed: true HR=0.70.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27 / 40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UB(HR) Distributions: Combinations + Random Benchmarks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9999"/>
                </a:solidFill>
              </a:rPr>
              <a:t>[ Insert R-generated forest plot here ]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ub-forest-combo-1.pdf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6: UB(HR) — combination and random-benchmark subgroups.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28 / 40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Point Estimates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subgroups (N &gt; 200)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297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07592"/>
            <a:ext cx="795528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HR tracks truth (≈ 0.70) closely; ECI is narrow.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subgroups (N ≲ 40)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886968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67712"/>
            <a:ext cx="795528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for random15/random20 spans ~0.25 to &gt;1.0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subgroups of similar size show indistinguishable ECI widths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rationale provides no statistical protection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C23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832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subgroups of a given N are statistically indistinguishable from meaningless random groupings of the same size.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30 / 40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Bounds UB(HR)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38912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upper-bound 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389120" cy="166420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0759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random40 (N≈40): 1% of trials produce UB(HR) &gt; 3.0–4.0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random15 (N≈15): values above 5.0 not rare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seeing UB(HR) = 3.5 in 15 patients cannot distinguish chance from a genuine safety signal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914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99th pctl of UB(HR)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3840480" cy="0"/>
          </a:xfrm>
          <a:prstGeom prst="rect">
            <a:avLst/>
          </a:prstGeom>
          <a:solidFill>
            <a:srgbClr val="E8F5E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298448"/>
          <a:ext cx="3657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Subgroup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P99 UB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ITT (N≈686)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&lt; 1.1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N≈200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~1.5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N≈60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~3.5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~5.0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31 / 40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Model Works Correctly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simulation confirms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115568"/>
          </a:xfrm>
          <a:prstGeom prst="rect">
            <a:avLst/>
          </a:prstGeom>
          <a:solidFill>
            <a:srgbClr val="D6DEE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371600"/>
            <a:ext cx="256032" cy="25603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model is unbiased — median HR ≈ 0.70 for every subgroup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256032" cy="25603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6642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have correct coverage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1956816"/>
            <a:ext cx="256032" cy="256032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1956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driven entirely by sample size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517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interpretive hazard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8229600" cy="1115568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044952"/>
            <a:ext cx="79552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UB(HR) = 3.5 in a 15-patient subgroup is expected under uniform benefit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simulation-based calibration, no way to quantify how "extreme" a result 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random* benchmarks provide exactly this calibration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32 / 40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4183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41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8686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subgroups produce extreme results by chance.</a:t>
            </a:r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uniform HR = 0.70, subgroups with N ≲ 40 regularly produce UB(HR) &gt; 3.0.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rationale does not protect against noise.</a:t>
            </a:r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Clinical subgroups have the same HR/UB distribution as random benchmarks of that size.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96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Cox model is working correctly.</a:t>
            </a:r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Wide CIs in small subgroups are accurate — they reflect genuine uncertainty.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004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 calibration is essential.</a:t>
            </a:r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a null-DGM benchmark, reviewers cannot quantify "extreme" for a given subgroup size.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320040" cy="320040"/>
          </a:xfrm>
          <a:prstGeom prst="ellipse">
            <a:avLst/>
          </a:prstGeom>
          <a:solidFill>
            <a:srgbClr val="0C23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50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forestsearch package</a:t>
            </a:r>
            <a:pPr indent="0" marL="0">
              <a:buNone/>
            </a:pPr>
            <a:r>
              <a:rPr lang="en-US" sz="125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a complete, reproducible workflow.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34 / 40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94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forestsearch R package</a:t>
            </a:r>
            <a:endParaRPr lang="en-US" sz="20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https://larry-leon.github.io/forestsearch/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AA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pak::pak("larry-leon/forestsearch")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2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931920"/>
            <a:ext cx="3200400" cy="36576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New-Results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93192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source("summarize_extreme_sims.R")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Option A: Load existing results 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load_sim_results("results/extreme_sims_5000.rds")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Option B: After running a new simulation loop 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save_sim_results(sim_hrs, sim_ubs, sim_ns, subgroups,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file = "results/extreme_sims_new.rds",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hr_true = 0.70,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metadata = list(dgm_seed = 99, n_per_trial = 686))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Summarize (works with either option) 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&lt;- summarize_extreme_sims(res$sim_hrs, res$sim_ubs,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res$sim_ns, res$subgroups)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All plots driven by S 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plot_hr_forest(S, panel = "single")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plot_hr_forest(S, panel = "combo")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plot_ub_forest(S, panel = "single")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plot_ub_forest(S, panel = "combo")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37 / 40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summarize_extreme_sims() API</a:t>
            </a:r>
            <a:endParaRPr lang="en-US" sz="2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hr_q, ub_q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Quantile matrices [n_sg × 3]: 1st, median, 99th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mean_n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Mean subgroup N across simulations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pr_ub_lt1, pr_ub_ge1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Power / failure rate per subgroup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cond_ub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Conditional UB quantiles given UB ≥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results_tbl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Formatted data.frame for printing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ok, ok_ub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Logical: valid subgroups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idx_hr_single, idx_ub_combo, …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Index vectors for forest panels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cat_ok, cat_cols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Category labels and colour map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lab_cmed_ub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Pre-formatted conditional median labels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38 / 40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Two Simulation Runs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S_old &lt;- summarize_extreme_sims(...)   # e.g. n_sims = 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S_new &lt;- summarize_extreme_sims(...)   # e.g. n_sims = 5000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 &lt;- compare_extreme_sims(S_old, S_new,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metric = "both",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label1 = "1000 sims",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label2 = "5000 sims")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print(comp, row.names = 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Subgroup | N | MedHR | Delta_MedHR | PrUBge1 | Delta_PrUBge1 | MedUBcond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verifying convergence, comparing DGM variants, or assessing sensitivity to censoring calibration.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39 / 40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Utilities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Optimal figure height 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fh &lt;- forest_fig_height(S, panel = "combo", type = "ub",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row_height = 0.45, overhead = 1.5)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Save / load round-trip 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save_sim_results(sim_hrs, sim_ubs, sim_ns, subgroups,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file = "results/my_run.rds", hr_true = 0.70,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metadata = list(cens_adjust = 0.42))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load_sim_results("results/my_run.rds")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prints: Loaded: ... (5000 sims x 56 subgroups, saved ...)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Print method 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print(S)   # shows n_sims, n_sg, hr_true, then results_tbl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C2344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F. León  |  Extreme Subgroup Effects Under a Uniform Treatment Benefit  |  40 / 40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Subgroup Effects Under a Uniform Treatment Benefit</dc:title>
  <dc:subject>PptxGenJS Presentation</dc:subject>
  <dc:creator>Larry F. León</dc:creator>
  <cp:lastModifiedBy>Larry F. León</cp:lastModifiedBy>
  <cp:revision>1</cp:revision>
  <dcterms:created xsi:type="dcterms:W3CDTF">2026-03-02T18:47:35Z</dcterms:created>
  <dcterms:modified xsi:type="dcterms:W3CDTF">2026-03-02T18:47:35Z</dcterms:modified>
</cp:coreProperties>
</file>